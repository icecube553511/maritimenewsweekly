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f98754c834fd7" /><Relationship Type="http://schemas.openxmlformats.org/officeDocument/2006/relationships/extended-properties" Target="/docProps/app.xml" Id="R062fbd30617745da" /><Relationship Type="http://schemas.openxmlformats.org/officeDocument/2006/relationships/officeDocument" Target="/ppt/presentation.xml" Id="R66cfc7e765374027" /><Relationship Type="http://schemas.openxmlformats.org/officeDocument/2006/relationships/custom-properties" Target="/docProps/custom.xml" Id="R5a536e25779f4ab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07da206cd1664698"/>
  </p:sldMasterIdLst>
  <p:notesMasterIdLst>
    <p:notesMasterId xmlns:r="http://schemas.openxmlformats.org/officeDocument/2006/relationships" r:id="Rfdbd8b469fb44a30"/>
  </p:notesMasterIdLst>
  <p:sldIdLst>
    <p:sldId xmlns:r="http://schemas.openxmlformats.org/officeDocument/2006/relationships" id="256" r:id="R553801c4e5784c43"/>
    <p:sldId xmlns:r="http://schemas.openxmlformats.org/officeDocument/2006/relationships" id="257" r:id="Rffaa20d181c04114"/>
    <p:sldId xmlns:r="http://schemas.openxmlformats.org/officeDocument/2006/relationships" id="258" r:id="R35605a52f59048c6"/>
    <p:sldId xmlns:r="http://schemas.openxmlformats.org/officeDocument/2006/relationships" id="259" r:id="R81060155e51d4cd2"/>
    <p:sldId xmlns:r="http://schemas.openxmlformats.org/officeDocument/2006/relationships" id="260" r:id="Rdc5e962f7c834569"/>
    <p:sldId xmlns:r="http://schemas.openxmlformats.org/officeDocument/2006/relationships" id="261" r:id="R56c350d485644695"/>
    <p:sldId xmlns:r="http://schemas.openxmlformats.org/officeDocument/2006/relationships" id="262" r:id="R2decc4052f214192"/>
    <p:sldId xmlns:r="http://schemas.openxmlformats.org/officeDocument/2006/relationships" id="263" r:id="R60fae3c1c2524fc1"/>
    <p:sldId xmlns:r="http://schemas.openxmlformats.org/officeDocument/2006/relationships" id="264" r:id="Rbafe3076024c4776"/>
    <p:sldId xmlns:r="http://schemas.openxmlformats.org/officeDocument/2006/relationships" id="265" r:id="R386cab6314944b16"/>
    <p:sldId xmlns:r="http://schemas.openxmlformats.org/officeDocument/2006/relationships" id="266" r:id="R0831600b999c4621"/>
    <p:sldId xmlns:r="http://schemas.openxmlformats.org/officeDocument/2006/relationships" id="267" r:id="R00da8ebb74e9419e"/>
    <p:sldId xmlns:r="http://schemas.openxmlformats.org/officeDocument/2006/relationships" id="268" r:id="R2d12d114cb994ec6"/>
    <p:sldId xmlns:r="http://schemas.openxmlformats.org/officeDocument/2006/relationships" id="269" r:id="Rdb1f84709c56486e"/>
    <p:sldId xmlns:r="http://schemas.openxmlformats.org/officeDocument/2006/relationships" id="270" r:id="R72b51420b86e46a2"/>
    <p:sldId xmlns:r="http://schemas.openxmlformats.org/officeDocument/2006/relationships" id="271" r:id="R9d36624d770d4dde"/>
    <p:sldId xmlns:r="http://schemas.openxmlformats.org/officeDocument/2006/relationships" id="272" r:id="Rbe6caafc561049a7"/>
    <p:sldId xmlns:r="http://schemas.openxmlformats.org/officeDocument/2006/relationships" id="273" r:id="Re5571ad284b74949"/>
    <p:sldId xmlns:r="http://schemas.openxmlformats.org/officeDocument/2006/relationships" id="274" r:id="Rb7764f499a354689"/>
    <p:sldId xmlns:r="http://schemas.openxmlformats.org/officeDocument/2006/relationships" id="275" r:id="Rc18bb49dc3584c73"/>
    <p:sldId xmlns:r="http://schemas.openxmlformats.org/officeDocument/2006/relationships" id="276" r:id="R5e11d89625514cba"/>
    <p:sldId xmlns:r="http://schemas.openxmlformats.org/officeDocument/2006/relationships" id="277" r:id="Rd730df5668194d50"/>
    <p:sldId xmlns:r="http://schemas.openxmlformats.org/officeDocument/2006/relationships" id="278" r:id="R6e4903c13f6347b3"/>
    <p:sldId xmlns:r="http://schemas.openxmlformats.org/officeDocument/2006/relationships" id="279" r:id="R4be82f50d2c04b78"/>
    <p:sldId xmlns:r="http://schemas.openxmlformats.org/officeDocument/2006/relationships" id="280" r:id="Rdd655d59e14e4e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05a448ecd4f49" /><Relationship Type="http://schemas.openxmlformats.org/officeDocument/2006/relationships/slideMaster" Target="/ppt/slideMasters/slideMaster1.xml" Id="R07da206cd1664698" /><Relationship Type="http://schemas.openxmlformats.org/officeDocument/2006/relationships/notesMaster" Target="/ppt/notesMasters/notesMaster1.xml" Id="Rfdbd8b469fb44a30" /><Relationship Type="http://schemas.openxmlformats.org/officeDocument/2006/relationships/presProps" Target="/ppt/presProps.xml" Id="Rc1f680e26c0a4469" /><Relationship Type="http://schemas.openxmlformats.org/officeDocument/2006/relationships/tableStyles" Target="/ppt/tableStyles.xml" Id="R6b5559feebf243ac" /><Relationship Type="http://schemas.openxmlformats.org/officeDocument/2006/relationships/slide" Target="/ppt/slides/slide1.xml" Id="R553801c4e5784c43" /><Relationship Type="http://schemas.openxmlformats.org/officeDocument/2006/relationships/slide" Target="/ppt/slides/slide2.xml" Id="Rffaa20d181c04114" /><Relationship Type="http://schemas.openxmlformats.org/officeDocument/2006/relationships/slide" Target="/ppt/slides/slide3.xml" Id="R35605a52f59048c6" /><Relationship Type="http://schemas.openxmlformats.org/officeDocument/2006/relationships/slide" Target="/ppt/slides/slide4.xml" Id="R81060155e51d4cd2" /><Relationship Type="http://schemas.openxmlformats.org/officeDocument/2006/relationships/slide" Target="/ppt/slides/slide5.xml" Id="Rdc5e962f7c834569" /><Relationship Type="http://schemas.openxmlformats.org/officeDocument/2006/relationships/slide" Target="/ppt/slides/slide6.xml" Id="R56c350d485644695" /><Relationship Type="http://schemas.openxmlformats.org/officeDocument/2006/relationships/slide" Target="/ppt/slides/slide7.xml" Id="R2decc4052f214192" /><Relationship Type="http://schemas.openxmlformats.org/officeDocument/2006/relationships/slide" Target="/ppt/slides/slide8.xml" Id="R60fae3c1c2524fc1" /><Relationship Type="http://schemas.openxmlformats.org/officeDocument/2006/relationships/slide" Target="/ppt/slides/slide9.xml" Id="Rbafe3076024c4776" /><Relationship Type="http://schemas.openxmlformats.org/officeDocument/2006/relationships/slide" Target="/ppt/slides/slide10.xml" Id="R386cab6314944b16" /><Relationship Type="http://schemas.openxmlformats.org/officeDocument/2006/relationships/slide" Target="/ppt/slides/slide11.xml" Id="R0831600b999c4621" /><Relationship Type="http://schemas.openxmlformats.org/officeDocument/2006/relationships/slide" Target="/ppt/slides/slide12.xml" Id="R00da8ebb74e9419e" /><Relationship Type="http://schemas.openxmlformats.org/officeDocument/2006/relationships/slide" Target="/ppt/slides/slide13.xml" Id="R2d12d114cb994ec6" /><Relationship Type="http://schemas.openxmlformats.org/officeDocument/2006/relationships/slide" Target="/ppt/slides/slide14.xml" Id="Rdb1f84709c56486e" /><Relationship Type="http://schemas.openxmlformats.org/officeDocument/2006/relationships/slide" Target="/ppt/slides/slide15.xml" Id="R72b51420b86e46a2" /><Relationship Type="http://schemas.openxmlformats.org/officeDocument/2006/relationships/slide" Target="/ppt/slides/slide16.xml" Id="R9d36624d770d4dde" /><Relationship Type="http://schemas.openxmlformats.org/officeDocument/2006/relationships/slide" Target="/ppt/slides/slide17.xml" Id="Rbe6caafc561049a7" /><Relationship Type="http://schemas.openxmlformats.org/officeDocument/2006/relationships/slide" Target="/ppt/slides/slide18.xml" Id="Re5571ad284b74949" /><Relationship Type="http://schemas.openxmlformats.org/officeDocument/2006/relationships/slide" Target="/ppt/slides/slide19.xml" Id="Rb7764f499a354689" /><Relationship Type="http://schemas.openxmlformats.org/officeDocument/2006/relationships/slide" Target="/ppt/slides/slide20.xml" Id="Rc18bb49dc3584c73" /><Relationship Type="http://schemas.openxmlformats.org/officeDocument/2006/relationships/slide" Target="/ppt/slides/slide21.xml" Id="R5e11d89625514cba" /><Relationship Type="http://schemas.openxmlformats.org/officeDocument/2006/relationships/slide" Target="/ppt/slides/slide22.xml" Id="Rd730df5668194d50" /><Relationship Type="http://schemas.openxmlformats.org/officeDocument/2006/relationships/slide" Target="/ppt/slides/slide23.xml" Id="R6e4903c13f6347b3" /><Relationship Type="http://schemas.openxmlformats.org/officeDocument/2006/relationships/slide" Target="/ppt/slides/slide24.xml" Id="R4be82f50d2c04b78" /><Relationship Type="http://schemas.openxmlformats.org/officeDocument/2006/relationships/slide" Target="/ppt/slides/slide25.xml" Id="Rdd655d59e14e4e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6c90c1438f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7cb647f904cd7" /><Relationship Type="http://schemas.openxmlformats.org/officeDocument/2006/relationships/notesMaster" Target="/ppt/notesMasters/notesMaster1.xml" Id="Re212625f27ce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17b925d4b4025" /><Relationship Type="http://schemas.openxmlformats.org/officeDocument/2006/relationships/notesMaster" Target="/ppt/notesMasters/notesMaster1.xml" Id="R440a402114bb47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772de8d754263" /><Relationship Type="http://schemas.openxmlformats.org/officeDocument/2006/relationships/notesMaster" Target="/ppt/notesMasters/notesMaster1.xml" Id="R65692db0214e44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a9c56bf47497b" /><Relationship Type="http://schemas.openxmlformats.org/officeDocument/2006/relationships/notesMaster" Target="/ppt/notesMasters/notesMaster1.xml" Id="Rb07ac43ac258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bc8715c47149ad" /><Relationship Type="http://schemas.openxmlformats.org/officeDocument/2006/relationships/notesMaster" Target="/ppt/notesMasters/notesMaster1.xml" Id="Rfa90c8613710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9670535fa3449e" /><Relationship Type="http://schemas.openxmlformats.org/officeDocument/2006/relationships/notesMaster" Target="/ppt/notesMasters/notesMaster1.xml" Id="R54a1f32d8b8643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ef9a8877e4c3e" /><Relationship Type="http://schemas.openxmlformats.org/officeDocument/2006/relationships/notesMaster" Target="/ppt/notesMasters/notesMaster1.xml" Id="R83c964891da6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40f7f3a2bc4d2a" /><Relationship Type="http://schemas.openxmlformats.org/officeDocument/2006/relationships/notesMaster" Target="/ppt/notesMasters/notesMaster1.xml" Id="R67da5f8a965444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1ed88b86e43ac" /><Relationship Type="http://schemas.openxmlformats.org/officeDocument/2006/relationships/notesMaster" Target="/ppt/notesMasters/notesMaster1.xml" Id="R5dca7f07036242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216fe3dde34475" /><Relationship Type="http://schemas.openxmlformats.org/officeDocument/2006/relationships/notesMaster" Target="/ppt/notesMasters/notesMaster1.xml" Id="Rbaeebcd5527a4c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56d1b70aa24b17" /><Relationship Type="http://schemas.openxmlformats.org/officeDocument/2006/relationships/notesMaster" Target="/ppt/notesMasters/notesMaster1.xml" Id="R3466fb17f98c43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13d5704e244a8e" /><Relationship Type="http://schemas.openxmlformats.org/officeDocument/2006/relationships/notesMaster" Target="/ppt/notesMasters/notesMaster1.xml" Id="Ra571c5ba4a8749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e14267329f4229" /><Relationship Type="http://schemas.openxmlformats.org/officeDocument/2006/relationships/notesMaster" Target="/ppt/notesMasters/notesMaster1.xml" Id="Ref7583cc6ccb4b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c5da4dfc884b93" /><Relationship Type="http://schemas.openxmlformats.org/officeDocument/2006/relationships/notesMaster" Target="/ppt/notesMasters/notesMaster1.xml" Id="R87dcceeef6a44d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c65d4cf9a641cd" /><Relationship Type="http://schemas.openxmlformats.org/officeDocument/2006/relationships/notesMaster" Target="/ppt/notesMasters/notesMaster1.xml" Id="R98697d442f3e4e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9ae0077d0f418a" /><Relationship Type="http://schemas.openxmlformats.org/officeDocument/2006/relationships/notesMaster" Target="/ppt/notesMasters/notesMaster1.xml" Id="R752600f2e8ad42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2c4865a5914ec9" /><Relationship Type="http://schemas.openxmlformats.org/officeDocument/2006/relationships/notesMaster" Target="/ppt/notesMasters/notesMaster1.xml" Id="R09089b0c9ad04b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b3b314595c4516" /><Relationship Type="http://schemas.openxmlformats.org/officeDocument/2006/relationships/notesMaster" Target="/ppt/notesMasters/notesMaster1.xml" Id="R86b204419a9147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24e4f86b08405c" /><Relationship Type="http://schemas.openxmlformats.org/officeDocument/2006/relationships/notesMaster" Target="/ppt/notesMasters/notesMaster1.xml" Id="Rbd2ac75b38d441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f624ea89ac4944" /><Relationship Type="http://schemas.openxmlformats.org/officeDocument/2006/relationships/notesMaster" Target="/ppt/notesMasters/notesMaster1.xml" Id="Rd53708b8b09b4e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7bc11a0b244df3" /><Relationship Type="http://schemas.openxmlformats.org/officeDocument/2006/relationships/notesMaster" Target="/ppt/notesMasters/notesMaster1.xml" Id="R56f54c1fccce48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cdaad452624740" /><Relationship Type="http://schemas.openxmlformats.org/officeDocument/2006/relationships/notesMaster" Target="/ppt/notesMasters/notesMaster1.xml" Id="R65f4fdb3ad504d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ebaac09b3c4b10" /><Relationship Type="http://schemas.openxmlformats.org/officeDocument/2006/relationships/notesMaster" Target="/ppt/notesMasters/notesMaster1.xml" Id="Rbde5e28f44434f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d7bcde76b8404d" /><Relationship Type="http://schemas.openxmlformats.org/officeDocument/2006/relationships/notesMaster" Target="/ppt/notesMasters/notesMaster1.xml" Id="R97adc06126a543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8f58b98c50477d" /><Relationship Type="http://schemas.openxmlformats.org/officeDocument/2006/relationships/notesMaster" Target="/ppt/notesMasters/notesMaster1.xml" Id="R12a746c279644b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、同学们，大家好。今天我们十位同学共同汇报10月6日至12日发布的十条海洋与海事新闻，预计用时约二十分钟。我们先看国内的生态保护和港口安全，再看国际海洋治理。每条新闻都会区分报道事实与我们的法治分析。需要注意，报道日期属于本周，并不代表报道中的全部工作都在本周开始。</a:t>
            </a:r>
          </a:p>
          <a:p xmlns:a="http://schemas.openxmlformats.org/drawingml/2006/main">
            <a:r>
              <a:t>海面主题图：https://images.unsplash.com/photo-1518837695005-2083093ee35b?w=1920&amp;q=85&amp;fit=crop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演讲者1介绍汇报路线。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演讲者1。</a:t>
            </a:r>
          </a:p>
          <a:p xmlns:a="http://schemas.openxmlformats.org/drawingml/2006/main">
            <a:r>
              <a:t>老师、同学们，大家好。今天我们十位同学共同汇报10月6日至12日发布的十条海洋与海事新闻，预计用时约二十分钟。我们先看国内的生态保护和港口安全，再看国际海洋治理。每条新闻都会区分报道事实与我们的法治分析。需要注意，报道日期属于本周，并不代表报道中的全部工作都在本周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条新闻来自10月8日的澎湃新闻，内容转引三亚日报。10月7日，央视曝光红树林保护区违法赶海问题后，三亚开展联合整治。报道列明，相关部门关停涉及保护区的经营性赶海场所7家，收缴禁用地笼840条，并依法传唤5名赶海俱乐部负责人接受调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这件事的关键，是旅游经营能否进入生态保护空间。游客觉得有趣、商家认为有市场，都不能替代保护区的功能要求和必要许可。地笼、船只停靠以及游客踩踏，还可能把一次游玩变成持续的生态扰动。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从法治角度，我们关注经营者、监管部门和游客各自应承担什么责任。特别要说明，接受调查只是程序状态，不能直接等同于犯罪成立或处罚已经作出。具体责任需要依据事实、证据和适用规则认定。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报道也提到受损区域评估、防护网修复和补植工作。这提醒我们，关停经营场所只是治理的一环，生态是否恢复还要通过后续监测判断。接下来，第二位同学将把视线转向更容易被忽视的无居民海岛。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新闻出处：红树林保护区成“赶海乐园”，三亚：传唤5名俱乐部负责人接受调查 - ThePaper.cn</a:t>
            </a:r>
          </a:p>
          <a:p xmlns:a="http://schemas.openxmlformats.org/drawingml/2006/main">
            <a:r>
              <a:t>报道日期：2026-10-08</a:t>
            </a:r>
          </a:p>
          <a:p xmlns:a="http://schemas.openxmlformats.org/drawingml/2006/main">
            <a:r>
              <a:t>原文：https://m.thepaper.cn/newsDetail_forward_34210667</a:t>
            </a:r>
          </a:p>
          <a:p xmlns:a="http://schemas.openxmlformats.org/drawingml/2006/main">
            <a:r>
              <a:t>配图：https://imgpai.thepaper.cn/newpai/image/20261008/07e8a53d-3e21-4161-91fd-c11d1236699c.jpg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演讲者1。</a:t>
            </a:r>
          </a:p>
          <a:p xmlns:a="http://schemas.openxmlformats.org/drawingml/2006/main">
            <a:r>
              <a:t>老师、同学们，大家好。今天我们十位同学共同汇报10月6日至12日发布的十条海洋与海事新闻，预计用时约二十分钟。我们先看国内的生态保护和港口安全，再看国际海洋治理。每条新闻都会区分报道事实与我们的法治分析。需要注意，报道日期属于本周，并不代表报道中的全部工作都在本周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条新闻来自10月8日的澎湃新闻，内容转引三亚日报。10月7日，央视曝光红树林保护区违法赶海问题后，三亚开展联合整治。报道列明，相关部门关停涉及保护区的经营性赶海场所7家，收缴禁用地笼840条，并依法传唤5名赶海俱乐部负责人接受调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这件事的关键，是旅游经营能否进入生态保护空间。游客觉得有趣、商家认为有市场，都不能替代保护区的功能要求和必要许可。地笼、船只停靠以及游客踩踏，还可能把一次游玩变成持续的生态扰动。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从法治角度，我们关注经营者、监管部门和游客各自应承担什么责任。特别要说明，接受调查只是程序状态，不能直接等同于犯罪成立或处罚已经作出。具体责任需要依据事实、证据和适用规则认定。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报道也提到受损区域评估、防护网修复和补植工作。这提醒我们，关停经营场所只是治理的一环，生态是否恢复还要通过后续监测判断。接下来，第二位同学将把视线转向更容易被忽视的无居民海岛。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新闻出处：红树林保护区成“赶海乐园”，三亚：传唤5名俱乐部负责人接受调查 - ThePaper.cn</a:t>
            </a:r>
          </a:p>
          <a:p xmlns:a="http://schemas.openxmlformats.org/drawingml/2006/main">
            <a:r>
              <a:t>报道日期：2026-10-08</a:t>
            </a:r>
          </a:p>
          <a:p xmlns:a="http://schemas.openxmlformats.org/drawingml/2006/main">
            <a:r>
              <a:t>原文：https://m.thepaper.cn/newsDetail_forward_34210667</a:t>
            </a:r>
          </a:p>
          <a:p xmlns:a="http://schemas.openxmlformats.org/drawingml/2006/main">
            <a:r>
              <a:t>配图：https://imgpai.thepaper.cn/newpai/image/20261008/07e8a53d-3e21-4161-91fd-c11d1236699c.jpg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演讲者2。</a:t>
            </a:r>
          </a:p>
          <a:p xmlns:a="http://schemas.openxmlformats.org/drawingml/2006/main">
            <a:r>
              <a:t>第二条新闻是10月9日福州新闻网报道的连江无居民海岛保护。连江县有211座无居民海岛。报道介绍，检察机关利用无人机巡查和实地勘察，发现个别海岛存在违规搭建建筑、周边生态保护措施不足等问题，随后通过检察建议推动主管部门整改，并建立多部门保护协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这里有一个时间细节：报道提到的部分发现和圆桌会议发生在今年7月、8月。这是一条本周发布的治理进展报道，我们不能把所有步骤都说成上周刚发生。它的新近意义在于展示协作机制和后续回访如何落地。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无居民海岛往往点多、距离远、登岛困难。没有长期居民，并不意味着可以随意建房、堆放垃圾或者改变原有地貌。利用这些空间仍要符合审批和生态保护要求。监管难度大，也不意味着监管责任可以消失。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本组的法治观察是，检察公益诉讼监督能够推动行政机关履行已有职责，但日常管理依然需要自然资源、海洋渔业等部门具体执行。无人机提供线索之后，谁接收、谁调查、谁整改、谁复查，都应当有明确安排。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这条新闻让我们看到，制度的效果体现在一个小岛的问题有没有真正解决，而不只是签订了一份协作文件。接下来，第三位同学介绍一项主动恢复海岸生态的红树林种植工程。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新闻出处：案鉴 |“海上明珠”法治守护再升级 连江构建无居民海岛全链条保护体系 - 福州新闻网</a:t>
            </a:r>
          </a:p>
          <a:p xmlns:a="http://schemas.openxmlformats.org/drawingml/2006/main">
            <a:r>
              <a:t>报道日期：2026-10-09</a:t>
            </a:r>
          </a:p>
          <a:p xmlns:a="http://schemas.openxmlformats.org/drawingml/2006/main">
            <a:r>
              <a:t>原文：https://m.fznews.com.cn/node/24361/20261009/3eCX07xj0W.shtml</a:t>
            </a:r>
          </a:p>
          <a:p xmlns:a="http://schemas.openxmlformats.org/drawingml/2006/main">
            <a:r>
              <a:t>配图：https://image.fznews.com.cn/app/pic/2026-10/09/659226_0650e300-d547-4df7-a93f-73dc42bdd7f9.jpg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演讲者2。</a:t>
            </a:r>
          </a:p>
          <a:p xmlns:a="http://schemas.openxmlformats.org/drawingml/2006/main">
            <a:r>
              <a:t>第二条新闻是10月9日福州新闻网报道的连江无居民海岛保护。连江县有211座无居民海岛。报道介绍，检察机关利用无人机巡查和实地勘察，发现个别海岛存在违规搭建建筑、周边生态保护措施不足等问题，随后通过检察建议推动主管部门整改，并建立多部门保护协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这里有一个时间细节：报道提到的部分发现和圆桌会议发生在今年7月、8月。这是一条本周发布的治理进展报道，我们不能把所有步骤都说成上周刚发生。它的新近意义在于展示协作机制和后续回访如何落地。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无居民海岛往往点多、距离远、登岛困难。没有长期居民，并不意味着可以随意建房、堆放垃圾或者改变原有地貌。利用这些空间仍要符合审批和生态保护要求。监管难度大，也不意味着监管责任可以消失。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本组的法治观察是，检察公益诉讼监督能够推动行政机关履行已有职责，但日常管理依然需要自然资源、海洋渔业等部门具体执行。无人机提供线索之后，谁接收、谁调查、谁整改、谁复查，都应当有明确安排。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这条新闻让我们看到，制度的效果体现在一个小岛的问题有没有真正解决，而不只是签订了一份协作文件。接下来，第三位同学介绍一项主动恢复海岸生态的红树林种植工程。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新闻出处：案鉴 |“海上明珠”法治守护再升级 连江构建无居民海岛全链条保护体系 - 福州新闻网</a:t>
            </a:r>
          </a:p>
          <a:p xmlns:a="http://schemas.openxmlformats.org/drawingml/2006/main">
            <a:r>
              <a:t>报道日期：2026-10-09</a:t>
            </a:r>
          </a:p>
          <a:p xmlns:a="http://schemas.openxmlformats.org/drawingml/2006/main">
            <a:r>
              <a:t>原文：https://m.fznews.com.cn/node/24361/20261009/3eCX07xj0W.shtml</a:t>
            </a:r>
          </a:p>
          <a:p xmlns:a="http://schemas.openxmlformats.org/drawingml/2006/main">
            <a:r>
              <a:t>配图：https://image.fznews.com.cn/app/pic/2026-10/09/659226_0650e300-d547-4df7-a93f-73dc42bdd7f9.jpg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演讲者3。</a:t>
            </a:r>
          </a:p>
          <a:p xmlns:a="http://schemas.openxmlformats.org/drawingml/2006/main">
            <a:r>
              <a:t>第三条新闻来自10月10日新浪财经转载的中国水运网报道。福建宁德海洋生态保护修复项目近日在青岐湾启动红树林种植，由中交广州航道局承建。报道介绍，项目设计营造红树林58.14公顷，还包括盐沼植被、鸟类调节区、受损岸线修复和潮汐通道疏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大家注意屏幕上的数字，58.14公顷是项目设计的红树林面积，不是已经全部种植完成，更不是已经形成成熟红树林的面积。目前项目正处于微地形改造与种植同步推进阶段，建设进度和生态恢复进度需要分开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海洋生态修复为什么要疏通潮沟、调整地形，而不只是把树苗种下去？因为潮间带生物依赖合适的水文与生境条件。潮水交换、地形高程和树种适应性都会影响成活与后续生长。报道提到，工程已经通过试验段积累适配本地滩涂的种植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我们的法治分析是，生态修复项目的责任需要延伸到验收和维护阶段。合同怎样规定苗木质量、养护责任和监测周期，主管部门用什么指标评价修复效果，都会影响公共投入最终能否转化为稳定生境。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因此，这条新闻值得持续跟踪的，是成活率、潮汐循环和生态功能的实际变化，而不是只看施工面积。下面，第四位同学将介绍海上货物运输中一种容易被外观掩盖的安全风险。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新闻出处：碧海滩涂添新绿——福建宁德海洋生态保护修复项目启动红树林种植 - 新浪财经</a:t>
            </a:r>
          </a:p>
          <a:p xmlns:a="http://schemas.openxmlformats.org/drawingml/2006/main">
            <a:r>
              <a:t>报道日期：2026-10-10</a:t>
            </a:r>
          </a:p>
          <a:p xmlns:a="http://schemas.openxmlformats.org/drawingml/2006/main">
            <a:r>
              <a:t>原文：https://finance.sina.com.cn/jjxw/2026-10-10/doc-iniututc2037582.shtml</a:t>
            </a:r>
          </a:p>
          <a:p xmlns:a="http://schemas.openxmlformats.org/drawingml/2006/main">
            <a:r>
              <a:t>配图：https://n.sinaimg.cn/spider20261010/235/w1024h811/20261010/0a39-d5d34fdb4ff0bea08abeab329a4572f9.jpg</a:t>
            </a:r>
          </a:p>
          <a:p xmlns:a="http://schemas.openxmlformats.org/drawingml/2006/main">
            <a:r>
              <a:t>图片为原报道素材，经过暖色与低饱和处理。原图为项目效果图。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演讲者3。</a:t>
            </a:r>
          </a:p>
          <a:p xmlns:a="http://schemas.openxmlformats.org/drawingml/2006/main">
            <a:r>
              <a:t>第三条新闻来自10月10日新浪财经转载的中国水运网报道。福建宁德海洋生态保护修复项目近日在青岐湾启动红树林种植，由中交广州航道局承建。报道介绍，项目设计营造红树林58.14公顷，还包括盐沼植被、鸟类调节区、受损岸线修复和潮汐通道疏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大家注意屏幕上的数字，58.14公顷是项目设计的红树林面积，不是已经全部种植完成，更不是已经形成成熟红树林的面积。目前项目正处于微地形改造与种植同步推进阶段，建设进度和生态恢复进度需要分开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海洋生态修复为什么要疏通潮沟、调整地形，而不只是把树苗种下去？因为潮间带生物依赖合适的水文与生境条件。潮水交换、地形高程和树种适应性都会影响成活与后续生长。报道提到，工程已经通过试验段积累适配本地滩涂的种植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我们的法治分析是，生态修复项目的责任需要延伸到验收和维护阶段。合同怎样规定苗木质量、养护责任和监测周期，主管部门用什么指标评价修复效果，都会影响公共投入最终能否转化为稳定生境。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因此，这条新闻值得持续跟踪的，是成活率、潮汐循环和生态功能的实际变化，而不是只看施工面积。下面，第四位同学将介绍海上货物运输中一种容易被外观掩盖的安全风险。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新闻出处：碧海滩涂添新绿——福建宁德海洋生态保护修复项目启动红树林种植 - 新浪财经</a:t>
            </a:r>
          </a:p>
          <a:p xmlns:a="http://schemas.openxmlformats.org/drawingml/2006/main">
            <a:r>
              <a:t>报道日期：2026-10-10</a:t>
            </a:r>
          </a:p>
          <a:p xmlns:a="http://schemas.openxmlformats.org/drawingml/2006/main">
            <a:r>
              <a:t>原文：https://finance.sina.com.cn/jjxw/2026-10-10/doc-iniututc2037582.shtml</a:t>
            </a:r>
          </a:p>
          <a:p xmlns:a="http://schemas.openxmlformats.org/drawingml/2006/main">
            <a:r>
              <a:t>配图：https://n.sinaimg.cn/spider20261010/235/w1024h811/20261010/0a39-d5d34fdb4ff0bea08abeab329a4572f9.jpg</a:t>
            </a:r>
          </a:p>
          <a:p xmlns:a="http://schemas.openxmlformats.org/drawingml/2006/main">
            <a:r>
              <a:t>图片为原报道素材，经过暖色与低饱和处理。原图为项目效果图。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演讲者4。</a:t>
            </a:r>
          </a:p>
          <a:p xmlns:a="http://schemas.openxmlformats.org/drawingml/2006/main">
            <a:r>
              <a:t>第四条新闻是10月7日中国交通报关于天津海事局固体散装货物监管的报道。国庆假期期间，天津港相关运输仍在进行。海事部门围绕货物运输全链条部署检查，尤其关注A组等具有特殊性质的货物，核查水分含量检测、适运水分极限和船舶稳性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固体散货并不一定始终保持稳定的固体状态。部分货物在水分、振动等条件作用下可能出现流态化，或者发生位移，进而影响船舶稳性。风险在外观上不一定明显，因此检测报告、装载条件和实际货况十分重要。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道中的监管既包括节前核查，也包括装卸过程中的船岸联合检查。发现隐患后，要明确整改要求并复查；对重大隐患或者逾期未改的问题，依法采取停止作业、禁止离港等措施。这是一条监管工作新闻，我们不把它解释成已经发生了某起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本组认为，海事法治需要把责任具体落实到托运人、码头经营者、航运企业和船员各自掌握的环节。报告由谁提供，货物由谁核实，装载条件由谁判断，应当能沿着资料和作业记录追溯。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这条新闻也说明，技术标准只有进入真实作业流程，才能发挥预防作用。下一条新闻继续讨论港口，但重点转向民生物资怎样在繁忙航道中安全通行。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新闻出处：筑牢“四道防线”天津海事局全力保障假期固体散装货物运输安全 - 中国交通新闻网</a:t>
            </a:r>
          </a:p>
          <a:p xmlns:a="http://schemas.openxmlformats.org/drawingml/2006/main">
            <a:r>
              <a:t>报道日期：2026-10-07</a:t>
            </a:r>
          </a:p>
          <a:p xmlns:a="http://schemas.openxmlformats.org/drawingml/2006/main">
            <a:r>
              <a:t>原文：https://www.zgjtb.com/m/2026-10/07/content_540277.html</a:t>
            </a:r>
          </a:p>
          <a:p xmlns:a="http://schemas.openxmlformats.org/drawingml/2006/main">
            <a:r>
              <a:t>配图：https://www.zgjtb.com/m/img/2026-10/07/540277_affdc600-74ad-4a63-9ee4-1ee56f59cfb8.jpg.2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演讲者4。</a:t>
            </a:r>
          </a:p>
          <a:p xmlns:a="http://schemas.openxmlformats.org/drawingml/2006/main">
            <a:r>
              <a:t>第四条新闻是10月7日中国交通报关于天津海事局固体散装货物监管的报道。国庆假期期间，天津港相关运输仍在进行。海事部门围绕货物运输全链条部署检查，尤其关注A组等具有特殊性质的货物，核查水分含量检测、适运水分极限和船舶稳性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固体散货并不一定始终保持稳定的固体状态。部分货物在水分、振动等条件作用下可能出现流态化，或者发生位移，进而影响船舶稳性。风险在外观上不一定明显，因此检测报告、装载条件和实际货况十分重要。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道中的监管既包括节前核查，也包括装卸过程中的船岸联合检查。发现隐患后，要明确整改要求并复查；对重大隐患或者逾期未改的问题，依法采取停止作业、禁止离港等措施。这是一条监管工作新闻，我们不把它解释成已经发生了某起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本组认为，海事法治需要把责任具体落实到托运人、码头经营者、航运企业和船员各自掌握的环节。报告由谁提供，货物由谁核实，装载条件由谁判断，应当能沿着资料和作业记录追溯。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这条新闻也说明，技术标准只有进入真实作业流程，才能发挥预防作用。下一条新闻继续讨论港口，但重点转向民生物资怎样在繁忙航道中安全通行。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新闻出处：筑牢“四道防线”天津海事局全力保障假期固体散装货物运输安全 - 中国交通新闻网</a:t>
            </a:r>
          </a:p>
          <a:p xmlns:a="http://schemas.openxmlformats.org/drawingml/2006/main">
            <a:r>
              <a:t>报道日期：2026-10-07</a:t>
            </a:r>
          </a:p>
          <a:p xmlns:a="http://schemas.openxmlformats.org/drawingml/2006/main">
            <a:r>
              <a:t>原文：https://www.zgjtb.com/m/2026-10/07/content_540277.html</a:t>
            </a:r>
          </a:p>
          <a:p xmlns:a="http://schemas.openxmlformats.org/drawingml/2006/main">
            <a:r>
              <a:t>配图：https://www.zgjtb.com/m/img/2026-10/07/540277_affdc600-74ad-4a63-9ee4-1ee56f59cfb8.jpg.2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演讲者5。</a:t>
            </a:r>
          </a:p>
          <a:p xmlns:a="http://schemas.openxmlformats.org/drawingml/2006/main">
            <a:r>
              <a:t>第五条新闻来自10月9日21经济网转载的羊城派报道。国庆期间，潮州港船舶进出149艘次，重点民生物资运输量达到40万吨。海事部门为电煤、液化天然气和粮食等重点物资提供直进直靠、直离直出的服务，减少船舶等待和在港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这些数字对应的是报道所说的国庆期间，不能当作全年数据，也不能简单理解为整个近一周的所有港口吞吐量。它反映的具体问题是，节假日期间仍然要保持民生物资运输连续、稳定。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潮州港还有一个特点，它是商渔混合港。商船和渔船交汇频繁，部分自用船在航道下网捕鱼，会对通航秩序形成隐患。报道介绍，海事与相关执法部门通过联合值守、现场和远程巡航，发现问题后现场督促整改。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本组的分析是，优先保障重点运输，并不意味着放松安全检查。合理的便利化，应当建立在实时掌握船舶动态、清晰组织交通和及时处置异常的基础上。航运服务和安全监管要在同一个作业安排中落实。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报道说期间未发生水上交通事故，这是对已经发生情况的描述，不能据此推断今后没有风险。我们更应关注联合值守和提醒机制能否常态化。接下来，第六位同学介绍绿色航运服务中的LNG加注。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新闻出处：国庆期间潮州港重点民生物资运输40万吨，潮州海事部门做好保障工作 - 21财经</a:t>
            </a:r>
          </a:p>
          <a:p xmlns:a="http://schemas.openxmlformats.org/drawingml/2006/main">
            <a:r>
              <a:t>报道日期：2026-10-09</a:t>
            </a:r>
          </a:p>
          <a:p xmlns:a="http://schemas.openxmlformats.org/drawingml/2006/main">
            <a:r>
              <a:t>原文：https://www.21jingji.com/article/20261009/herald/1989902377cbe99324709eeac605ad7c.html</a:t>
            </a:r>
          </a:p>
          <a:p xmlns:a="http://schemas.openxmlformats.org/drawingml/2006/main">
            <a:r>
              <a:t>配图：https://ocmsmedia.sfccn.com/vod-4310da/image/default/DE6B82AD0D504DFBA36EC434E438FDEF-6-2.jpg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演讲者5。</a:t>
            </a:r>
          </a:p>
          <a:p xmlns:a="http://schemas.openxmlformats.org/drawingml/2006/main">
            <a:r>
              <a:t>第五条新闻来自10月9日21经济网转载的羊城派报道。国庆期间，潮州港船舶进出149艘次，重点民生物资运输量达到40万吨。海事部门为电煤、液化天然气和粮食等重点物资提供直进直靠、直离直出的服务，减少船舶等待和在港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这些数字对应的是报道所说的国庆期间，不能当作全年数据，也不能简单理解为整个近一周的所有港口吞吐量。它反映的具体问题是，节假日期间仍然要保持民生物资运输连续、稳定。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潮州港还有一个特点，它是商渔混合港。商船和渔船交汇频繁，部分自用船在航道下网捕鱼，会对通航秩序形成隐患。报道介绍，海事与相关执法部门通过联合值守、现场和远程巡航，发现问题后现场督促整改。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本组的分析是，优先保障重点运输，并不意味着放松安全检查。合理的便利化，应当建立在实时掌握船舶动态、清晰组织交通和及时处置异常的基础上。航运服务和安全监管要在同一个作业安排中落实。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报道说期间未发生水上交通事故，这是对已经发生情况的描述，不能据此推断今后没有风险。我们更应关注联合值守和提醒机制能否常态化。接下来，第六位同学介绍绿色航运服务中的LNG加注。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新闻出处：国庆期间潮州港重点民生物资运输40万吨，潮州海事部门做好保障工作 - 21财经</a:t>
            </a:r>
          </a:p>
          <a:p xmlns:a="http://schemas.openxmlformats.org/drawingml/2006/main">
            <a:r>
              <a:t>报道日期：2026-10-09</a:t>
            </a:r>
          </a:p>
          <a:p xmlns:a="http://schemas.openxmlformats.org/drawingml/2006/main">
            <a:r>
              <a:t>原文：https://www.21jingji.com/article/20261009/herald/1989902377cbe99324709eeac605ad7c.html</a:t>
            </a:r>
          </a:p>
          <a:p xmlns:a="http://schemas.openxmlformats.org/drawingml/2006/main">
            <a:r>
              <a:t>配图：https://ocmsmedia.sfccn.com/vod-4310da/image/default/DE6B82AD0D504DFBA36EC434E438FDEF-6-2.jpg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演讲者6。</a:t>
            </a:r>
          </a:p>
          <a:p xmlns:a="http://schemas.openxmlformats.org/drawingml/2006/main">
            <a:r>
              <a:t>第六条新闻来自10月6日中国交通报。宁波舟山港金塘港区近日开展保税LNG加注，海洋石油302轮为达飞帕米尔轮实施约4000立方米加注。该业务首次拓展至舟山港域，也是浙江海港国际贸易有限公司首次实现宁波提气、舟山加注的跨关区协同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LNG就是液化天然气。这里的新闻重点，不只是燃料运到了哪里，还包括它如何跨关区流转，如何安排船对船加注，以及怎样保障周围船舶通航。任何一个环节衔接不顺，都可能影响作业安全和服务效率。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报道介绍，海关优化申报和核销流程，海事部门通过闭路电视、海巡艇、无人机以及船舶交通管理系统开展动态监管，相关部门共同制定专属作业方案。跨部门协同由此直接体现在一次具体加注作业中。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分析需要保留一个区分：报道把服务升级放在绿色航运背景下，但LNG并不等于零排放燃料。讨论它的气候效益，还要考虑上游生产、运输以及甲烷泄漏等全生命周期因素，不能只依据燃料名称就给出最终环保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这条新闻提示我们，绿色航运建设既涉及新的设施，也涉及危险作业规范与通关程序的衔接。下一位同学将介绍另一种更需要谨慎评估的海洋技术，也就是海洋地球工程研究。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新闻出处：宁波舟山港LNG加注覆盖金塘港区 - 中国交通新闻网</a:t>
            </a:r>
          </a:p>
          <a:p xmlns:a="http://schemas.openxmlformats.org/drawingml/2006/main">
            <a:r>
              <a:t>报道日期：2026-10-06</a:t>
            </a:r>
          </a:p>
          <a:p xmlns:a="http://schemas.openxmlformats.org/drawingml/2006/main">
            <a:r>
              <a:t>原文：https://www.zgjtb.com/m/2026-10/06/content_540204.html</a:t>
            </a:r>
          </a:p>
          <a:p xmlns:a="http://schemas.openxmlformats.org/drawingml/2006/main">
            <a:r>
              <a:t>配图：https://www.zgjtb.com/m/img/2026-10/06/540204_727e2a94-1f50-4ab7-9f4f-9fb19819e2ae.png.2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演讲者6。</a:t>
            </a:r>
          </a:p>
          <a:p xmlns:a="http://schemas.openxmlformats.org/drawingml/2006/main">
            <a:r>
              <a:t>第六条新闻来自10月6日中国交通报。宁波舟山港金塘港区近日开展保税LNG加注，海洋石油302轮为达飞帕米尔轮实施约4000立方米加注。该业务首次拓展至舟山港域，也是浙江海港国际贸易有限公司首次实现宁波提气、舟山加注的跨关区协同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LNG就是液化天然气。这里的新闻重点，不只是燃料运到了哪里，还包括它如何跨关区流转，如何安排船对船加注，以及怎样保障周围船舶通航。任何一个环节衔接不顺，都可能影响作业安全和服务效率。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报道介绍，海关优化申报和核销流程，海事部门通过闭路电视、海巡艇、无人机以及船舶交通管理系统开展动态监管，相关部门共同制定专属作业方案。跨部门协同由此直接体现在一次具体加注作业中。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分析需要保留一个区分：报道把服务升级放在绿色航运背景下，但LNG并不等于零排放燃料。讨论它的气候效益，还要考虑上游生产、运输以及甲烷泄漏等全生命周期因素，不能只依据燃料名称就给出最终环保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这条新闻提示我们，绿色航运建设既涉及新的设施，也涉及危险作业规范与通关程序的衔接。下一位同学将介绍另一种更需要谨慎评估的海洋技术，也就是海洋地球工程研究。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新闻出处：宁波舟山港LNG加注覆盖金塘港区 - 中国交通新闻网</a:t>
            </a:r>
          </a:p>
          <a:p xmlns:a="http://schemas.openxmlformats.org/drawingml/2006/main">
            <a:r>
              <a:t>报道日期：2026-10-06</a:t>
            </a:r>
          </a:p>
          <a:p xmlns:a="http://schemas.openxmlformats.org/drawingml/2006/main">
            <a:r>
              <a:t>原文：https://www.zgjtb.com/m/2026-10/06/content_540204.html</a:t>
            </a:r>
          </a:p>
          <a:p xmlns:a="http://schemas.openxmlformats.org/drawingml/2006/main">
            <a:r>
              <a:t>配图：https://www.zgjtb.com/m/img/2026-10/06/540204_727e2a94-1f50-4ab7-9f4f-9fb19819e2ae.png.2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演讲者7。</a:t>
            </a:r>
          </a:p>
          <a:p xmlns:a="http://schemas.openxmlformats.org/drawingml/2006/main">
            <a:r>
              <a:t>第七条新闻来自国际海事组织10月9日发布的消息。10月5日至9日，伦敦公约和伦敦议定书缔约方在伦敦开会，通过了海洋地球工程研究活动的评估框架，涉及海洋施肥、海洋增碱和海洋生物质沉降三类方法。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方法都与增强海洋吸收或者储存碳的能力有关。例如，增碱试图通过加入碱性物质提高海水吸收二氧化碳的能力。但国际海事组织明确指出，这些活动对海洋生态系统的潜在影响尚未被充分理解，科学知识仍然有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新框架要求审查活动是否具有正当科学目的，进行环境风险评估、利益相关方协商和同行评审，并安排严格监测与透明报告。评估结果还可以在出现新信息时重新审视。这体现了研究过程本身也需要规则约束。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我们必须特别说明，这次通过的是研究评估工具，不能讲成三类技术已经获得商业化批准。报道也强调，在考虑超出研究阶段的活动之前，仍需进一步科学研究。对具体项目是否允许开展，要逐案判断。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本组认为，海洋法治对新技术的价值，是把不确定性转化为审查、监测和可追责的程序。目标看起来有利于气候，也不能免除生态风险评估。接下来，第八位同学介绍地中海国家如何长期合作应对海洋污染。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新闻出处：IMO adopts frameworks to assess marine geoengineering research activities - International Maritime Organization</a:t>
            </a:r>
          </a:p>
          <a:p xmlns:a="http://schemas.openxmlformats.org/drawingml/2006/main">
            <a:r>
              <a:t>报道日期：2026-10-09</a:t>
            </a:r>
          </a:p>
          <a:p xmlns:a="http://schemas.openxmlformats.org/drawingml/2006/main">
            <a:r>
              <a:t>原文：https://www.imo.org/en/MediaCentre/PressBriefings/pages/IMO-adopts-marine-geoengineering-frameworks-for-research-activities.aspx</a:t>
            </a:r>
          </a:p>
          <a:p xmlns:a="http://schemas.openxmlformats.org/drawingml/2006/main">
            <a:r>
              <a:t>配图：https://wwwcdn.imo.org/localresources/en/MediaCentre/WhatsNew/PublishingImages/LCLP_Oct 2026_banner_medium.jpg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演讲者7。</a:t>
            </a:r>
          </a:p>
          <a:p xmlns:a="http://schemas.openxmlformats.org/drawingml/2006/main">
            <a:r>
              <a:t>第七条新闻来自国际海事组织10月9日发布的消息。10月5日至9日，伦敦公约和伦敦议定书缔约方在伦敦开会，通过了海洋地球工程研究活动的评估框架，涉及海洋施肥、海洋增碱和海洋生物质沉降三类方法。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方法都与增强海洋吸收或者储存碳的能力有关。例如，增碱试图通过加入碱性物质提高海水吸收二氧化碳的能力。但国际海事组织明确指出，这些活动对海洋生态系统的潜在影响尚未被充分理解，科学知识仍然有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新框架要求审查活动是否具有正当科学目的，进行环境风险评估、利益相关方协商和同行评审，并安排严格监测与透明报告。评估结果还可以在出现新信息时重新审视。这体现了研究过程本身也需要规则约束。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我们必须特别说明，这次通过的是研究评估工具，不能讲成三类技术已经获得商业化批准。报道也强调，在考虑超出研究阶段的活动之前，仍需进一步科学研究。对具体项目是否允许开展，要逐案判断。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本组认为，海洋法治对新技术的价值，是把不确定性转化为审查、监测和可追责的程序。目标看起来有利于气候，也不能免除生态风险评估。接下来，第八位同学介绍地中海国家如何长期合作应对海洋污染。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新闻出处：IMO adopts frameworks to assess marine geoengineering research activities - International Maritime Organization</a:t>
            </a:r>
          </a:p>
          <a:p xmlns:a="http://schemas.openxmlformats.org/drawingml/2006/main">
            <a:r>
              <a:t>报道日期：2026-10-09</a:t>
            </a:r>
          </a:p>
          <a:p xmlns:a="http://schemas.openxmlformats.org/drawingml/2006/main">
            <a:r>
              <a:t>原文：https://www.imo.org/en/MediaCentre/PressBriefings/pages/IMO-adopts-marine-geoengineering-frameworks-for-research-activities.aspx</a:t>
            </a:r>
          </a:p>
          <a:p xmlns:a="http://schemas.openxmlformats.org/drawingml/2006/main">
            <a:r>
              <a:t>配图：https://wwwcdn.imo.org/localresources/en/MediaCentre/WhatsNew/PublishingImages/LCLP_Oct 2026_banner_medium.jpg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演讲者8。</a:t>
            </a:r>
          </a:p>
          <a:p xmlns:a="http://schemas.openxmlformats.org/drawingml/2006/main">
            <a:r>
              <a:t>第八条新闻是国际海事组织10月6日发布的地中海区域海洋污染应急中心成立50周年消息。这个中心简称REMPEC，1976年成立，最初侧重油污染应对，之后逐步扩展至更广泛的海洋污染问题，尤其是船舶污染预防。周年活动在马耳他举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报道，过去五十年，中心协助20个地中海国家建立海洋污染应急体系，并通过地中海援助机制提供全天候专家支持，累计培训超过5000名政府工作人员和志愿者。这里的20国和5000多人都是长期累计成果，不是本周或今年新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纪念新闻之所以与海洋法治相关，是因为海洋污染经常超出一国管辖空间。一次泄漏可能影响邻国海岸，单个国家如果缺少监测、装备或技术人员，也很难独立完成有效处置。区域机制可以把不同国家的能力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我们的分析是，国际合作不能停留在共同承诺。应急预案是否能启动，专家是否能迅速到位，跨境信息是否及时共享，才决定合作有没有实际作用。平时的培训和演练，能够为突发事件发生后的协调减少障碍。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从这一长期经验可以看出，海洋规则的执行需要持续投入，也需要相互信任。接下来，第九位同学将讨论另一种跨部门合作方式，也就是塞内加尔港口正在推进的海运单一窗口。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新闻出处：REMPEC marks 50 years of protecting the Mediterranean marine environment - International Maritime Organization</a:t>
            </a:r>
          </a:p>
          <a:p xmlns:a="http://schemas.openxmlformats.org/drawingml/2006/main">
            <a:r>
              <a:t>报道日期：2026-10-06</a:t>
            </a:r>
          </a:p>
          <a:p xmlns:a="http://schemas.openxmlformats.org/drawingml/2006/main">
            <a:r>
              <a:t>原文：https://www.imo.org/en/MediaCentre/Pages/WhatsNew-2506.aspx</a:t>
            </a:r>
          </a:p>
          <a:p xmlns:a="http://schemas.openxmlformats.org/drawingml/2006/main">
            <a:r>
              <a:t>配图：https://wwwcdn.imo.org/localresources/en/MediaCentre/WhatsNew/PublishingImages/REMPEC 50th_medium.jpg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演讲者8。</a:t>
            </a:r>
          </a:p>
          <a:p xmlns:a="http://schemas.openxmlformats.org/drawingml/2006/main">
            <a:r>
              <a:t>第八条新闻是国际海事组织10月6日发布的地中海区域海洋污染应急中心成立50周年消息。这个中心简称REMPEC，1976年成立，最初侧重油污染应对，之后逐步扩展至更广泛的海洋污染问题，尤其是船舶污染预防。周年活动在马耳他举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报道，过去五十年，中心协助20个地中海国家建立海洋污染应急体系，并通过地中海援助机制提供全天候专家支持，累计培训超过5000名政府工作人员和志愿者。这里的20国和5000多人都是长期累计成果，不是本周或今年新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纪念新闻之所以与海洋法治相关，是因为海洋污染经常超出一国管辖空间。一次泄漏可能影响邻国海岸，单个国家如果缺少监测、装备或技术人员，也很难独立完成有效处置。区域机制可以把不同国家的能力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我们的分析是，国际合作不能停留在共同承诺。应急预案是否能启动，专家是否能迅速到位，跨境信息是否及时共享，才决定合作有没有实际作用。平时的培训和演练，能够为突发事件发生后的协调减少障碍。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从这一长期经验可以看出，海洋规则的执行需要持续投入，也需要相互信任。接下来，第九位同学将讨论另一种跨部门合作方式，也就是塞内加尔港口正在推进的海运单一窗口。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新闻出处：REMPEC marks 50 years of protecting the Mediterranean marine environment - International Maritime Organization</a:t>
            </a:r>
          </a:p>
          <a:p xmlns:a="http://schemas.openxmlformats.org/drawingml/2006/main">
            <a:r>
              <a:t>报道日期：2026-10-06</a:t>
            </a:r>
          </a:p>
          <a:p xmlns:a="http://schemas.openxmlformats.org/drawingml/2006/main">
            <a:r>
              <a:t>原文：https://www.imo.org/en/MediaCentre/Pages/WhatsNew-2506.aspx</a:t>
            </a:r>
          </a:p>
          <a:p xmlns:a="http://schemas.openxmlformats.org/drawingml/2006/main">
            <a:r>
              <a:t>配图：https://wwwcdn.imo.org/localresources/en/MediaCentre/WhatsNew/PublishingImages/REMPEC 50th_medium.jpg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演讲者9。</a:t>
            </a:r>
          </a:p>
          <a:p xmlns:a="http://schemas.openxmlformats.org/drawingml/2006/main">
            <a:r>
              <a:t>第九条新闻来自国际海事组织10月9日的消息。10月5日至9日，国际海事组织在塞内加尔达喀尔港开展需求评估，支持当地建立海运单一窗口。参与咨询的单位包括海事主管机关、港口管理机构、海关、港口卫生、边检部门，以及航运公司、船舶代理和码头经营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海运单一窗口可以理解为统一的信息提交和交换入口。船舶进港、停留、离港时需要提交许多资料，如果不同部门反复收取相近信息，就容易增加办理时间。单一窗口希望减少重复录入，使信息在相关机构之间更顺畅地流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但本次工作的阶段必须说清楚：它是在评估现有流程、制度和建设需求，并形成实施路线图，报道没有说达喀尔港的新系统已经上线。需求评估和系统投用，是两个不同的事实。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本组认为，港口数字化的难点不只在软件。哪些数据可以共享，哪个部门有权访问，发现错误时由谁更正，企业提交一次以后还需要履行哪些义务，都应在制度和流程中明确。技术整合不能让监管责任变得模糊。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这条新闻表明，数字化可以改善营商与通关效率，但前提是程序和责任能够衔接。最后，第十位同学会把视角扩展到国家管辖范围之外，介绍公海条约秘书处选址的最新讨论。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新闻出处：Senegal takes steps to digitalize its ports - International Maritime Organization</a:t>
            </a:r>
          </a:p>
          <a:p xmlns:a="http://schemas.openxmlformats.org/drawingml/2006/main">
            <a:r>
              <a:t>报道日期：2026-10-09</a:t>
            </a:r>
          </a:p>
          <a:p xmlns:a="http://schemas.openxmlformats.org/drawingml/2006/main">
            <a:r>
              <a:t>原文：https://www.imo.org/en/mediacentre/pages/WhatsNew-2507.aspx</a:t>
            </a:r>
          </a:p>
          <a:p xmlns:a="http://schemas.openxmlformats.org/drawingml/2006/main">
            <a:r>
              <a:t>配图：https://wwwcdn.imo.org/localresources/en/MediaCentre/WhatsNew/PublishingImages/Senegal WN_medium.jpg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演讲者9。</a:t>
            </a:r>
          </a:p>
          <a:p xmlns:a="http://schemas.openxmlformats.org/drawingml/2006/main">
            <a:r>
              <a:t>第九条新闻来自国际海事组织10月9日的消息。10月5日至9日，国际海事组织在塞内加尔达喀尔港开展需求评估，支持当地建立海运单一窗口。参与咨询的单位包括海事主管机关、港口管理机构、海关、港口卫生、边检部门，以及航运公司、船舶代理和码头经营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海运单一窗口可以理解为统一的信息提交和交换入口。船舶进港、停留、离港时需要提交许多资料，如果不同部门反复收取相近信息，就容易增加办理时间。单一窗口希望减少重复录入，使信息在相关机构之间更顺畅地流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但本次工作的阶段必须说清楚：它是在评估现有流程、制度和建设需求，并形成实施路线图，报道没有说达喀尔港的新系统已经上线。需求评估和系统投用，是两个不同的事实。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本组认为，港口数字化的难点不只在软件。哪些数据可以共享，哪个部门有权访问，发现错误时由谁更正，企业提交一次以后还需要履行哪些义务，都应在制度和流程中明确。技术整合不能让监管责任变得模糊。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这条新闻表明，数字化可以改善营商与通关效率，但前提是程序和责任能够衔接。最后，第十位同学会把视角扩展到国家管辖范围之外，介绍公海条约秘书处选址的最新讨论。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新闻出处：Senegal takes steps to digitalize its ports - International Maritime Organization</a:t>
            </a:r>
          </a:p>
          <a:p xmlns:a="http://schemas.openxmlformats.org/drawingml/2006/main">
            <a:r>
              <a:t>报道日期：2026-10-09</a:t>
            </a:r>
          </a:p>
          <a:p xmlns:a="http://schemas.openxmlformats.org/drawingml/2006/main">
            <a:r>
              <a:t>原文：https://www.imo.org/en/mediacentre/pages/WhatsNew-2507.aspx</a:t>
            </a:r>
          </a:p>
          <a:p xmlns:a="http://schemas.openxmlformats.org/drawingml/2006/main">
            <a:r>
              <a:t>配图：https://wwwcdn.imo.org/localresources/en/MediaCentre/WhatsNew/PublishingImages/Senegal WN_medium.jpg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演讲者10。</a:t>
            </a:r>
          </a:p>
          <a:p xmlns:a="http://schemas.openxmlformats.org/drawingml/2006/main">
            <a:r>
              <a:t>最后一条新闻来自10月6日Climate Home News。报道说，智利重申申办公海条约秘书处驻地，提出港口城市瓦尔帕莱索。中国厦门和比利时布鲁塞尔也在竞争。这里讲的是本周的进展报道，智利重申立场的相关活动发生在此前的联合国大会期间。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海条约通常简称BBNJ协定，关注国家管辖范围以外海域的海洋生物多样性。秘书处将承担制度运行的日常支持工作。报道指出，驻地还需要由缔约方会议作出决定。因此，截至本次汇报所依据的报道，不能说某座城市已经当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我们的分析是，选址问题不仅是办公地点的竞争，也涉及不同国家能否方便参加治理、科学信息怎样共享，以及机构如何保持透明。报道中的不同候选方提出了各自理由，我们应把这些主张和最终决定区分开来。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更值得持续关注的，是机构运行后如何支持海洋保护措施、环境影响评估和能力建设。拥有一个秘书处只是制度执行的起点，保护海洋需要可落实的程序、持续的资金和科学支持。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看今天的十条新闻，国内案例让我们看到保护区经营、无人岛利用和船舶作业的责任边界，国际案例则展示风险评估、区域应急和共同机构建设。它们共同说明，海洋法治的效果最终要在实际行为和生态结果中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我们的汇报到此结束。想留给大家讨论的问题是：一项海洋治理措施公布以后，我们应该用什么证据判断它真正有效？感谢大家。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新闻出处：Race to host High Seas Treaty HQ heats up as Chile reaffirms bid - Climate Home News</a:t>
            </a:r>
          </a:p>
          <a:p xmlns:a="http://schemas.openxmlformats.org/drawingml/2006/main">
            <a:r>
              <a:t>报道日期：2026-10-06</a:t>
            </a:r>
          </a:p>
          <a:p xmlns:a="http://schemas.openxmlformats.org/drawingml/2006/main">
            <a:r>
              <a:t>原文：https://www.climatechangenews.com/2026/10/06/race-to-host-high-seas-treaty-hq-heats-up-as-chile-reaffirms-bid/</a:t>
            </a:r>
          </a:p>
          <a:p xmlns:a="http://schemas.openxmlformats.org/drawingml/2006/main">
            <a:r>
              <a:t>配图：https://www.climatechangenews.com/wp-content/files/2026/10/image00009_4-1440x810.png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本页呈现新闻事实及数据。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演讲者10。</a:t>
            </a:r>
          </a:p>
          <a:p xmlns:a="http://schemas.openxmlformats.org/drawingml/2006/main">
            <a:r>
              <a:t>最后一条新闻来自10月6日Climate Home News。报道说，智利重申申办公海条约秘书处驻地，提出港口城市瓦尔帕莱索。中国厦门和比利时布鲁塞尔也在竞争。这里讲的是本周的进展报道，智利重申立场的相关活动发生在此前的联合国大会期间。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海条约通常简称BBNJ协定，关注国家管辖范围以外海域的海洋生物多样性。秘书处将承担制度运行的日常支持工作。报道指出，驻地还需要由缔约方会议作出决定。因此，截至本次汇报所依据的报道，不能说某座城市已经当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我们的分析是，选址问题不仅是办公地点的竞争，也涉及不同国家能否方便参加治理、科学信息怎样共享，以及机构如何保持透明。报道中的不同候选方提出了各自理由，我们应把这些主张和最终决定区分开来。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更值得持续关注的，是机构运行后如何支持海洋保护措施、环境影响评估和能力建设。拥有一个秘书处只是制度执行的起点，保护海洋需要可落实的程序、持续的资金和科学支持。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看今天的十条新闻，国内案例让我们看到保护区经营、无人岛利用和船舶作业的责任边界，国际案例则展示风险评估、区域应急和共同机构建设。它们共同说明，海洋法治的效果最终要在实际行为和生态结果中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我们的汇报到此结束。想留给大家讨论的问题是：一项海洋治理措施公布以后，我们应该用什么证据判断它真正有效？感谢大家。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新闻出处：Race to host High Seas Treaty HQ heats up as Chile reaffirms bid - Climate Home News</a:t>
            </a:r>
          </a:p>
          <a:p xmlns:a="http://schemas.openxmlformats.org/drawingml/2006/main">
            <a:r>
              <a:t>报道日期：2026-10-06</a:t>
            </a:r>
          </a:p>
          <a:p xmlns:a="http://schemas.openxmlformats.org/drawingml/2006/main">
            <a:r>
              <a:t>原文：https://www.climatechangenews.com/2026/10/06/race-to-host-high-seas-treaty-hq-heats-up-as-chile-reaffirms-bid/</a:t>
            </a:r>
          </a:p>
          <a:p xmlns:a="http://schemas.openxmlformats.org/drawingml/2006/main">
            <a:r>
              <a:t>配图：https://www.climatechangenews.com/wp-content/files/2026/10/image00009_4-1440x810.png</a:t>
            </a:r>
          </a:p>
          <a:p xmlns:a="http://schemas.openxmlformats.org/drawingml/2006/main">
            <a:r>
              <a:t>图片为原报道素材，经过暖色与低饱和处理。</a:t>
            </a:r>
          </a:p>
          <a:p xmlns:a="http://schemas.openxmlformats.org/drawingml/2006/main">
            <a:r>
              <a:t>本页讨论法治观点。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看今天的十条新闻，国内案例让我们看到保护区经营、无人岛利用和船舶作业的责任边界，国际案例则展示风险评估、区域应急和共同机构建设。它们共同说明，海洋法治的效果最终要在实际行为和生态结果中检验。</a:t>
            </a:r>
          </a:p>
          <a:p xmlns:a="http://schemas.openxmlformats.org/drawingml/2006/main">
            <a:r>
              <a:t>我们的汇报到此结束。想留给大家讨论的问题是：一项海洋治理措施公布以后，我们应该用什么证据判断它真正有效？感谢大家。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红树林保护区成“赶海乐园”，三亚：传唤5名俱乐部负责人接受调查 - ThePaper.cn</a:t>
            </a:r>
          </a:p>
          <a:p xmlns:a="http://schemas.openxmlformats.org/drawingml/2006/main">
            <a:r>
              <a:t>https://m.thepaper.cn/newsDetail_forward_34210667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案鉴 |“海上明珠”法治守护再升级 连江构建无居民海岛全链条保护体系 - 福州新闻网</a:t>
            </a:r>
          </a:p>
          <a:p xmlns:a="http://schemas.openxmlformats.org/drawingml/2006/main">
            <a:r>
              <a:t>https://m.fznews.com.cn/node/24361/20261009/3eCX07xj0W.shtml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碧海滩涂添新绿——福建宁德海洋生态保护修复项目启动红树林种植 - 新浪财经</a:t>
            </a:r>
          </a:p>
          <a:p xmlns:a="http://schemas.openxmlformats.org/drawingml/2006/main">
            <a:r>
              <a:t>https://finance.sina.com.cn/jjxw/2026-10-10/doc-iniututc2037582.shtml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筑牢“四道防线”天津海事局全力保障假期固体散装货物运输安全 - 中国交通新闻网</a:t>
            </a:r>
          </a:p>
          <a:p xmlns:a="http://schemas.openxmlformats.org/drawingml/2006/main">
            <a:r>
              <a:t>https://www.zgjtb.com/m/2026-10/07/content_540277.html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国庆期间潮州港重点民生物资运输40万吨，潮州海事部门做好保障工作 - 21财经</a:t>
            </a:r>
          </a:p>
          <a:p xmlns:a="http://schemas.openxmlformats.org/drawingml/2006/main">
            <a:r>
              <a:t>https://www.21jingji.com/article/20261009/herald/1989902377cbe99324709eeac605ad7c.html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宁波舟山港LNG加注覆盖金塘港区 - 中国交通新闻网</a:t>
            </a:r>
          </a:p>
          <a:p xmlns:a="http://schemas.openxmlformats.org/drawingml/2006/main">
            <a:r>
              <a:t>https://www.zgjtb.com/m/2026-10/06/content_540204.html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IMO adopts frameworks to assess marine geoengineering research activities - International Maritime Organization</a:t>
            </a:r>
          </a:p>
          <a:p xmlns:a="http://schemas.openxmlformats.org/drawingml/2006/main">
            <a:r>
              <a:t>https://www.imo.org/en/MediaCentre/PressBriefings/pages/IMO-adopts-marine-geoengineering-frameworks-for-research-activities.aspx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REMPEC marks 50 years of protecting the Mediterranean marine environment - International Maritime Organization</a:t>
            </a:r>
          </a:p>
          <a:p xmlns:a="http://schemas.openxmlformats.org/drawingml/2006/main">
            <a:r>
              <a:t>https://www.imo.org/en/MediaCentre/Pages/WhatsNew-2506.aspx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Senegal takes steps to digitalize its ports - International Maritime Organization</a:t>
            </a:r>
          </a:p>
          <a:p xmlns:a="http://schemas.openxmlformats.org/drawingml/2006/main">
            <a:r>
              <a:t>https://www.imo.org/en/mediacentre/pages/WhatsNew-2507.aspx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Race to host High Seas Treaty HQ heats up as Chile reaffirms bid - Climate Home News</a:t>
            </a:r>
          </a:p>
          <a:p xmlns:a="http://schemas.openxmlformats.org/drawingml/2006/main">
            <a:r>
              <a:t>https://www.climatechangenews.com/2026/10/06/race-to-host-high-seas-treaty-hq-heats-up-as-chile-reaffirms-bid/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9d8d437a842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e32c6714f4b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3a1d80a454b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df354dd3245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a8e4aa1a542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98c8f933b45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ACAEAD-9851-4E94-BBD9-68E84E19E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562959-A261-4EBD-AC2F-051B21FEE2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0DF1D0-A456-4330-BB04-1B764D1A6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8AFE4-696B-4AD7-AE4B-547E469FD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3FBF07-5207-465C-8A24-47AAC183E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AEAC80-EA03-4770-8D3F-EEF3019F7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565E4F-BBC3-45F7-B0B4-7B8A2F218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F39134-C799-429F-B08E-18C5FAFC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A1880-1994-4B36-9BD2-B362CB4F0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A023DF-DF85-48C4-84D1-40DEDA89D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4d9c4601834e0c" /><Relationship Type="http://schemas.openxmlformats.org/officeDocument/2006/relationships/slideLayout" Target="/ppt/slideLayouts/slideLayout1.xml" Id="Re3d55f9563da41f1" /><Relationship Type="http://schemas.openxmlformats.org/officeDocument/2006/relationships/slideLayout" Target="/ppt/slideLayouts/slideLayout2.xml" Id="R69d7df153fd64114" /><Relationship Type="http://schemas.openxmlformats.org/officeDocument/2006/relationships/slideLayout" Target="/ppt/slideLayouts/slideLayout3.xml" Id="R2a22a0ffa4c8448b" /><Relationship Type="http://schemas.openxmlformats.org/officeDocument/2006/relationships/slideLayout" Target="/ppt/slideLayouts/slideLayout4.xml" Id="R8cb3db4bfcd144aa" /><Relationship Type="http://schemas.openxmlformats.org/officeDocument/2006/relationships/slideLayout" Target="/ppt/slideLayouts/slideLayout5.xml" Id="R1660c5d1f92e4130" /><Relationship Type="http://schemas.openxmlformats.org/officeDocument/2006/relationships/slideLayout" Target="/ppt/slideLayouts/slideLayout6.xml" Id="Rb717589298a24f30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d55f9563da41f1"/>
    <p:sldLayoutId xmlns:r="http://schemas.openxmlformats.org/officeDocument/2006/relationships" id="2147483650" r:id="R69d7df153fd64114"/>
    <p:sldLayoutId xmlns:r="http://schemas.openxmlformats.org/officeDocument/2006/relationships" id="2147483651" r:id="R2a22a0ffa4c8448b"/>
    <p:sldLayoutId xmlns:r="http://schemas.openxmlformats.org/officeDocument/2006/relationships" id="2147483652" r:id="R8cb3db4bfcd144aa"/>
    <p:sldLayoutId xmlns:r="http://schemas.openxmlformats.org/officeDocument/2006/relationships" id="2147483653" r:id="R1660c5d1f92e4130"/>
    <p:sldLayoutId xmlns:r="http://schemas.openxmlformats.org/officeDocument/2006/relationships" id="2147483654" r:id="Rb717589298a24f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343f0ca5c4384" /><Relationship Type="http://schemas.openxmlformats.org/officeDocument/2006/relationships/image" Target="/ppt/media/image.jpeg" Id="R5b3161c877af4feb" /><Relationship Type="http://schemas.openxmlformats.org/officeDocument/2006/relationships/notesSlide" Target="/ppt/notesSlides/notesSlide1.xml" Id="R9fbd28fe8acc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221e1ade642b6" /><Relationship Type="http://schemas.openxmlformats.org/officeDocument/2006/relationships/notesSlide" Target="/ppt/notesSlides/notesSlide2.xml" Id="Rf47e7706043a41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11123eb9549db" /><Relationship Type="http://schemas.openxmlformats.org/officeDocument/2006/relationships/image" Target="/ppt/media/image2.jpeg" Id="R6c63a78a98d741fa" /><Relationship Type="http://schemas.openxmlformats.org/officeDocument/2006/relationships/notesSlide" Target="/ppt/notesSlides/notesSlide3.xml" Id="R9f77e0a818f1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d87f645654abf" /><Relationship Type="http://schemas.openxmlformats.org/officeDocument/2006/relationships/image" Target="/ppt/media/image3.jpeg" Id="Rc11ec85b09364ccc" /><Relationship Type="http://schemas.openxmlformats.org/officeDocument/2006/relationships/notesSlide" Target="/ppt/notesSlides/notesSlide4.xml" Id="R7df652a24d2043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be43162044260" /><Relationship Type="http://schemas.openxmlformats.org/officeDocument/2006/relationships/image" Target="/ppt/media/image4.jpeg" Id="Rf830d4c696244709" /><Relationship Type="http://schemas.openxmlformats.org/officeDocument/2006/relationships/notesSlide" Target="/ppt/notesSlides/notesSlide5.xml" Id="R59a69ff98b5449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9d1a0e7d14468" /><Relationship Type="http://schemas.openxmlformats.org/officeDocument/2006/relationships/image" Target="/ppt/media/image5.jpeg" Id="R08c71f1f0635493d" /><Relationship Type="http://schemas.openxmlformats.org/officeDocument/2006/relationships/notesSlide" Target="/ppt/notesSlides/notesSlide6.xml" Id="R1f04c6137e6844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78e2fbf334059" /><Relationship Type="http://schemas.openxmlformats.org/officeDocument/2006/relationships/image" Target="/ppt/media/image6.jpeg" Id="Rc2ade6e2a4804f7c" /><Relationship Type="http://schemas.openxmlformats.org/officeDocument/2006/relationships/notesSlide" Target="/ppt/notesSlides/notesSlide7.xml" Id="Rc193cb13523c41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61130106e466d" /><Relationship Type="http://schemas.openxmlformats.org/officeDocument/2006/relationships/image" Target="/ppt/media/image7.jpeg" Id="R4b9f5ec70ab84fe0" /><Relationship Type="http://schemas.openxmlformats.org/officeDocument/2006/relationships/notesSlide" Target="/ppt/notesSlides/notesSlide8.xml" Id="R5adc0eff95db4f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db77c26594d04" /><Relationship Type="http://schemas.openxmlformats.org/officeDocument/2006/relationships/image" Target="/ppt/media/image8.jpeg" Id="R19fb2beac24e4f60" /><Relationship Type="http://schemas.openxmlformats.org/officeDocument/2006/relationships/notesSlide" Target="/ppt/notesSlides/notesSlide9.xml" Id="R77fa22b129fc4e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24bd1666e4620" /><Relationship Type="http://schemas.openxmlformats.org/officeDocument/2006/relationships/image" Target="/ppt/media/image9.jpeg" Id="Rb9eb15c093b448b1" /><Relationship Type="http://schemas.openxmlformats.org/officeDocument/2006/relationships/notesSlide" Target="/ppt/notesSlides/notesSlide10.xml" Id="Rbb0a00ea600a44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4d09569334c84" /><Relationship Type="http://schemas.openxmlformats.org/officeDocument/2006/relationships/image" Target="/ppt/media/image10.jpeg" Id="R24c2bd04ce28422b" /><Relationship Type="http://schemas.openxmlformats.org/officeDocument/2006/relationships/notesSlide" Target="/ppt/notesSlides/notesSlide11.xml" Id="Ra37683c9b5db4d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0e6c0b8214b74" /><Relationship Type="http://schemas.openxmlformats.org/officeDocument/2006/relationships/image" Target="/ppt/media/image11.jpeg" Id="R33654fe85a9146b3" /><Relationship Type="http://schemas.openxmlformats.org/officeDocument/2006/relationships/notesSlide" Target="/ppt/notesSlides/notesSlide12.xml" Id="R355da22bfba647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b798270d04bb7" /><Relationship Type="http://schemas.openxmlformats.org/officeDocument/2006/relationships/image" Target="/ppt/media/image12.jpeg" Id="Rad79ad3025bc4c31" /><Relationship Type="http://schemas.openxmlformats.org/officeDocument/2006/relationships/notesSlide" Target="/ppt/notesSlides/notesSlide13.xml" Id="Rd770aae1d3ce42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86b28c7b34464" /><Relationship Type="http://schemas.openxmlformats.org/officeDocument/2006/relationships/image" Target="/ppt/media/image13.jpeg" Id="Rc7ce5d74c9574f63" /><Relationship Type="http://schemas.openxmlformats.org/officeDocument/2006/relationships/notesSlide" Target="/ppt/notesSlides/notesSlide14.xml" Id="Rb4e8baae9541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95acc39bd4035" /><Relationship Type="http://schemas.openxmlformats.org/officeDocument/2006/relationships/image" Target="/ppt/media/image14.jpeg" Id="Rf202278f53be431a" /><Relationship Type="http://schemas.openxmlformats.org/officeDocument/2006/relationships/notesSlide" Target="/ppt/notesSlides/notesSlide15.xml" Id="R5c859ab900e64b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3438c8e484157" /><Relationship Type="http://schemas.openxmlformats.org/officeDocument/2006/relationships/image" Target="/ppt/media/image15.jpeg" Id="R1e7782b3e5594f20" /><Relationship Type="http://schemas.openxmlformats.org/officeDocument/2006/relationships/notesSlide" Target="/ppt/notesSlides/notesSlide16.xml" Id="R58fa3f8087ef4a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0d40b3c234d70" /><Relationship Type="http://schemas.openxmlformats.org/officeDocument/2006/relationships/image" Target="/ppt/media/image16.jpeg" Id="R0e92847b64734eae" /><Relationship Type="http://schemas.openxmlformats.org/officeDocument/2006/relationships/notesSlide" Target="/ppt/notesSlides/notesSlide17.xml" Id="R61bdeea8cf2b4d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62d71e6f9488e" /><Relationship Type="http://schemas.openxmlformats.org/officeDocument/2006/relationships/image" Target="/ppt/media/image17.jpeg" Id="Rf863762a218c4155" /><Relationship Type="http://schemas.openxmlformats.org/officeDocument/2006/relationships/notesSlide" Target="/ppt/notesSlides/notesSlide18.xml" Id="R2816ad2c99af44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1929cd9b1440d" /><Relationship Type="http://schemas.openxmlformats.org/officeDocument/2006/relationships/image" Target="/ppt/media/image18.jpeg" Id="R3cade884215840e7" /><Relationship Type="http://schemas.openxmlformats.org/officeDocument/2006/relationships/notesSlide" Target="/ppt/notesSlides/notesSlide19.xml" Id="R3a3de27b7c2746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774b773aa45e9" /><Relationship Type="http://schemas.openxmlformats.org/officeDocument/2006/relationships/image" Target="/ppt/media/image19.jpeg" Id="R363a57becdc24a16" /><Relationship Type="http://schemas.openxmlformats.org/officeDocument/2006/relationships/notesSlide" Target="/ppt/notesSlides/notesSlide20.xml" Id="R9e7a713bc0db49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9c8b8aa90484e" /><Relationship Type="http://schemas.openxmlformats.org/officeDocument/2006/relationships/image" Target="/ppt/media/image20.jpeg" Id="R1e032eb7b7c94fe6" /><Relationship Type="http://schemas.openxmlformats.org/officeDocument/2006/relationships/notesSlide" Target="/ppt/notesSlides/notesSlide21.xml" Id="Rbf330d0ee3474b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cb9c52bc64dec" /><Relationship Type="http://schemas.openxmlformats.org/officeDocument/2006/relationships/image" Target="/ppt/media/image21.jpeg" Id="R65195f84e9d24284" /><Relationship Type="http://schemas.openxmlformats.org/officeDocument/2006/relationships/notesSlide" Target="/ppt/notesSlides/notesSlide22.xml" Id="R3da5ff159e7d4a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9244d9b834b51" /><Relationship Type="http://schemas.openxmlformats.org/officeDocument/2006/relationships/notesSlide" Target="/ppt/notesSlides/notesSlide23.xml" Id="R7cc7818e7ee949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c0065a46548bc" /><Relationship Type="http://schemas.openxmlformats.org/officeDocument/2006/relationships/hyperlink" Target="https://m.thepaper.cn/newsDetail_forward_34210667" TargetMode="External" Id="R0bd05005c2d54c17" /><Relationship Type="http://schemas.openxmlformats.org/officeDocument/2006/relationships/hyperlink" Target="https://m.fznews.com.cn/node/24361/20261009/3eCX07xj0W.shtml" TargetMode="External" Id="Ra78d44fb58c54ea2" /><Relationship Type="http://schemas.openxmlformats.org/officeDocument/2006/relationships/hyperlink" Target="https://finance.sina.com.cn/jjxw/2026-10-10/doc-iniututc2037582.shtml" TargetMode="External" Id="R2b44648c3b0a4fc4" /><Relationship Type="http://schemas.openxmlformats.org/officeDocument/2006/relationships/hyperlink" Target="https://www.zgjtb.com/m/2026-10/07/content_540277.html" TargetMode="External" Id="Ra481bc9e21744177" /><Relationship Type="http://schemas.openxmlformats.org/officeDocument/2006/relationships/hyperlink" Target="https://www.21jingji.com/article/20261009/herald/1989902377cbe99324709eeac605ad7c.html" TargetMode="External" Id="R64897537911c4e7d" /><Relationship Type="http://schemas.openxmlformats.org/officeDocument/2006/relationships/notesSlide" Target="/ppt/notesSlides/notesSlide24.xml" Id="Rafc782cb7ff34d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db5618cf34e41" /><Relationship Type="http://schemas.openxmlformats.org/officeDocument/2006/relationships/hyperlink" Target="https://www.zgjtb.com/m/2026-10/06/content_540204.html" TargetMode="External" Id="R743fbfb33178489e" /><Relationship Type="http://schemas.openxmlformats.org/officeDocument/2006/relationships/hyperlink" Target="https://www.imo.org/en/MediaCentre/PressBriefings/pages/IMO-adopts-marine-geoengineering-frameworks-for-research-activities.aspx" TargetMode="External" Id="R80cfcd84a21d43f1" /><Relationship Type="http://schemas.openxmlformats.org/officeDocument/2006/relationships/hyperlink" Target="https://www.imo.org/en/MediaCentre/Pages/WhatsNew-2506.aspx" TargetMode="External" Id="Rd57a479a09684c4e" /><Relationship Type="http://schemas.openxmlformats.org/officeDocument/2006/relationships/hyperlink" Target="https://www.imo.org/en/mediacentre/pages/WhatsNew-2507.aspx" TargetMode="External" Id="Re7f20638bb14478f" /><Relationship Type="http://schemas.openxmlformats.org/officeDocument/2006/relationships/hyperlink" Target="https://www.climatechangenews.com/2026/10/06/race-to-host-high-seas-treaty-hq-heats-up-as-chile-reaffirms-bid/" TargetMode="External" Id="Rfc8c8c23a06f4c97" /><Relationship Type="http://schemas.openxmlformats.org/officeDocument/2006/relationships/notesSlide" Target="/ppt/notesSlides/notesSlide25.xml" Id="R0e775608870446dc" /></Relationships>
</file>

<file path=ppt/slides/slide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1-green-field">
            <a:extLst xmlns:a="http://schemas.openxmlformats.org/drawingml/2006/main">
              <a:ext uri="{FF2B5EF4-FFF2-40B4-BE49-F238E27FC236}">
                <a16:creationId xmlns:a16="http://schemas.microsoft.com/office/drawing/2014/main" id="{5A086A68-B462-4805-B3B9-78FF856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1-red-edge">
            <a:extLst xmlns:a="http://schemas.openxmlformats.org/drawingml/2006/main">
              <a:ext uri="{FF2B5EF4-FFF2-40B4-BE49-F238E27FC236}">
                <a16:creationId xmlns:a16="http://schemas.microsoft.com/office/drawing/2014/main" id="{340B1498-C19E-414E-9F31-936D4B3F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3" name="s1-kicker">
            <a:extLst xmlns:a="http://schemas.openxmlformats.org/drawingml/2006/main">
              <a:ext uri="{FF2B5EF4-FFF2-40B4-BE49-F238E27FC236}">
                <a16:creationId xmlns:a16="http://schemas.microsoft.com/office/drawing/2014/main" id="{594CDD7E-7C5D-45B4-80D0-3E5BCC8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海洋法治课堂汇报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621EFCA4-87F8-4A60-B4A8-6C84B03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52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一周海洋时事</a:t>
            </a:r>
          </a:p>
          <a:p xmlns:a="http://schemas.openxmlformats.org/drawingml/2006/main">
            <a:pPr algn="l">
              <a:defRPr sz="6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6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与法治观察</a:t>
            </a:r>
          </a:p>
        </p:txBody>
      </p:sp>
      <p:sp>
        <p:nvSpPr>
          <p:cNvPr id="5" name="s1-date">
            <a:extLst xmlns:a="http://schemas.openxmlformats.org/drawingml/2006/main">
              <a:ext uri="{FF2B5EF4-FFF2-40B4-BE49-F238E27FC236}">
                <a16:creationId xmlns:a16="http://schemas.microsoft.com/office/drawing/2014/main" id="{DD0CC684-3DE9-47A3-8630-A437DD0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6" name="s1-subtitle">
            <a:extLst xmlns:a="http://schemas.openxmlformats.org/drawingml/2006/main">
              <a:ext uri="{FF2B5EF4-FFF2-40B4-BE49-F238E27FC236}">
                <a16:creationId xmlns:a16="http://schemas.microsoft.com/office/drawing/2014/main" id="{BB548400-1B08-4DD7-884D-B47EA15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733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十条新闻，十位讲述者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4E855-04D6-4BEF-BEE2-55F2D1B333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161c877af4feb"/>
          <a:srcRect xmlns:a="http://schemas.openxmlformats.org/drawingml/2006/main" l="19067" t="0" r="190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704975"/>
            <a:ext cx="3314700" cy="3571875"/>
          </a:xfrm>
          <a:prstGeom xmlns:a="http://schemas.openxmlformats.org/drawingml/2006/main" prst="rect">
            <a:avLst/>
          </a:prstGeom>
        </p:spPr>
      </p:pic>
      <p:sp>
        <p:nvSpPr>
          <p:cNvPr id="8" name="s1-edition">
            <a:extLst xmlns:a="http://schemas.openxmlformats.org/drawingml/2006/main">
              <a:ext uri="{FF2B5EF4-FFF2-40B4-BE49-F238E27FC236}">
                <a16:creationId xmlns:a16="http://schemas.microsoft.com/office/drawing/2014/main" id="{FC855C73-8368-481F-B1C7-926FD2B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86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OCEAN</a:t>
            </a:r>
          </a:p>
          <a:p xmlns:a="http://schemas.openxmlformats.org/drawingml/2006/main">
            <a:pPr algn="l">
              <a:defRPr sz="28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WEEKLY</a:t>
            </a:r>
          </a:p>
        </p:txBody>
      </p:sp>
      <p:sp>
        <p:nvSpPr>
          <p:cNvPr id="9" name="s1-footer">
            <a:extLst xmlns:a="http://schemas.openxmlformats.org/drawingml/2006/main">
              <a:ext uri="{FF2B5EF4-FFF2-40B4-BE49-F238E27FC236}">
                <a16:creationId xmlns:a16="http://schemas.microsoft.com/office/drawing/2014/main" id="{31794A98-4C46-466F-985D-392628D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0" name="s1-page">
            <a:extLst xmlns:a="http://schemas.openxmlformats.org/drawingml/2006/main">
              <a:ext uri="{FF2B5EF4-FFF2-40B4-BE49-F238E27FC236}">
                <a16:creationId xmlns:a16="http://schemas.microsoft.com/office/drawing/2014/main" id="{F226054A-C270-4715-9E30-688BD978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01 / 25</a:t>
            </a:r>
          </a:p>
        </p:txBody>
      </p:sp>
    </p:spTree>
    <p:extLst>
      <p:ext uri="{BB962C8B-B14F-4D97-AF65-F5344CB8AC3E}">
        <p14:creationId xmlns:p14="http://schemas.microsoft.com/office/powerpoint/2010/main" val="1703633519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8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"/>
                            </p:stCondLst>
                            <p:childTnLst>
                              <p:par>
                                <p:cTn id="10" presetID="20" presetClass="entr" presetSubtype="4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1"/>
      <p:bldP spid="5" grpId="2"/>
      <p:bldP spid="6" grpId="3"/>
    </p:bldLst>
  </p:timing>
</p:sld>
</file>

<file path=ppt/slides/slide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-yellow-field">
            <a:extLst xmlns:a="http://schemas.openxmlformats.org/drawingml/2006/main">
              <a:ext uri="{FF2B5EF4-FFF2-40B4-BE49-F238E27FC236}">
                <a16:creationId xmlns:a16="http://schemas.microsoft.com/office/drawing/2014/main" id="{440C9200-B577-453C-9EA2-3DF36724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E69008A6-4BA8-4517-BC35-9CECE03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本周观察的三个议题</a:t>
            </a:r>
          </a:p>
        </p:txBody>
      </p:sp>
      <p:sp>
        <p:nvSpPr>
          <p:cNvPr id="3" name="s2-range-0">
            <a:extLst xmlns:a="http://schemas.openxmlformats.org/drawingml/2006/main">
              <a:ext uri="{FF2B5EF4-FFF2-40B4-BE49-F238E27FC236}">
                <a16:creationId xmlns:a16="http://schemas.microsoft.com/office/drawing/2014/main" id="{6251217A-6565-41C0-A37E-7F17D4F5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01—03</a:t>
            </a:r>
          </a:p>
        </p:txBody>
      </p:sp>
      <p:sp>
        <p:nvSpPr>
          <p:cNvPr id="4" name="s2-topic-0">
            <a:extLst xmlns:a="http://schemas.openxmlformats.org/drawingml/2006/main">
              <a:ext uri="{FF2B5EF4-FFF2-40B4-BE49-F238E27FC236}">
                <a16:creationId xmlns:a16="http://schemas.microsoft.com/office/drawing/2014/main" id="{F23CB020-58CA-46AA-BCC4-CCE10966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海洋生态保护</a:t>
            </a:r>
          </a:p>
        </p:txBody>
      </p:sp>
      <p:sp>
        <p:nvSpPr>
          <p:cNvPr id="5" name="s2-sub-0">
            <a:extLst xmlns:a="http://schemas.openxmlformats.org/drawingml/2006/main">
              <a:ext uri="{FF2B5EF4-FFF2-40B4-BE49-F238E27FC236}">
                <a16:creationId xmlns:a16="http://schemas.microsoft.com/office/drawing/2014/main" id="{521B1A12-4FA4-4DAA-BE61-52A23E0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717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经营边界、海岛监督与生境修复</a:t>
            </a:r>
          </a:p>
        </p:txBody>
      </p:sp>
      <p:sp>
        <p:nvSpPr>
          <p:cNvPr id="6" name="s2-range-1">
            <a:extLst xmlns:a="http://schemas.openxmlformats.org/drawingml/2006/main">
              <a:ext uri="{FF2B5EF4-FFF2-40B4-BE49-F238E27FC236}">
                <a16:creationId xmlns:a16="http://schemas.microsoft.com/office/drawing/2014/main" id="{C8374C81-DD26-45A3-A53A-F09651E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04—06</a:t>
            </a:r>
          </a:p>
        </p:txBody>
      </p:sp>
      <p:sp>
        <p:nvSpPr>
          <p:cNvPr id="7" name="s2-topic-1">
            <a:extLst xmlns:a="http://schemas.openxmlformats.org/drawingml/2006/main">
              <a:ext uri="{FF2B5EF4-FFF2-40B4-BE49-F238E27FC236}">
                <a16:creationId xmlns:a16="http://schemas.microsoft.com/office/drawing/2014/main" id="{3C7F2E95-3CBF-4779-8F64-0535516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480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航运安全与服务</a:t>
            </a:r>
          </a:p>
        </p:txBody>
      </p:sp>
      <p:sp>
        <p:nvSpPr>
          <p:cNvPr id="8" name="s2-sub-1">
            <a:extLst xmlns:a="http://schemas.openxmlformats.org/drawingml/2006/main">
              <a:ext uri="{FF2B5EF4-FFF2-40B4-BE49-F238E27FC236}">
                <a16:creationId xmlns:a16="http://schemas.microsoft.com/office/drawing/2014/main" id="{6F920018-5690-4B8D-AC7C-0CE05E2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100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散货风险、港口保畅与LNG加注</a:t>
            </a:r>
          </a:p>
        </p:txBody>
      </p:sp>
      <p:sp>
        <p:nvSpPr>
          <p:cNvPr id="9" name="s2-range-2">
            <a:extLst xmlns:a="http://schemas.openxmlformats.org/drawingml/2006/main">
              <a:ext uri="{FF2B5EF4-FFF2-40B4-BE49-F238E27FC236}">
                <a16:creationId xmlns:a16="http://schemas.microsoft.com/office/drawing/2014/main" id="{EF9C0D63-9B6E-4921-B3EA-EDAAD5F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07—10</a:t>
            </a:r>
          </a:p>
        </p:txBody>
      </p:sp>
      <p:sp>
        <p:nvSpPr>
          <p:cNvPr id="10" name="s2-topic-2">
            <a:extLst xmlns:a="http://schemas.openxmlformats.org/drawingml/2006/main">
              <a:ext uri="{FF2B5EF4-FFF2-40B4-BE49-F238E27FC236}">
                <a16:creationId xmlns:a16="http://schemas.microsoft.com/office/drawing/2014/main" id="{C290E196-9ABF-4F91-83B5-91AB7FA1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国际海洋治理</a:t>
            </a:r>
          </a:p>
        </p:txBody>
      </p:sp>
      <p:sp>
        <p:nvSpPr>
          <p:cNvPr id="11" name="s2-sub-2">
            <a:extLst xmlns:a="http://schemas.openxmlformats.org/drawingml/2006/main">
              <a:ext uri="{FF2B5EF4-FFF2-40B4-BE49-F238E27FC236}">
                <a16:creationId xmlns:a16="http://schemas.microsoft.com/office/drawing/2014/main" id="{87E5A2BF-B355-41F5-8F91-A573DA0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482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新技术评估、区域协作与治理机构</a:t>
            </a:r>
          </a:p>
        </p:txBody>
      </p:sp>
      <p:sp>
        <p:nvSpPr>
          <p:cNvPr id="12" name="s2-duration">
            <a:extLst xmlns:a="http://schemas.openxmlformats.org/drawingml/2006/main">
              <a:ext uri="{FF2B5EF4-FFF2-40B4-BE49-F238E27FC236}">
                <a16:creationId xmlns:a16="http://schemas.microsoft.com/office/drawing/2014/main" id="{52FCE2C2-6A08-4D30-A2BF-639155B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7650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3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约20分钟</a:t>
            </a:r>
          </a:p>
          <a:p xmlns:a="http://schemas.openxmlformats.org/drawingml/2006/main">
            <a:pPr algn="l">
              <a:defRPr sz="33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3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十人共同汇报</a:t>
            </a:r>
          </a:p>
        </p:txBody>
      </p:sp>
      <p:sp>
        <p:nvSpPr>
          <p:cNvPr id="13" name="s2-footer">
            <a:extLst xmlns:a="http://schemas.openxmlformats.org/drawingml/2006/main">
              <a:ext uri="{FF2B5EF4-FFF2-40B4-BE49-F238E27FC236}">
                <a16:creationId xmlns:a16="http://schemas.microsoft.com/office/drawing/2014/main" id="{87913C47-1886-4A69-B66E-596B743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按原报道标注的日期选取本周新闻</a:t>
            </a:r>
          </a:p>
        </p:txBody>
      </p:sp>
      <p:sp>
        <p:nvSpPr>
          <p:cNvPr id="14" name="s2-page">
            <a:extLst xmlns:a="http://schemas.openxmlformats.org/drawingml/2006/main">
              <a:ext uri="{FF2B5EF4-FFF2-40B4-BE49-F238E27FC236}">
                <a16:creationId xmlns:a16="http://schemas.microsoft.com/office/drawing/2014/main" id="{2BFC7A65-5EE5-456C-B7B8-00F9D2D5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02 / 25</a:t>
            </a:r>
          </a:p>
        </p:txBody>
      </p:sp>
    </p:spTree>
    <p:extLst>
      <p:ext uri="{BB962C8B-B14F-4D97-AF65-F5344CB8AC3E}">
        <p14:creationId xmlns:p14="http://schemas.microsoft.com/office/powerpoint/2010/main" val="72010681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10" presetClass="entr" presetSubtype="0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2" presetClass="entr" presetSubtype="1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0"/>
                            </p:stCondLst>
                            <p:childTnLst>
                              <p:par>
                                <p:cTn id="21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"/>
                            </p:stCondLst>
                            <p:childTnLst>
                              <p:par>
                                <p:cTn id="26" presetID="2" presetClass="entr" presetSubtype="1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40"/>
                            </p:stCondLst>
                            <p:childTnLst>
                              <p:par>
                                <p:cTn id="32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7" grpId="2"/>
      <p:bldP spid="8" grpId="3"/>
      <p:bldP spid="10" grpId="4"/>
      <p:bldP spid="11" grpId="5"/>
    </p:bldLst>
  </p:timing>
</p:sld>
</file>

<file path=ppt/slides/slide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1">
            <a:extLst xmlns:a="http://schemas.openxmlformats.org/drawingml/2006/main">
              <a:ext uri="{FF2B5EF4-FFF2-40B4-BE49-F238E27FC236}">
                <a16:creationId xmlns:a16="http://schemas.microsoft.com/office/drawing/2014/main" id="{E6CDFE44-60CA-4753-86B2-660AC4CF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1">
            <a:extLst xmlns:a="http://schemas.openxmlformats.org/drawingml/2006/main">
              <a:ext uri="{FF2B5EF4-FFF2-40B4-BE49-F238E27FC236}">
                <a16:creationId xmlns:a16="http://schemas.microsoft.com/office/drawing/2014/main" id="{3E2796E5-EF30-4938-A991-E7FDF4F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三亚红树林保护区整治</a:t>
            </a:r>
          </a:p>
        </p:txBody>
      </p:sp>
      <p:sp>
        <p:nvSpPr>
          <p:cNvPr id="3" name="!!s3-date">
            <a:extLst xmlns:a="http://schemas.openxmlformats.org/drawingml/2006/main">
              <a:ext uri="{FF2B5EF4-FFF2-40B4-BE49-F238E27FC236}">
                <a16:creationId xmlns:a16="http://schemas.microsoft.com/office/drawing/2014/main" id="{0B1A5A78-4880-4A7D-9596-096DCA9D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2026-10-08   演讲者 01</a:t>
            </a:r>
          </a:p>
        </p:txBody>
      </p:sp>
      <p:sp>
        <p:nvSpPr>
          <p:cNvPr id="4" name="!!s3-title">
            <a:extLst xmlns:a="http://schemas.openxmlformats.org/drawingml/2006/main">
              <a:ext uri="{FF2B5EF4-FFF2-40B4-BE49-F238E27FC236}">
                <a16:creationId xmlns:a16="http://schemas.microsoft.com/office/drawing/2014/main" id="{F91F22DF-2A7F-4633-A4BB-BA1ED90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保护区里的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赶海经营被查</a:t>
            </a:r>
          </a:p>
        </p:txBody>
      </p:sp>
      <p:sp>
        <p:nvSpPr>
          <p:cNvPr id="5" name="!!s3-metric">
            <a:extLst xmlns:a="http://schemas.openxmlformats.org/drawingml/2006/main">
              <a:ext uri="{FF2B5EF4-FFF2-40B4-BE49-F238E27FC236}">
                <a16:creationId xmlns:a16="http://schemas.microsoft.com/office/drawing/2014/main" id="{C61BAB19-0C7A-4B01-9F8A-FB3CC53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5名</a:t>
            </a:r>
          </a:p>
        </p:txBody>
      </p:sp>
      <p:sp>
        <p:nvSpPr>
          <p:cNvPr id="6" name="!!s3-label">
            <a:extLst xmlns:a="http://schemas.openxmlformats.org/drawingml/2006/main">
              <a:ext uri="{FF2B5EF4-FFF2-40B4-BE49-F238E27FC236}">
                <a16:creationId xmlns:a16="http://schemas.microsoft.com/office/drawing/2014/main" id="{4BB99989-5DEF-4A21-8EEC-07DE1B45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俱乐部负责人接受调查</a:t>
            </a:r>
          </a:p>
        </p:txBody>
      </p:sp>
      <p:sp>
        <p:nvSpPr>
          <p:cNvPr id="7" name="!!s3-fact-0">
            <a:extLst xmlns:a="http://schemas.openxmlformats.org/drawingml/2006/main">
              <a:ext uri="{FF2B5EF4-FFF2-40B4-BE49-F238E27FC236}">
                <a16:creationId xmlns:a16="http://schemas.microsoft.com/office/drawing/2014/main" id="{BA0927A8-9A39-42A8-A989-AB49F86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10月7日曝光违法赶海后，当地启动联合整治</a:t>
            </a:r>
          </a:p>
        </p:txBody>
      </p:sp>
      <p:sp>
        <p:nvSpPr>
          <p:cNvPr id="8" name="!!s3-fact-1">
            <a:extLst xmlns:a="http://schemas.openxmlformats.org/drawingml/2006/main">
              <a:ext uri="{FF2B5EF4-FFF2-40B4-BE49-F238E27FC236}">
                <a16:creationId xmlns:a16="http://schemas.microsoft.com/office/drawing/2014/main" id="{4F3648A4-67D6-42DA-9BC2-C257CB28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报道列明关停7家经营场所、收缴840条禁用地笼</a:t>
            </a:r>
          </a:p>
        </p:txBody>
      </p:sp>
      <p:sp>
        <p:nvSpPr>
          <p:cNvPr id="9" name="!!s3-fact-2">
            <a:extLst xmlns:a="http://schemas.openxmlformats.org/drawingml/2006/main">
              <a:ext uri="{FF2B5EF4-FFF2-40B4-BE49-F238E27FC236}">
                <a16:creationId xmlns:a16="http://schemas.microsoft.com/office/drawing/2014/main" id="{69B33E80-96A5-4439-A012-3ADC2A5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公安依法传唤负责人，生态受损区域同步评估</a:t>
            </a:r>
          </a:p>
        </p:txBody>
      </p:sp>
      <p:pic>
        <p:nvPicPr>
          <p:cNvPr id="10" name="!!actor-photo-01">
            <a:extLst xmlns:a="http://schemas.openxmlformats.org/drawingml/2006/main">
              <a:ext uri="{FF2B5EF4-FFF2-40B4-BE49-F238E27FC236}">
                <a16:creationId xmlns:a16="http://schemas.microsoft.com/office/drawing/2014/main" id="{7DF8E837-6A13-40E1-9A5C-612A87C69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3a78a98d741fa"/>
          <a:stretch xmlns:a="http://schemas.openxmlformats.org/drawingml/2006/main"/>
        </p:blipFill>
        <p:spPr>
          <a:xfrm xmlns:a="http://schemas.openxmlformats.org/drawingml/2006/main">
            <a:off x="7658100" y="1908175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11" name="!!s3-caption">
            <a:extLst xmlns:a="http://schemas.openxmlformats.org/drawingml/2006/main">
              <a:ext uri="{FF2B5EF4-FFF2-40B4-BE49-F238E27FC236}">
                <a16:creationId xmlns:a16="http://schemas.microsoft.com/office/drawing/2014/main" id="{9B40A2D0-70B2-4410-A47B-F0129AF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3-section">
            <a:extLst xmlns:a="http://schemas.openxmlformats.org/drawingml/2006/main">
              <a:ext uri="{FF2B5EF4-FFF2-40B4-BE49-F238E27FC236}">
                <a16:creationId xmlns:a16="http://schemas.microsoft.com/office/drawing/2014/main" id="{CEC4E8B2-E6F8-4D43-BE55-2B51EBD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13" name="!!s3-footer">
            <a:extLst xmlns:a="http://schemas.openxmlformats.org/drawingml/2006/main">
              <a:ext uri="{FF2B5EF4-FFF2-40B4-BE49-F238E27FC236}">
                <a16:creationId xmlns:a16="http://schemas.microsoft.com/office/drawing/2014/main" id="{6554425A-4837-4400-9CAC-51D9B6C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[01] 澎湃新闻 转引三亚日报  2026-10-08</a:t>
            </a:r>
          </a:p>
        </p:txBody>
      </p:sp>
      <p:sp>
        <p:nvSpPr>
          <p:cNvPr id="14" name="!!s3-page">
            <a:extLst xmlns:a="http://schemas.openxmlformats.org/drawingml/2006/main">
              <a:ext uri="{FF2B5EF4-FFF2-40B4-BE49-F238E27FC236}">
                <a16:creationId xmlns:a16="http://schemas.microsoft.com/office/drawing/2014/main" id="{9B48DC65-94AB-4A1A-96FA-BD33E95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03 / 25</a:t>
            </a:r>
          </a:p>
        </p:txBody>
      </p:sp>
    </p:spTree>
    <p:extLst>
      <p:ext uri="{BB962C8B-B14F-4D97-AF65-F5344CB8AC3E}">
        <p14:creationId xmlns:p14="http://schemas.microsoft.com/office/powerpoint/2010/main" val="1213644301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4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1">
            <a:extLst xmlns:a="http://schemas.openxmlformats.org/drawingml/2006/main">
              <a:ext uri="{FF2B5EF4-FFF2-40B4-BE49-F238E27FC236}">
                <a16:creationId xmlns:a16="http://schemas.microsoft.com/office/drawing/2014/main" id="{BDCE10B3-F93A-4F5C-BA32-B78005E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1">
            <a:extLst xmlns:a="http://schemas.openxmlformats.org/drawingml/2006/main">
              <a:ext uri="{FF2B5EF4-FFF2-40B4-BE49-F238E27FC236}">
                <a16:creationId xmlns:a16="http://schemas.microsoft.com/office/drawing/2014/main" id="{2D093AB6-6874-41D0-AEA7-2DC8D5F61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ec85b09364ccc"/>
          <a:stretch xmlns:a="http://schemas.openxmlformats.org/drawingml/2006/main"/>
        </p:blipFill>
        <p:spPr>
          <a:xfrm xmlns:a="http://schemas.openxmlformats.org/drawingml/2006/main">
            <a:off x="381000" y="2168525"/>
            <a:ext cx="3867150" cy="2578100"/>
          </a:xfrm>
          <a:prstGeom xmlns:a="http://schemas.openxmlformats.org/drawingml/2006/main" prst="rect">
            <a:avLst/>
          </a:prstGeom>
        </p:spPr>
      </p:pic>
      <p:sp>
        <p:nvSpPr>
          <p:cNvPr id="3" name="!!s4-caption">
            <a:extLst xmlns:a="http://schemas.openxmlformats.org/drawingml/2006/main">
              <a:ext uri="{FF2B5EF4-FFF2-40B4-BE49-F238E27FC236}">
                <a16:creationId xmlns:a16="http://schemas.microsoft.com/office/drawing/2014/main" id="{713DBC2F-0621-4A3D-82F1-BFE20A2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4-section">
            <a:extLst xmlns:a="http://schemas.openxmlformats.org/drawingml/2006/main">
              <a:ext uri="{FF2B5EF4-FFF2-40B4-BE49-F238E27FC236}">
                <a16:creationId xmlns:a16="http://schemas.microsoft.com/office/drawing/2014/main" id="{944F8173-20D6-4D69-8C1A-359652C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5" name="!!actor-topic-01">
            <a:extLst xmlns:a="http://schemas.openxmlformats.org/drawingml/2006/main">
              <a:ext uri="{FF2B5EF4-FFF2-40B4-BE49-F238E27FC236}">
                <a16:creationId xmlns:a16="http://schemas.microsoft.com/office/drawing/2014/main" id="{36AD7427-96FB-41A6-A73D-183A6EC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三亚红树林保护区整治</a:t>
            </a:r>
          </a:p>
        </p:txBody>
      </p:sp>
      <p:sp>
        <p:nvSpPr>
          <p:cNvPr id="6" name="!!s4-tag">
            <a:extLst xmlns:a="http://schemas.openxmlformats.org/drawingml/2006/main">
              <a:ext uri="{FF2B5EF4-FFF2-40B4-BE49-F238E27FC236}">
                <a16:creationId xmlns:a16="http://schemas.microsoft.com/office/drawing/2014/main" id="{D70B5179-3CC1-4310-848F-D6EADAE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4-question">
            <a:extLst xmlns:a="http://schemas.openxmlformats.org/drawingml/2006/main">
              <a:ext uri="{FF2B5EF4-FFF2-40B4-BE49-F238E27FC236}">
                <a16:creationId xmlns:a16="http://schemas.microsoft.com/office/drawing/2014/main" id="{2E8EA844-97D0-46D5-A8D9-20AC06E5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生态旅游的边界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由什么决定？</a:t>
            </a:r>
          </a:p>
        </p:txBody>
      </p:sp>
      <p:sp>
        <p:nvSpPr>
          <p:cNvPr id="8" name="!!s4-rule">
            <a:extLst xmlns:a="http://schemas.openxmlformats.org/drawingml/2006/main">
              <a:ext uri="{FF2B5EF4-FFF2-40B4-BE49-F238E27FC236}">
                <a16:creationId xmlns:a16="http://schemas.microsoft.com/office/drawing/2014/main" id="{E197FF2A-0CB4-40D4-8DEA-C542208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4-analysis-0">
            <a:extLst xmlns:a="http://schemas.openxmlformats.org/drawingml/2006/main">
              <a:ext uri="{FF2B5EF4-FFF2-40B4-BE49-F238E27FC236}">
                <a16:creationId xmlns:a16="http://schemas.microsoft.com/office/drawing/2014/main" id="{FD505761-ADA0-45E7-A34A-FFEF20A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保护区功能与活动许可决定经营边界</a:t>
            </a:r>
          </a:p>
        </p:txBody>
      </p:sp>
      <p:sp>
        <p:nvSpPr>
          <p:cNvPr id="10" name="!!s4-analysis-1">
            <a:extLst xmlns:a="http://schemas.openxmlformats.org/drawingml/2006/main">
              <a:ext uri="{FF2B5EF4-FFF2-40B4-BE49-F238E27FC236}">
                <a16:creationId xmlns:a16="http://schemas.microsoft.com/office/drawing/2014/main" id="{431148C2-5E0B-47FB-A56D-E38DD99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经营者接受调查，责任仍须依法认定</a:t>
            </a:r>
          </a:p>
        </p:txBody>
      </p:sp>
      <p:sp>
        <p:nvSpPr>
          <p:cNvPr id="11" name="!!s4-analysis-2">
            <a:extLst xmlns:a="http://schemas.openxmlformats.org/drawingml/2006/main">
              <a:ext uri="{FF2B5EF4-FFF2-40B4-BE49-F238E27FC236}">
                <a16:creationId xmlns:a16="http://schemas.microsoft.com/office/drawing/2014/main" id="{5C8A44C7-384C-4E78-A348-965C6A3D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修复成效需要跟踪，执法也需常态化</a:t>
            </a:r>
          </a:p>
        </p:txBody>
      </p:sp>
      <p:sp>
        <p:nvSpPr>
          <p:cNvPr id="12" name="!!s4-footer">
            <a:extLst xmlns:a="http://schemas.openxmlformats.org/drawingml/2006/main">
              <a:ext uri="{FF2B5EF4-FFF2-40B4-BE49-F238E27FC236}">
                <a16:creationId xmlns:a16="http://schemas.microsoft.com/office/drawing/2014/main" id="{946F0AE9-3A20-4E29-8210-58764BF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4-footer-paper">
            <a:extLst xmlns:a="http://schemas.openxmlformats.org/drawingml/2006/main">
              <a:ext uri="{FF2B5EF4-FFF2-40B4-BE49-F238E27FC236}">
                <a16:creationId xmlns:a16="http://schemas.microsoft.com/office/drawing/2014/main" id="{D0BBF8E5-6A53-4C0D-B753-84CE10B5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4-page-paper">
            <a:extLst xmlns:a="http://schemas.openxmlformats.org/drawingml/2006/main">
              <a:ext uri="{FF2B5EF4-FFF2-40B4-BE49-F238E27FC236}">
                <a16:creationId xmlns:a16="http://schemas.microsoft.com/office/drawing/2014/main" id="{61114C11-1CAB-4B29-94B2-57F4B68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04 / 25</a:t>
            </a:r>
          </a:p>
        </p:txBody>
      </p:sp>
    </p:spTree>
    <p:extLst>
      <p:ext uri="{BB962C8B-B14F-4D97-AF65-F5344CB8AC3E}">
        <p14:creationId xmlns:p14="http://schemas.microsoft.com/office/powerpoint/2010/main" val="838287782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2">
            <a:extLst xmlns:a="http://schemas.openxmlformats.org/drawingml/2006/main">
              <a:ext uri="{FF2B5EF4-FFF2-40B4-BE49-F238E27FC236}">
                <a16:creationId xmlns:a16="http://schemas.microsoft.com/office/drawing/2014/main" id="{C02D3FEF-3EA9-415A-A16B-DA9F78A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2">
            <a:extLst xmlns:a="http://schemas.openxmlformats.org/drawingml/2006/main">
              <a:ext uri="{FF2B5EF4-FFF2-40B4-BE49-F238E27FC236}">
                <a16:creationId xmlns:a16="http://schemas.microsoft.com/office/drawing/2014/main" id="{CFCAC952-8EDE-4FC5-88C7-8D63D69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连江无居民海岛保护</a:t>
            </a:r>
          </a:p>
        </p:txBody>
      </p:sp>
      <p:sp>
        <p:nvSpPr>
          <p:cNvPr id="3" name="!!s5-date">
            <a:extLst xmlns:a="http://schemas.openxmlformats.org/drawingml/2006/main">
              <a:ext uri="{FF2B5EF4-FFF2-40B4-BE49-F238E27FC236}">
                <a16:creationId xmlns:a16="http://schemas.microsoft.com/office/drawing/2014/main" id="{FCE34858-C683-49E4-BB53-7917C333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02</a:t>
            </a:r>
          </a:p>
        </p:txBody>
      </p:sp>
      <p:sp>
        <p:nvSpPr>
          <p:cNvPr id="4" name="!!s5-title">
            <a:extLst xmlns:a="http://schemas.openxmlformats.org/drawingml/2006/main">
              <a:ext uri="{FF2B5EF4-FFF2-40B4-BE49-F238E27FC236}">
                <a16:creationId xmlns:a16="http://schemas.microsoft.com/office/drawing/2014/main" id="{BF6DFE7B-E4F4-4E79-96F2-DEE1D48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无人定居的海岛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也有监管责任</a:t>
            </a:r>
          </a:p>
        </p:txBody>
      </p:sp>
      <p:sp>
        <p:nvSpPr>
          <p:cNvPr id="5" name="!!s5-metric">
            <a:extLst xmlns:a="http://schemas.openxmlformats.org/drawingml/2006/main">
              <a:ext uri="{FF2B5EF4-FFF2-40B4-BE49-F238E27FC236}">
                <a16:creationId xmlns:a16="http://schemas.microsoft.com/office/drawing/2014/main" id="{A130B844-095C-4BD9-B696-983CE9E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211座</a:t>
            </a:r>
          </a:p>
        </p:txBody>
      </p:sp>
      <p:sp>
        <p:nvSpPr>
          <p:cNvPr id="6" name="!!s5-label">
            <a:extLst xmlns:a="http://schemas.openxmlformats.org/drawingml/2006/main">
              <a:ext uri="{FF2B5EF4-FFF2-40B4-BE49-F238E27FC236}">
                <a16:creationId xmlns:a16="http://schemas.microsoft.com/office/drawing/2014/main" id="{EBC960D5-53E4-49DF-84B0-250543D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连江县无居民海岛</a:t>
            </a:r>
          </a:p>
        </p:txBody>
      </p:sp>
      <p:sp>
        <p:nvSpPr>
          <p:cNvPr id="7" name="!!s5-fact-0">
            <a:extLst xmlns:a="http://schemas.openxmlformats.org/drawingml/2006/main">
              <a:ext uri="{FF2B5EF4-FFF2-40B4-BE49-F238E27FC236}">
                <a16:creationId xmlns:a16="http://schemas.microsoft.com/office/drawing/2014/main" id="{CB541384-CB4A-4CE8-A11D-702882D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本周报道介绍检察机关推动海岛保护协作机制</a:t>
            </a:r>
          </a:p>
        </p:txBody>
      </p:sp>
      <p:sp>
        <p:nvSpPr>
          <p:cNvPr id="8" name="!!s5-fact-1">
            <a:extLst xmlns:a="http://schemas.openxmlformats.org/drawingml/2006/main">
              <a:ext uri="{FF2B5EF4-FFF2-40B4-BE49-F238E27FC236}">
                <a16:creationId xmlns:a16="http://schemas.microsoft.com/office/drawing/2014/main" id="{693CF16A-5082-4FC8-B172-AEA923F2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无人机巡查与实地勘察发现违建及保护短板</a:t>
            </a:r>
          </a:p>
        </p:txBody>
      </p:sp>
      <p:sp>
        <p:nvSpPr>
          <p:cNvPr id="9" name="!!s5-fact-2">
            <a:extLst xmlns:a="http://schemas.openxmlformats.org/drawingml/2006/main">
              <a:ext uri="{FF2B5EF4-FFF2-40B4-BE49-F238E27FC236}">
                <a16:creationId xmlns:a16="http://schemas.microsoft.com/office/drawing/2014/main" id="{F289309B-46E6-4F5B-894F-1390B0A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检察建议、联合巡岛和整改回访形成监督闭环</a:t>
            </a:r>
          </a:p>
        </p:txBody>
      </p:sp>
      <p:pic>
        <p:nvPicPr>
          <p:cNvPr id="10" name="!!actor-photo-02">
            <a:extLst xmlns:a="http://schemas.openxmlformats.org/drawingml/2006/main">
              <a:ext uri="{FF2B5EF4-FFF2-40B4-BE49-F238E27FC236}">
                <a16:creationId xmlns:a16="http://schemas.microsoft.com/office/drawing/2014/main" id="{1EAB4E97-AE73-4B5A-B4C4-B9F1E8994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0d4c696244709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5-caption">
            <a:extLst xmlns:a="http://schemas.openxmlformats.org/drawingml/2006/main">
              <a:ext uri="{FF2B5EF4-FFF2-40B4-BE49-F238E27FC236}">
                <a16:creationId xmlns:a16="http://schemas.microsoft.com/office/drawing/2014/main" id="{3D5F8F82-ACB2-4A27-8587-45D2EB3A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5-section">
            <a:extLst xmlns:a="http://schemas.openxmlformats.org/drawingml/2006/main">
              <a:ext uri="{FF2B5EF4-FFF2-40B4-BE49-F238E27FC236}">
                <a16:creationId xmlns:a16="http://schemas.microsoft.com/office/drawing/2014/main" id="{75375693-A9A0-4C7C-AB4A-88CD316A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3" name="!!s5-footer">
            <a:extLst xmlns:a="http://schemas.openxmlformats.org/drawingml/2006/main">
              <a:ext uri="{FF2B5EF4-FFF2-40B4-BE49-F238E27FC236}">
                <a16:creationId xmlns:a16="http://schemas.microsoft.com/office/drawing/2014/main" id="{5C89423F-93C1-4E26-8E3C-6FA4376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[02] 福州新闻网  2026-10-09</a:t>
            </a:r>
          </a:p>
        </p:txBody>
      </p:sp>
      <p:sp>
        <p:nvSpPr>
          <p:cNvPr id="14" name="!!s5-page">
            <a:extLst xmlns:a="http://schemas.openxmlformats.org/drawingml/2006/main">
              <a:ext uri="{FF2B5EF4-FFF2-40B4-BE49-F238E27FC236}">
                <a16:creationId xmlns:a16="http://schemas.microsoft.com/office/drawing/2014/main" id="{6ABA1858-033C-4234-8E75-F725095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05 / 25</a:t>
            </a:r>
          </a:p>
        </p:txBody>
      </p:sp>
    </p:spTree>
    <p:extLst>
      <p:ext uri="{BB962C8B-B14F-4D97-AF65-F5344CB8AC3E}">
        <p14:creationId xmlns:p14="http://schemas.microsoft.com/office/powerpoint/2010/main" val="116027480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6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2">
            <a:extLst xmlns:a="http://schemas.openxmlformats.org/drawingml/2006/main">
              <a:ext uri="{FF2B5EF4-FFF2-40B4-BE49-F238E27FC236}">
                <a16:creationId xmlns:a16="http://schemas.microsoft.com/office/drawing/2014/main" id="{507D0C3D-EF27-422B-840A-B7E2A0E7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2">
            <a:extLst xmlns:a="http://schemas.openxmlformats.org/drawingml/2006/main">
              <a:ext uri="{FF2B5EF4-FFF2-40B4-BE49-F238E27FC236}">
                <a16:creationId xmlns:a16="http://schemas.microsoft.com/office/drawing/2014/main" id="{928FF540-D2C1-47E3-BADE-27EB6B6B2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71f1f0635493d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6-caption">
            <a:extLst xmlns:a="http://schemas.openxmlformats.org/drawingml/2006/main">
              <a:ext uri="{FF2B5EF4-FFF2-40B4-BE49-F238E27FC236}">
                <a16:creationId xmlns:a16="http://schemas.microsoft.com/office/drawing/2014/main" id="{561D279E-0D05-4EEC-B565-C96B13D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6-section">
            <a:extLst xmlns:a="http://schemas.openxmlformats.org/drawingml/2006/main">
              <a:ext uri="{FF2B5EF4-FFF2-40B4-BE49-F238E27FC236}">
                <a16:creationId xmlns:a16="http://schemas.microsoft.com/office/drawing/2014/main" id="{989A9F7E-BC27-4155-A401-977CFA1E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5" name="!!actor-topic-02">
            <a:extLst xmlns:a="http://schemas.openxmlformats.org/drawingml/2006/main">
              <a:ext uri="{FF2B5EF4-FFF2-40B4-BE49-F238E27FC236}">
                <a16:creationId xmlns:a16="http://schemas.microsoft.com/office/drawing/2014/main" id="{9FFBCAD7-8575-4795-A98E-740C9EA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连江无居民海岛保护</a:t>
            </a:r>
          </a:p>
        </p:txBody>
      </p:sp>
      <p:sp>
        <p:nvSpPr>
          <p:cNvPr id="6" name="!!s6-tag">
            <a:extLst xmlns:a="http://schemas.openxmlformats.org/drawingml/2006/main">
              <a:ext uri="{FF2B5EF4-FFF2-40B4-BE49-F238E27FC236}">
                <a16:creationId xmlns:a16="http://schemas.microsoft.com/office/drawing/2014/main" id="{AC48101E-ED2E-4DB3-A68F-F4BADE99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6-question">
            <a:extLst xmlns:a="http://schemas.openxmlformats.org/drawingml/2006/main">
              <a:ext uri="{FF2B5EF4-FFF2-40B4-BE49-F238E27FC236}">
                <a16:creationId xmlns:a16="http://schemas.microsoft.com/office/drawing/2014/main" id="{FFD6ABCB-7DF5-4938-9741-DDFD55B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无人居住的海岛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谁来守护？</a:t>
            </a:r>
          </a:p>
        </p:txBody>
      </p:sp>
      <p:sp>
        <p:nvSpPr>
          <p:cNvPr id="8" name="!!s6-rule">
            <a:extLst xmlns:a="http://schemas.openxmlformats.org/drawingml/2006/main">
              <a:ext uri="{FF2B5EF4-FFF2-40B4-BE49-F238E27FC236}">
                <a16:creationId xmlns:a16="http://schemas.microsoft.com/office/drawing/2014/main" id="{6AB8F46F-3D76-4E65-95A6-DD818CB6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6-analysis-0">
            <a:extLst xmlns:a="http://schemas.openxmlformats.org/drawingml/2006/main">
              <a:ext uri="{FF2B5EF4-FFF2-40B4-BE49-F238E27FC236}">
                <a16:creationId xmlns:a16="http://schemas.microsoft.com/office/drawing/2014/main" id="{4273ACF7-325F-40BB-94E4-722A868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无居民海岛的利用仍需符合保护与审批规则</a:t>
            </a:r>
          </a:p>
        </p:txBody>
      </p:sp>
      <p:sp>
        <p:nvSpPr>
          <p:cNvPr id="10" name="!!s6-analysis-1">
            <a:extLst xmlns:a="http://schemas.openxmlformats.org/drawingml/2006/main">
              <a:ext uri="{FF2B5EF4-FFF2-40B4-BE49-F238E27FC236}">
                <a16:creationId xmlns:a16="http://schemas.microsoft.com/office/drawing/2014/main" id="{58250DF6-15E9-4FBD-A023-5B16F35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公益诉讼监督推动行政机关依法履职</a:t>
            </a:r>
          </a:p>
        </p:txBody>
      </p:sp>
      <p:sp>
        <p:nvSpPr>
          <p:cNvPr id="11" name="!!s6-analysis-2">
            <a:extLst xmlns:a="http://schemas.openxmlformats.org/drawingml/2006/main">
              <a:ext uri="{FF2B5EF4-FFF2-40B4-BE49-F238E27FC236}">
                <a16:creationId xmlns:a16="http://schemas.microsoft.com/office/drawing/2014/main" id="{A6D132CE-3319-4DE6-9367-F0992A4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部门协作应落实到移送、处置和回访</a:t>
            </a:r>
          </a:p>
        </p:txBody>
      </p:sp>
      <p:sp>
        <p:nvSpPr>
          <p:cNvPr id="12" name="!!s6-footer">
            <a:extLst xmlns:a="http://schemas.openxmlformats.org/drawingml/2006/main">
              <a:ext uri="{FF2B5EF4-FFF2-40B4-BE49-F238E27FC236}">
                <a16:creationId xmlns:a16="http://schemas.microsoft.com/office/drawing/2014/main" id="{7289C1CA-EF9C-40F6-8BEE-17651D5C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6-footer-paper">
            <a:extLst xmlns:a="http://schemas.openxmlformats.org/drawingml/2006/main">
              <a:ext uri="{FF2B5EF4-FFF2-40B4-BE49-F238E27FC236}">
                <a16:creationId xmlns:a16="http://schemas.microsoft.com/office/drawing/2014/main" id="{8497A6C4-56D0-4ECC-8DDA-E1916CDF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6-page-paper">
            <a:extLst xmlns:a="http://schemas.openxmlformats.org/drawingml/2006/main">
              <a:ext uri="{FF2B5EF4-FFF2-40B4-BE49-F238E27FC236}">
                <a16:creationId xmlns:a16="http://schemas.microsoft.com/office/drawing/2014/main" id="{CA0EF812-1A41-446D-A190-5454E64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06 / 25</a:t>
            </a:r>
          </a:p>
        </p:txBody>
      </p:sp>
    </p:spTree>
    <p:extLst>
      <p:ext uri="{BB962C8B-B14F-4D97-AF65-F5344CB8AC3E}">
        <p14:creationId xmlns:p14="http://schemas.microsoft.com/office/powerpoint/2010/main" val="1845602100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7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3">
            <a:extLst xmlns:a="http://schemas.openxmlformats.org/drawingml/2006/main">
              <a:ext uri="{FF2B5EF4-FFF2-40B4-BE49-F238E27FC236}">
                <a16:creationId xmlns:a16="http://schemas.microsoft.com/office/drawing/2014/main" id="{4598EA7F-F1B9-489E-8F43-40EF0358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!!actor-topic-03">
            <a:extLst xmlns:a="http://schemas.openxmlformats.org/drawingml/2006/main">
              <a:ext uri="{FF2B5EF4-FFF2-40B4-BE49-F238E27FC236}">
                <a16:creationId xmlns:a16="http://schemas.microsoft.com/office/drawing/2014/main" id="{C59477C8-E4AC-472E-A9D1-96612CB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宁德海洋生态修复</a:t>
            </a:r>
          </a:p>
        </p:txBody>
      </p:sp>
      <p:sp>
        <p:nvSpPr>
          <p:cNvPr id="3" name="!!s7-date">
            <a:extLst xmlns:a="http://schemas.openxmlformats.org/drawingml/2006/main">
              <a:ext uri="{FF2B5EF4-FFF2-40B4-BE49-F238E27FC236}">
                <a16:creationId xmlns:a16="http://schemas.microsoft.com/office/drawing/2014/main" id="{A119F107-6849-4C4E-8C1C-E7792F04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2026-10-10   演讲者 03</a:t>
            </a:r>
          </a:p>
        </p:txBody>
      </p:sp>
      <p:sp>
        <p:nvSpPr>
          <p:cNvPr id="4" name="!!s7-title">
            <a:extLst xmlns:a="http://schemas.openxmlformats.org/drawingml/2006/main">
              <a:ext uri="{FF2B5EF4-FFF2-40B4-BE49-F238E27FC236}">
                <a16:creationId xmlns:a16="http://schemas.microsoft.com/office/drawing/2014/main" id="{9B330426-1146-44FF-A51F-30F0D3B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青岐湾启动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红树林种植</a:t>
            </a:r>
          </a:p>
        </p:txBody>
      </p:sp>
      <p:sp>
        <p:nvSpPr>
          <p:cNvPr id="5" name="!!s7-metric">
            <a:extLst xmlns:a="http://schemas.openxmlformats.org/drawingml/2006/main">
              <a:ext uri="{FF2B5EF4-FFF2-40B4-BE49-F238E27FC236}">
                <a16:creationId xmlns:a16="http://schemas.microsoft.com/office/drawing/2014/main" id="{9C505263-CC39-43A2-9641-123B5FD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58.14公顷</a:t>
            </a:r>
          </a:p>
        </p:txBody>
      </p:sp>
      <p:sp>
        <p:nvSpPr>
          <p:cNvPr id="6" name="!!s7-label">
            <a:extLst xmlns:a="http://schemas.openxmlformats.org/drawingml/2006/main">
              <a:ext uri="{FF2B5EF4-FFF2-40B4-BE49-F238E27FC236}">
                <a16:creationId xmlns:a16="http://schemas.microsoft.com/office/drawing/2014/main" id="{93D55DCF-4E23-46D1-A2ED-92A7703E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项目设计营造红树林面积</a:t>
            </a:r>
          </a:p>
        </p:txBody>
      </p:sp>
      <p:sp>
        <p:nvSpPr>
          <p:cNvPr id="7" name="!!s7-fact-0">
            <a:extLst xmlns:a="http://schemas.openxmlformats.org/drawingml/2006/main">
              <a:ext uri="{FF2B5EF4-FFF2-40B4-BE49-F238E27FC236}">
                <a16:creationId xmlns:a16="http://schemas.microsoft.com/office/drawing/2014/main" id="{A2BD34AD-4792-482A-9363-6A4A624B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宁德海洋生态保护修复项目近日启动种植施工</a:t>
            </a:r>
          </a:p>
        </p:txBody>
      </p:sp>
      <p:sp>
        <p:nvSpPr>
          <p:cNvPr id="8" name="!!s7-fact-1">
            <a:extLst xmlns:a="http://schemas.openxmlformats.org/drawingml/2006/main">
              <a:ext uri="{FF2B5EF4-FFF2-40B4-BE49-F238E27FC236}">
                <a16:creationId xmlns:a16="http://schemas.microsoft.com/office/drawing/2014/main" id="{81DFB1D6-1949-4819-A3C3-4B782F56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设计还包含盐沼、鸟类调节区与岸线修复</a:t>
            </a:r>
          </a:p>
        </p:txBody>
      </p:sp>
      <p:sp>
        <p:nvSpPr>
          <p:cNvPr id="9" name="!!s7-fact-2">
            <a:extLst xmlns:a="http://schemas.openxmlformats.org/drawingml/2006/main">
              <a:ext uri="{FF2B5EF4-FFF2-40B4-BE49-F238E27FC236}">
                <a16:creationId xmlns:a16="http://schemas.microsoft.com/office/drawing/2014/main" id="{8AD49A52-10EA-4597-9BEB-0145F4C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微地形改造、潮沟疏浚与种植同步推进</a:t>
            </a:r>
          </a:p>
        </p:txBody>
      </p:sp>
      <p:pic>
        <p:nvPicPr>
          <p:cNvPr id="10" name="!!actor-photo-03">
            <a:extLst xmlns:a="http://schemas.openxmlformats.org/drawingml/2006/main">
              <a:ext uri="{FF2B5EF4-FFF2-40B4-BE49-F238E27FC236}">
                <a16:creationId xmlns:a16="http://schemas.microsoft.com/office/drawing/2014/main" id="{AF220240-3D2E-47D7-A092-C889E7B76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de6e2a4804f7c"/>
          <a:stretch xmlns:a="http://schemas.openxmlformats.org/drawingml/2006/main"/>
        </p:blipFill>
        <p:spPr>
          <a:xfrm xmlns:a="http://schemas.openxmlformats.org/drawingml/2006/main">
            <a:off x="7697046" y="1676400"/>
            <a:ext cx="4113109" cy="3257550"/>
          </a:xfrm>
          <a:prstGeom xmlns:a="http://schemas.openxmlformats.org/drawingml/2006/main" prst="rect">
            <a:avLst/>
          </a:prstGeom>
        </p:spPr>
      </p:pic>
      <p:sp>
        <p:nvSpPr>
          <p:cNvPr id="11" name="!!s7-caption">
            <a:extLst xmlns:a="http://schemas.openxmlformats.org/drawingml/2006/main">
              <a:ext uri="{FF2B5EF4-FFF2-40B4-BE49-F238E27FC236}">
                <a16:creationId xmlns:a16="http://schemas.microsoft.com/office/drawing/2014/main" id="{EE0B600A-F789-4A87-8351-256EA3EF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项目效果图  原报道配图</a:t>
            </a:r>
          </a:p>
        </p:txBody>
      </p:sp>
      <p:sp>
        <p:nvSpPr>
          <p:cNvPr id="12" name="!!s7-section">
            <a:extLst xmlns:a="http://schemas.openxmlformats.org/drawingml/2006/main">
              <a:ext uri="{FF2B5EF4-FFF2-40B4-BE49-F238E27FC236}">
                <a16:creationId xmlns:a16="http://schemas.microsoft.com/office/drawing/2014/main" id="{EFE3189E-C069-45C5-8CB6-9307F403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3" name="!!s7-footer">
            <a:extLst xmlns:a="http://schemas.openxmlformats.org/drawingml/2006/main">
              <a:ext uri="{FF2B5EF4-FFF2-40B4-BE49-F238E27FC236}">
                <a16:creationId xmlns:a16="http://schemas.microsoft.com/office/drawing/2014/main" id="{05810400-5975-4E5B-8533-5129220F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[03] 中国水运网 新浪财经转载  2026-10-10</a:t>
            </a:r>
          </a:p>
        </p:txBody>
      </p:sp>
      <p:sp>
        <p:nvSpPr>
          <p:cNvPr id="14" name="!!s7-page">
            <a:extLst xmlns:a="http://schemas.openxmlformats.org/drawingml/2006/main">
              <a:ext uri="{FF2B5EF4-FFF2-40B4-BE49-F238E27FC236}">
                <a16:creationId xmlns:a16="http://schemas.microsoft.com/office/drawing/2014/main" id="{604A962B-690C-4605-91E7-17B571C3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07 / 25</a:t>
            </a:r>
          </a:p>
        </p:txBody>
      </p:sp>
    </p:spTree>
    <p:extLst>
      <p:ext uri="{BB962C8B-B14F-4D97-AF65-F5344CB8AC3E}">
        <p14:creationId xmlns:p14="http://schemas.microsoft.com/office/powerpoint/2010/main" val="226626125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8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3">
            <a:extLst xmlns:a="http://schemas.openxmlformats.org/drawingml/2006/main">
              <a:ext uri="{FF2B5EF4-FFF2-40B4-BE49-F238E27FC236}">
                <a16:creationId xmlns:a16="http://schemas.microsoft.com/office/drawing/2014/main" id="{AFEAFAF7-B239-4E66-8356-08A609E1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pic>
        <p:nvPicPr>
          <p:cNvPr id="2" name="!!actor-photo-03">
            <a:extLst xmlns:a="http://schemas.openxmlformats.org/drawingml/2006/main">
              <a:ext uri="{FF2B5EF4-FFF2-40B4-BE49-F238E27FC236}">
                <a16:creationId xmlns:a16="http://schemas.microsoft.com/office/drawing/2014/main" id="{D97482B3-FAC6-4B6E-B9D3-73BD6AFE5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f5ec70ab84fe0"/>
          <a:stretch xmlns:a="http://schemas.openxmlformats.org/drawingml/2006/main"/>
        </p:blipFill>
        <p:spPr>
          <a:xfrm xmlns:a="http://schemas.openxmlformats.org/drawingml/2006/main">
            <a:off x="462473" y="1990725"/>
            <a:ext cx="3704203" cy="2933700"/>
          </a:xfrm>
          <a:prstGeom xmlns:a="http://schemas.openxmlformats.org/drawingml/2006/main" prst="rect">
            <a:avLst/>
          </a:prstGeom>
        </p:spPr>
      </p:pic>
      <p:sp>
        <p:nvSpPr>
          <p:cNvPr id="3" name="!!s8-caption">
            <a:extLst xmlns:a="http://schemas.openxmlformats.org/drawingml/2006/main">
              <a:ext uri="{FF2B5EF4-FFF2-40B4-BE49-F238E27FC236}">
                <a16:creationId xmlns:a16="http://schemas.microsoft.com/office/drawing/2014/main" id="{A5AB2C35-924F-4651-9588-C18E4B6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项目效果图  原报道配图</a:t>
            </a:r>
          </a:p>
        </p:txBody>
      </p:sp>
      <p:sp>
        <p:nvSpPr>
          <p:cNvPr id="4" name="!!s8-section">
            <a:extLst xmlns:a="http://schemas.openxmlformats.org/drawingml/2006/main">
              <a:ext uri="{FF2B5EF4-FFF2-40B4-BE49-F238E27FC236}">
                <a16:creationId xmlns:a16="http://schemas.microsoft.com/office/drawing/2014/main" id="{0093B2AF-7DFE-4256-8049-67F8F87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5" name="!!actor-topic-03">
            <a:extLst xmlns:a="http://schemas.openxmlformats.org/drawingml/2006/main">
              <a:ext uri="{FF2B5EF4-FFF2-40B4-BE49-F238E27FC236}">
                <a16:creationId xmlns:a16="http://schemas.microsoft.com/office/drawing/2014/main" id="{4561395D-EAF0-415E-AC27-24811FCE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宁德海洋生态修复</a:t>
            </a:r>
          </a:p>
        </p:txBody>
      </p:sp>
      <p:sp>
        <p:nvSpPr>
          <p:cNvPr id="6" name="!!s8-tag">
            <a:extLst xmlns:a="http://schemas.openxmlformats.org/drawingml/2006/main">
              <a:ext uri="{FF2B5EF4-FFF2-40B4-BE49-F238E27FC236}">
                <a16:creationId xmlns:a16="http://schemas.microsoft.com/office/drawing/2014/main" id="{C13A42B1-6DB7-4DCB-9924-AC90083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8-question">
            <a:extLst xmlns:a="http://schemas.openxmlformats.org/drawingml/2006/main">
              <a:ext uri="{FF2B5EF4-FFF2-40B4-BE49-F238E27FC236}">
                <a16:creationId xmlns:a16="http://schemas.microsoft.com/office/drawing/2014/main" id="{ECA340A7-D2CF-415F-85F5-377FC68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种下幼苗之后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怎样证明修复有效？</a:t>
            </a:r>
          </a:p>
        </p:txBody>
      </p:sp>
      <p:sp>
        <p:nvSpPr>
          <p:cNvPr id="8" name="!!s8-rule">
            <a:extLst xmlns:a="http://schemas.openxmlformats.org/drawingml/2006/main">
              <a:ext uri="{FF2B5EF4-FFF2-40B4-BE49-F238E27FC236}">
                <a16:creationId xmlns:a16="http://schemas.microsoft.com/office/drawing/2014/main" id="{A08439F0-6A85-40BF-8456-B92C224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8-analysis-0">
            <a:extLst xmlns:a="http://schemas.openxmlformats.org/drawingml/2006/main">
              <a:ext uri="{FF2B5EF4-FFF2-40B4-BE49-F238E27FC236}">
                <a16:creationId xmlns:a16="http://schemas.microsoft.com/office/drawing/2014/main" id="{0EFAADEF-91B0-47B5-B29E-E4B82181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设计面积与实际完成面积需分别核验</a:t>
            </a:r>
          </a:p>
        </p:txBody>
      </p:sp>
      <p:sp>
        <p:nvSpPr>
          <p:cNvPr id="10" name="!!s8-analysis-1">
            <a:extLst xmlns:a="http://schemas.openxmlformats.org/drawingml/2006/main">
              <a:ext uri="{FF2B5EF4-FFF2-40B4-BE49-F238E27FC236}">
                <a16:creationId xmlns:a16="http://schemas.microsoft.com/office/drawing/2014/main" id="{6CB36D5C-25BE-43E1-BD60-B932C0E5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潮汐循环与生境质量影响长期修复效果</a:t>
            </a:r>
          </a:p>
        </p:txBody>
      </p:sp>
      <p:sp>
        <p:nvSpPr>
          <p:cNvPr id="11" name="!!s8-analysis-2">
            <a:extLst xmlns:a="http://schemas.openxmlformats.org/drawingml/2006/main">
              <a:ext uri="{FF2B5EF4-FFF2-40B4-BE49-F238E27FC236}">
                <a16:creationId xmlns:a16="http://schemas.microsoft.com/office/drawing/2014/main" id="{CFEBA45E-DB34-4C4F-833D-FC41D849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验收与后续监测需要明确可测的指标</a:t>
            </a:r>
          </a:p>
        </p:txBody>
      </p:sp>
      <p:sp>
        <p:nvSpPr>
          <p:cNvPr id="12" name="!!s8-footer">
            <a:extLst xmlns:a="http://schemas.openxmlformats.org/drawingml/2006/main">
              <a:ext uri="{FF2B5EF4-FFF2-40B4-BE49-F238E27FC236}">
                <a16:creationId xmlns:a16="http://schemas.microsoft.com/office/drawing/2014/main" id="{4BB5C64C-4D0E-4626-A35A-AD9480E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8-footer-paper">
            <a:extLst xmlns:a="http://schemas.openxmlformats.org/drawingml/2006/main">
              <a:ext uri="{FF2B5EF4-FFF2-40B4-BE49-F238E27FC236}">
                <a16:creationId xmlns:a16="http://schemas.microsoft.com/office/drawing/2014/main" id="{B580A59F-10DD-4F37-8579-16ACDA4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8-page-paper">
            <a:extLst xmlns:a="http://schemas.openxmlformats.org/drawingml/2006/main">
              <a:ext uri="{FF2B5EF4-FFF2-40B4-BE49-F238E27FC236}">
                <a16:creationId xmlns:a16="http://schemas.microsoft.com/office/drawing/2014/main" id="{73104B43-6EB3-4E23-8E82-89280AB7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08 / 25</a:t>
            </a:r>
          </a:p>
        </p:txBody>
      </p:sp>
    </p:spTree>
    <p:extLst>
      <p:ext uri="{BB962C8B-B14F-4D97-AF65-F5344CB8AC3E}">
        <p14:creationId xmlns:p14="http://schemas.microsoft.com/office/powerpoint/2010/main" val="1606457207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4">
            <a:extLst xmlns:a="http://schemas.openxmlformats.org/drawingml/2006/main">
              <a:ext uri="{FF2B5EF4-FFF2-40B4-BE49-F238E27FC236}">
                <a16:creationId xmlns:a16="http://schemas.microsoft.com/office/drawing/2014/main" id="{B29FDB59-9AC2-4286-AE72-0D926DC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4">
            <a:extLst xmlns:a="http://schemas.openxmlformats.org/drawingml/2006/main">
              <a:ext uri="{FF2B5EF4-FFF2-40B4-BE49-F238E27FC236}">
                <a16:creationId xmlns:a16="http://schemas.microsoft.com/office/drawing/2014/main" id="{F3AB8FA9-4D5C-4185-97A8-7A468C0E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天津固体散装货物监管</a:t>
            </a:r>
          </a:p>
        </p:txBody>
      </p:sp>
      <p:sp>
        <p:nvSpPr>
          <p:cNvPr id="3" name="!!s9-date">
            <a:extLst xmlns:a="http://schemas.openxmlformats.org/drawingml/2006/main">
              <a:ext uri="{FF2B5EF4-FFF2-40B4-BE49-F238E27FC236}">
                <a16:creationId xmlns:a16="http://schemas.microsoft.com/office/drawing/2014/main" id="{22D72B47-2391-48CA-BFEF-6D0FFD3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2026-10-07   演讲者 04</a:t>
            </a:r>
          </a:p>
        </p:txBody>
      </p:sp>
      <p:sp>
        <p:nvSpPr>
          <p:cNvPr id="4" name="!!s9-title">
            <a:extLst xmlns:a="http://schemas.openxmlformats.org/drawingml/2006/main">
              <a:ext uri="{FF2B5EF4-FFF2-40B4-BE49-F238E27FC236}">
                <a16:creationId xmlns:a16="http://schemas.microsoft.com/office/drawing/2014/main" id="{3F6622F7-C031-438C-86D0-BC7B3EDA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散装货物的水分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也影响航行安全</a:t>
            </a:r>
          </a:p>
        </p:txBody>
      </p:sp>
      <p:sp>
        <p:nvSpPr>
          <p:cNvPr id="5" name="!!s9-metric">
            <a:extLst xmlns:a="http://schemas.openxmlformats.org/drawingml/2006/main">
              <a:ext uri="{FF2B5EF4-FFF2-40B4-BE49-F238E27FC236}">
                <a16:creationId xmlns:a16="http://schemas.microsoft.com/office/drawing/2014/main" id="{A43233FE-709C-42B9-BD60-3A07884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A组</a:t>
            </a:r>
          </a:p>
        </p:txBody>
      </p:sp>
      <p:sp>
        <p:nvSpPr>
          <p:cNvPr id="6" name="!!s9-label">
            <a:extLst xmlns:a="http://schemas.openxmlformats.org/drawingml/2006/main">
              <a:ext uri="{FF2B5EF4-FFF2-40B4-BE49-F238E27FC236}">
                <a16:creationId xmlns:a16="http://schemas.microsoft.com/office/drawing/2014/main" id="{5D143705-A63A-4D05-B171-4F7DFCF4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须重点核查水分风险的固体散货</a:t>
            </a:r>
          </a:p>
        </p:txBody>
      </p:sp>
      <p:sp>
        <p:nvSpPr>
          <p:cNvPr id="7" name="!!s9-fact-0">
            <a:extLst xmlns:a="http://schemas.openxmlformats.org/drawingml/2006/main">
              <a:ext uri="{FF2B5EF4-FFF2-40B4-BE49-F238E27FC236}">
                <a16:creationId xmlns:a16="http://schemas.microsoft.com/office/drawing/2014/main" id="{E78D5B35-2172-49F9-9E04-D33A9F4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天津海事局部署国庆假期固体散货全链条监管</a:t>
            </a:r>
          </a:p>
        </p:txBody>
      </p:sp>
      <p:sp>
        <p:nvSpPr>
          <p:cNvPr id="8" name="!!s9-fact-1">
            <a:extLst xmlns:a="http://schemas.openxmlformats.org/drawingml/2006/main">
              <a:ext uri="{FF2B5EF4-FFF2-40B4-BE49-F238E27FC236}">
                <a16:creationId xmlns:a16="http://schemas.microsoft.com/office/drawing/2014/main" id="{17AA19B8-9A27-4848-803B-9FB0899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重点核查水分报告、适运水分极限与船舶稳性</a:t>
            </a:r>
          </a:p>
        </p:txBody>
      </p:sp>
      <p:sp>
        <p:nvSpPr>
          <p:cNvPr id="9" name="!!s9-fact-2">
            <a:extLst xmlns:a="http://schemas.openxmlformats.org/drawingml/2006/main">
              <a:ext uri="{FF2B5EF4-FFF2-40B4-BE49-F238E27FC236}">
                <a16:creationId xmlns:a16="http://schemas.microsoft.com/office/drawing/2014/main" id="{74260CDD-A8D4-4244-8C88-E3D90C93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检查发现的问题纳入整改、复查和销号管理</a:t>
            </a:r>
          </a:p>
        </p:txBody>
      </p:sp>
      <p:pic>
        <p:nvPicPr>
          <p:cNvPr id="10" name="!!actor-photo-04">
            <a:extLst xmlns:a="http://schemas.openxmlformats.org/drawingml/2006/main">
              <a:ext uri="{FF2B5EF4-FFF2-40B4-BE49-F238E27FC236}">
                <a16:creationId xmlns:a16="http://schemas.microsoft.com/office/drawing/2014/main" id="{2B57EEA3-F0D3-4BB8-ADB4-9219C01D1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b2beac24e4f60"/>
          <a:stretch xmlns:a="http://schemas.openxmlformats.org/drawingml/2006/main"/>
        </p:blipFill>
        <p:spPr>
          <a:xfrm xmlns:a="http://schemas.openxmlformats.org/drawingml/2006/main">
            <a:off x="7658100" y="1908175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11" name="!!s9-caption">
            <a:extLst xmlns:a="http://schemas.openxmlformats.org/drawingml/2006/main">
              <a:ext uri="{FF2B5EF4-FFF2-40B4-BE49-F238E27FC236}">
                <a16:creationId xmlns:a16="http://schemas.microsoft.com/office/drawing/2014/main" id="{643FD662-0886-42C2-A2B9-64F72023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9-section">
            <a:extLst xmlns:a="http://schemas.openxmlformats.org/drawingml/2006/main">
              <a:ext uri="{FF2B5EF4-FFF2-40B4-BE49-F238E27FC236}">
                <a16:creationId xmlns:a16="http://schemas.microsoft.com/office/drawing/2014/main" id="{3144B894-613A-49E2-87C0-6B5B7069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13" name="!!s9-footer">
            <a:extLst xmlns:a="http://schemas.openxmlformats.org/drawingml/2006/main">
              <a:ext uri="{FF2B5EF4-FFF2-40B4-BE49-F238E27FC236}">
                <a16:creationId xmlns:a16="http://schemas.microsoft.com/office/drawing/2014/main" id="{A303207B-6F43-48CE-A06E-6140B6A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[04] 中国交通报 中国交通新闻网  2026-10-07</a:t>
            </a:r>
          </a:p>
        </p:txBody>
      </p:sp>
      <p:sp>
        <p:nvSpPr>
          <p:cNvPr id="14" name="!!s9-page">
            <a:extLst xmlns:a="http://schemas.openxmlformats.org/drawingml/2006/main">
              <a:ext uri="{FF2B5EF4-FFF2-40B4-BE49-F238E27FC236}">
                <a16:creationId xmlns:a16="http://schemas.microsoft.com/office/drawing/2014/main" id="{77C36A32-CEE6-42D8-A55D-7FFD13E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09 / 25</a:t>
            </a:r>
          </a:p>
        </p:txBody>
      </p:sp>
    </p:spTree>
    <p:extLst>
      <p:ext uri="{BB962C8B-B14F-4D97-AF65-F5344CB8AC3E}">
        <p14:creationId xmlns:p14="http://schemas.microsoft.com/office/powerpoint/2010/main" val="1831736957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0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4">
            <a:extLst xmlns:a="http://schemas.openxmlformats.org/drawingml/2006/main">
              <a:ext uri="{FF2B5EF4-FFF2-40B4-BE49-F238E27FC236}">
                <a16:creationId xmlns:a16="http://schemas.microsoft.com/office/drawing/2014/main" id="{D04D7356-3B56-4365-86DD-1FF63204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4">
            <a:extLst xmlns:a="http://schemas.openxmlformats.org/drawingml/2006/main">
              <a:ext uri="{FF2B5EF4-FFF2-40B4-BE49-F238E27FC236}">
                <a16:creationId xmlns:a16="http://schemas.microsoft.com/office/drawing/2014/main" id="{7619DE3D-FADD-4C37-B900-E1746A339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b15c093b448b1"/>
          <a:stretch xmlns:a="http://schemas.openxmlformats.org/drawingml/2006/main"/>
        </p:blipFill>
        <p:spPr>
          <a:xfrm xmlns:a="http://schemas.openxmlformats.org/drawingml/2006/main">
            <a:off x="381000" y="2168525"/>
            <a:ext cx="3867150" cy="2578100"/>
          </a:xfrm>
          <a:prstGeom xmlns:a="http://schemas.openxmlformats.org/drawingml/2006/main" prst="rect">
            <a:avLst/>
          </a:prstGeom>
        </p:spPr>
      </p:pic>
      <p:sp>
        <p:nvSpPr>
          <p:cNvPr id="3" name="!!s10-caption">
            <a:extLst xmlns:a="http://schemas.openxmlformats.org/drawingml/2006/main">
              <a:ext uri="{FF2B5EF4-FFF2-40B4-BE49-F238E27FC236}">
                <a16:creationId xmlns:a16="http://schemas.microsoft.com/office/drawing/2014/main" id="{322C816A-0299-4F44-BFA1-CD3CFF7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0-section">
            <a:extLst xmlns:a="http://schemas.openxmlformats.org/drawingml/2006/main">
              <a:ext uri="{FF2B5EF4-FFF2-40B4-BE49-F238E27FC236}">
                <a16:creationId xmlns:a16="http://schemas.microsoft.com/office/drawing/2014/main" id="{BC3B4652-6805-41CE-83CA-785D6E06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5" name="!!actor-topic-04">
            <a:extLst xmlns:a="http://schemas.openxmlformats.org/drawingml/2006/main">
              <a:ext uri="{FF2B5EF4-FFF2-40B4-BE49-F238E27FC236}">
                <a16:creationId xmlns:a16="http://schemas.microsoft.com/office/drawing/2014/main" id="{DB6830BD-01BE-459C-9E77-0DF1C794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天津固体散装货物监管</a:t>
            </a:r>
          </a:p>
        </p:txBody>
      </p:sp>
      <p:sp>
        <p:nvSpPr>
          <p:cNvPr id="6" name="!!s10-tag">
            <a:extLst xmlns:a="http://schemas.openxmlformats.org/drawingml/2006/main">
              <a:ext uri="{FF2B5EF4-FFF2-40B4-BE49-F238E27FC236}">
                <a16:creationId xmlns:a16="http://schemas.microsoft.com/office/drawing/2014/main" id="{6F2176D5-3EE2-424D-9EDB-BDA380AE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0-question">
            <a:extLst xmlns:a="http://schemas.openxmlformats.org/drawingml/2006/main">
              <a:ext uri="{FF2B5EF4-FFF2-40B4-BE49-F238E27FC236}">
                <a16:creationId xmlns:a16="http://schemas.microsoft.com/office/drawing/2014/main" id="{E718429C-E6E9-4557-A9CA-23D1DAF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看起来干燥的货物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也可能危及船舶？</a:t>
            </a:r>
          </a:p>
        </p:txBody>
      </p:sp>
      <p:sp>
        <p:nvSpPr>
          <p:cNvPr id="8" name="!!s10-rule">
            <a:extLst xmlns:a="http://schemas.openxmlformats.org/drawingml/2006/main">
              <a:ext uri="{FF2B5EF4-FFF2-40B4-BE49-F238E27FC236}">
                <a16:creationId xmlns:a16="http://schemas.microsoft.com/office/drawing/2014/main" id="{BBE8E5A6-7208-4DCB-A30E-D6A21A6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0-analysis-0">
            <a:extLst xmlns:a="http://schemas.openxmlformats.org/drawingml/2006/main">
              <a:ext uri="{FF2B5EF4-FFF2-40B4-BE49-F238E27FC236}">
                <a16:creationId xmlns:a16="http://schemas.microsoft.com/office/drawing/2014/main" id="{2E50C5E0-B09B-401E-A98E-CAA5203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部分固体散货存在流态化及货物位移风险</a:t>
            </a:r>
          </a:p>
        </p:txBody>
      </p:sp>
      <p:sp>
        <p:nvSpPr>
          <p:cNvPr id="10" name="!!s10-analysis-1">
            <a:extLst xmlns:a="http://schemas.openxmlformats.org/drawingml/2006/main">
              <a:ext uri="{FF2B5EF4-FFF2-40B4-BE49-F238E27FC236}">
                <a16:creationId xmlns:a16="http://schemas.microsoft.com/office/drawing/2014/main" id="{0A81C32F-0C77-443B-ABC0-FF38F64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托运、装载、船岸作业各环节均有责任</a:t>
            </a:r>
          </a:p>
        </p:txBody>
      </p:sp>
      <p:sp>
        <p:nvSpPr>
          <p:cNvPr id="11" name="!!s10-analysis-2">
            <a:extLst xmlns:a="http://schemas.openxmlformats.org/drawingml/2006/main">
              <a:ext uri="{FF2B5EF4-FFF2-40B4-BE49-F238E27FC236}">
                <a16:creationId xmlns:a16="http://schemas.microsoft.com/office/drawing/2014/main" id="{D0AE57F6-ABE5-478F-80DA-1BC0CB22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检测单证应与货物实际状态相符</a:t>
            </a:r>
          </a:p>
        </p:txBody>
      </p:sp>
      <p:sp>
        <p:nvSpPr>
          <p:cNvPr id="12" name="!!s10-footer">
            <a:extLst xmlns:a="http://schemas.openxmlformats.org/drawingml/2006/main">
              <a:ext uri="{FF2B5EF4-FFF2-40B4-BE49-F238E27FC236}">
                <a16:creationId xmlns:a16="http://schemas.microsoft.com/office/drawing/2014/main" id="{7FAA3193-5884-47B9-B947-BC51E4EA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0-footer-paper">
            <a:extLst xmlns:a="http://schemas.openxmlformats.org/drawingml/2006/main">
              <a:ext uri="{FF2B5EF4-FFF2-40B4-BE49-F238E27FC236}">
                <a16:creationId xmlns:a16="http://schemas.microsoft.com/office/drawing/2014/main" id="{14040904-ECB6-4804-814A-A15953E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0-page-paper">
            <a:extLst xmlns:a="http://schemas.openxmlformats.org/drawingml/2006/main">
              <a:ext uri="{FF2B5EF4-FFF2-40B4-BE49-F238E27FC236}">
                <a16:creationId xmlns:a16="http://schemas.microsoft.com/office/drawing/2014/main" id="{84E7A085-EA42-42E7-9E25-67FB025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10 / 25</a:t>
            </a:r>
          </a:p>
        </p:txBody>
      </p:sp>
    </p:spTree>
    <p:extLst>
      <p:ext uri="{BB962C8B-B14F-4D97-AF65-F5344CB8AC3E}">
        <p14:creationId xmlns:p14="http://schemas.microsoft.com/office/powerpoint/2010/main" val="1954769291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5">
            <a:extLst xmlns:a="http://schemas.openxmlformats.org/drawingml/2006/main">
              <a:ext uri="{FF2B5EF4-FFF2-40B4-BE49-F238E27FC236}">
                <a16:creationId xmlns:a16="http://schemas.microsoft.com/office/drawing/2014/main" id="{F9D991C5-26C8-4848-A21D-CFABB97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5">
            <a:extLst xmlns:a="http://schemas.openxmlformats.org/drawingml/2006/main">
              <a:ext uri="{FF2B5EF4-FFF2-40B4-BE49-F238E27FC236}">
                <a16:creationId xmlns:a16="http://schemas.microsoft.com/office/drawing/2014/main" id="{794FA00E-2AF0-42EE-951F-C7D7078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潮州港民生物资保畅</a:t>
            </a:r>
          </a:p>
        </p:txBody>
      </p:sp>
      <p:sp>
        <p:nvSpPr>
          <p:cNvPr id="3" name="!!s11-date">
            <a:extLst xmlns:a="http://schemas.openxmlformats.org/drawingml/2006/main">
              <a:ext uri="{FF2B5EF4-FFF2-40B4-BE49-F238E27FC236}">
                <a16:creationId xmlns:a16="http://schemas.microsoft.com/office/drawing/2014/main" id="{7CA4828E-0C19-4780-A630-71F89B0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05</a:t>
            </a:r>
          </a:p>
        </p:txBody>
      </p:sp>
      <p:sp>
        <p:nvSpPr>
          <p:cNvPr id="4" name="!!s11-title">
            <a:extLst xmlns:a="http://schemas.openxmlformats.org/drawingml/2006/main">
              <a:ext uri="{FF2B5EF4-FFF2-40B4-BE49-F238E27FC236}">
                <a16:creationId xmlns:a16="http://schemas.microsoft.com/office/drawing/2014/main" id="{61BB8C64-F03E-450C-9A4F-D50DA68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国庆运输保障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落到通航秩序</a:t>
            </a:r>
          </a:p>
        </p:txBody>
      </p:sp>
      <p:sp>
        <p:nvSpPr>
          <p:cNvPr id="5" name="!!s11-metric">
            <a:extLst xmlns:a="http://schemas.openxmlformats.org/drawingml/2006/main">
              <a:ext uri="{FF2B5EF4-FFF2-40B4-BE49-F238E27FC236}">
                <a16:creationId xmlns:a16="http://schemas.microsoft.com/office/drawing/2014/main" id="{E1150983-46E0-4A66-8668-7D3BDD84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40万吨</a:t>
            </a:r>
          </a:p>
        </p:txBody>
      </p:sp>
      <p:sp>
        <p:nvSpPr>
          <p:cNvPr id="6" name="!!s11-label">
            <a:extLst xmlns:a="http://schemas.openxmlformats.org/drawingml/2006/main">
              <a:ext uri="{FF2B5EF4-FFF2-40B4-BE49-F238E27FC236}">
                <a16:creationId xmlns:a16="http://schemas.microsoft.com/office/drawing/2014/main" id="{4BBBC6AC-7AF5-41B3-94AC-48A5ACA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国庆期间重点民生物资运输量</a:t>
            </a:r>
          </a:p>
        </p:txBody>
      </p:sp>
      <p:sp>
        <p:nvSpPr>
          <p:cNvPr id="7" name="!!s11-fact-0">
            <a:extLst xmlns:a="http://schemas.openxmlformats.org/drawingml/2006/main">
              <a:ext uri="{FF2B5EF4-FFF2-40B4-BE49-F238E27FC236}">
                <a16:creationId xmlns:a16="http://schemas.microsoft.com/office/drawing/2014/main" id="{B949DDBC-9344-44CB-ACB1-E061CA86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潮州港国庆期间船舶进出149艘次</a:t>
            </a:r>
          </a:p>
        </p:txBody>
      </p:sp>
      <p:sp>
        <p:nvSpPr>
          <p:cNvPr id="8" name="!!s11-fact-1">
            <a:extLst xmlns:a="http://schemas.openxmlformats.org/drawingml/2006/main">
              <a:ext uri="{FF2B5EF4-FFF2-40B4-BE49-F238E27FC236}">
                <a16:creationId xmlns:a16="http://schemas.microsoft.com/office/drawing/2014/main" id="{85BDCE02-8F22-44BE-8CE9-37FE872B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重点物资船舶享有靠离泊与装卸优先保障</a:t>
            </a:r>
          </a:p>
        </p:txBody>
      </p:sp>
      <p:sp>
        <p:nvSpPr>
          <p:cNvPr id="9" name="!!s11-fact-2">
            <a:extLst xmlns:a="http://schemas.openxmlformats.org/drawingml/2006/main">
              <a:ext uri="{FF2B5EF4-FFF2-40B4-BE49-F238E27FC236}">
                <a16:creationId xmlns:a16="http://schemas.microsoft.com/office/drawing/2014/main" id="{58464516-6CC3-4074-8F42-C5ADC29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商渔混合港通过联合值守及时处置航道隐患</a:t>
            </a:r>
          </a:p>
        </p:txBody>
      </p:sp>
      <p:pic>
        <p:nvPicPr>
          <p:cNvPr id="10" name="!!actor-photo-05">
            <a:extLst xmlns:a="http://schemas.openxmlformats.org/drawingml/2006/main">
              <a:ext uri="{FF2B5EF4-FFF2-40B4-BE49-F238E27FC236}">
                <a16:creationId xmlns:a16="http://schemas.microsoft.com/office/drawing/2014/main" id="{788DB1AC-503B-4719-9109-7A34245775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bd04ce28422b"/>
          <a:stretch xmlns:a="http://schemas.openxmlformats.org/drawingml/2006/main"/>
        </p:blipFill>
        <p:spPr>
          <a:xfrm xmlns:a="http://schemas.openxmlformats.org/drawingml/2006/main">
            <a:off x="7658100" y="1733831"/>
            <a:ext cx="4191000" cy="3142689"/>
          </a:xfrm>
          <a:prstGeom xmlns:a="http://schemas.openxmlformats.org/drawingml/2006/main" prst="rect">
            <a:avLst/>
          </a:prstGeom>
        </p:spPr>
      </p:pic>
      <p:sp>
        <p:nvSpPr>
          <p:cNvPr id="11" name="!!s11-caption">
            <a:extLst xmlns:a="http://schemas.openxmlformats.org/drawingml/2006/main">
              <a:ext uri="{FF2B5EF4-FFF2-40B4-BE49-F238E27FC236}">
                <a16:creationId xmlns:a16="http://schemas.microsoft.com/office/drawing/2014/main" id="{F09371D6-B167-4861-8C33-E35F816B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1-section">
            <a:extLst xmlns:a="http://schemas.openxmlformats.org/drawingml/2006/main">
              <a:ext uri="{FF2B5EF4-FFF2-40B4-BE49-F238E27FC236}">
                <a16:creationId xmlns:a16="http://schemas.microsoft.com/office/drawing/2014/main" id="{EF69B781-36B3-4C23-887E-F9662C04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13" name="!!s11-footer">
            <a:extLst xmlns:a="http://schemas.openxmlformats.org/drawingml/2006/main">
              <a:ext uri="{FF2B5EF4-FFF2-40B4-BE49-F238E27FC236}">
                <a16:creationId xmlns:a16="http://schemas.microsoft.com/office/drawing/2014/main" id="{4F27E0C5-90A4-4F92-8319-DC388E9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[05] 羊城派 21经济网转载  2026-10-09</a:t>
            </a:r>
          </a:p>
        </p:txBody>
      </p:sp>
      <p:sp>
        <p:nvSpPr>
          <p:cNvPr id="14" name="!!s11-page">
            <a:extLst xmlns:a="http://schemas.openxmlformats.org/drawingml/2006/main">
              <a:ext uri="{FF2B5EF4-FFF2-40B4-BE49-F238E27FC236}">
                <a16:creationId xmlns:a16="http://schemas.microsoft.com/office/drawing/2014/main" id="{07143ECB-01E9-463F-ABD6-5CBF58F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11 / 25</a:t>
            </a:r>
          </a:p>
        </p:txBody>
      </p:sp>
    </p:spTree>
    <p:extLst>
      <p:ext uri="{BB962C8B-B14F-4D97-AF65-F5344CB8AC3E}">
        <p14:creationId xmlns:p14="http://schemas.microsoft.com/office/powerpoint/2010/main" val="1665262581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2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5">
            <a:extLst xmlns:a="http://schemas.openxmlformats.org/drawingml/2006/main">
              <a:ext uri="{FF2B5EF4-FFF2-40B4-BE49-F238E27FC236}">
                <a16:creationId xmlns:a16="http://schemas.microsoft.com/office/drawing/2014/main" id="{2B19007C-346E-4A20-9385-9A4C67C3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5">
            <a:extLst xmlns:a="http://schemas.openxmlformats.org/drawingml/2006/main">
              <a:ext uri="{FF2B5EF4-FFF2-40B4-BE49-F238E27FC236}">
                <a16:creationId xmlns:a16="http://schemas.microsoft.com/office/drawing/2014/main" id="{61F40BE5-F2F7-4D12-AA41-24A8028F2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54fe85a9146b3"/>
          <a:stretch xmlns:a="http://schemas.openxmlformats.org/drawingml/2006/main"/>
        </p:blipFill>
        <p:spPr>
          <a:xfrm xmlns:a="http://schemas.openxmlformats.org/drawingml/2006/main">
            <a:off x="381000" y="2007653"/>
            <a:ext cx="3867150" cy="2899845"/>
          </a:xfrm>
          <a:prstGeom xmlns:a="http://schemas.openxmlformats.org/drawingml/2006/main" prst="rect">
            <a:avLst/>
          </a:prstGeom>
        </p:spPr>
      </p:pic>
      <p:sp>
        <p:nvSpPr>
          <p:cNvPr id="3" name="!!s12-caption">
            <a:extLst xmlns:a="http://schemas.openxmlformats.org/drawingml/2006/main">
              <a:ext uri="{FF2B5EF4-FFF2-40B4-BE49-F238E27FC236}">
                <a16:creationId xmlns:a16="http://schemas.microsoft.com/office/drawing/2014/main" id="{F349B0F6-DAAA-41C0-B6CF-0ECAA9F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2-section">
            <a:extLst xmlns:a="http://schemas.openxmlformats.org/drawingml/2006/main">
              <a:ext uri="{FF2B5EF4-FFF2-40B4-BE49-F238E27FC236}">
                <a16:creationId xmlns:a16="http://schemas.microsoft.com/office/drawing/2014/main" id="{5EF97FB0-4C6E-4664-8FF6-3E10BB5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5" name="!!actor-topic-05">
            <a:extLst xmlns:a="http://schemas.openxmlformats.org/drawingml/2006/main">
              <a:ext uri="{FF2B5EF4-FFF2-40B4-BE49-F238E27FC236}">
                <a16:creationId xmlns:a16="http://schemas.microsoft.com/office/drawing/2014/main" id="{110A9B56-046A-4707-9D3D-DC47517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潮州港民生物资保畅</a:t>
            </a:r>
          </a:p>
        </p:txBody>
      </p:sp>
      <p:sp>
        <p:nvSpPr>
          <p:cNvPr id="6" name="!!s12-tag">
            <a:extLst xmlns:a="http://schemas.openxmlformats.org/drawingml/2006/main">
              <a:ext uri="{FF2B5EF4-FFF2-40B4-BE49-F238E27FC236}">
                <a16:creationId xmlns:a16="http://schemas.microsoft.com/office/drawing/2014/main" id="{74A256F2-DC26-4508-949B-375C0A2C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2-question">
            <a:extLst xmlns:a="http://schemas.openxmlformats.org/drawingml/2006/main">
              <a:ext uri="{FF2B5EF4-FFF2-40B4-BE49-F238E27FC236}">
                <a16:creationId xmlns:a16="http://schemas.microsoft.com/office/drawing/2014/main" id="{A685418F-4296-4C32-AB3C-8027564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保通保畅与安全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怎样同时实现？</a:t>
            </a:r>
          </a:p>
        </p:txBody>
      </p:sp>
      <p:sp>
        <p:nvSpPr>
          <p:cNvPr id="8" name="!!s12-rule">
            <a:extLst xmlns:a="http://schemas.openxmlformats.org/drawingml/2006/main">
              <a:ext uri="{FF2B5EF4-FFF2-40B4-BE49-F238E27FC236}">
                <a16:creationId xmlns:a16="http://schemas.microsoft.com/office/drawing/2014/main" id="{03A9C785-9C0C-4701-A7F9-6ABEDC7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2-analysis-0">
            <a:extLst xmlns:a="http://schemas.openxmlformats.org/drawingml/2006/main">
              <a:ext uri="{FF2B5EF4-FFF2-40B4-BE49-F238E27FC236}">
                <a16:creationId xmlns:a16="http://schemas.microsoft.com/office/drawing/2014/main" id="{D9260A6F-B0ED-4993-95BA-C13A053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四直通道缩短在港时间，仍需安全条件支撑</a:t>
            </a:r>
          </a:p>
        </p:txBody>
      </p:sp>
      <p:sp>
        <p:nvSpPr>
          <p:cNvPr id="10" name="!!s12-analysis-1">
            <a:extLst xmlns:a="http://schemas.openxmlformats.org/drawingml/2006/main">
              <a:ext uri="{FF2B5EF4-FFF2-40B4-BE49-F238E27FC236}">
                <a16:creationId xmlns:a16="http://schemas.microsoft.com/office/drawing/2014/main" id="{B29026E6-1776-44BE-9680-91A402EF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商船与渔船交汇要求清晰的通航秩序</a:t>
            </a:r>
          </a:p>
        </p:txBody>
      </p:sp>
      <p:sp>
        <p:nvSpPr>
          <p:cNvPr id="11" name="!!s12-analysis-2">
            <a:extLst xmlns:a="http://schemas.openxmlformats.org/drawingml/2006/main">
              <a:ext uri="{FF2B5EF4-FFF2-40B4-BE49-F238E27FC236}">
                <a16:creationId xmlns:a16="http://schemas.microsoft.com/office/drawing/2014/main" id="{7CD99E11-0677-43F6-8BCC-5112D80B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报道未发生事故，不代表风险可以忽略</a:t>
            </a:r>
          </a:p>
        </p:txBody>
      </p:sp>
      <p:sp>
        <p:nvSpPr>
          <p:cNvPr id="12" name="!!s12-footer">
            <a:extLst xmlns:a="http://schemas.openxmlformats.org/drawingml/2006/main">
              <a:ext uri="{FF2B5EF4-FFF2-40B4-BE49-F238E27FC236}">
                <a16:creationId xmlns:a16="http://schemas.microsoft.com/office/drawing/2014/main" id="{B893A052-486A-4C7A-86F0-C597590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2-footer-paper">
            <a:extLst xmlns:a="http://schemas.openxmlformats.org/drawingml/2006/main">
              <a:ext uri="{FF2B5EF4-FFF2-40B4-BE49-F238E27FC236}">
                <a16:creationId xmlns:a16="http://schemas.microsoft.com/office/drawing/2014/main" id="{37A73B15-D5F5-48B1-B560-625C12D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2-page-paper">
            <a:extLst xmlns:a="http://schemas.openxmlformats.org/drawingml/2006/main">
              <a:ext uri="{FF2B5EF4-FFF2-40B4-BE49-F238E27FC236}">
                <a16:creationId xmlns:a16="http://schemas.microsoft.com/office/drawing/2014/main" id="{1B6CD7AD-5898-463F-980F-D9AE9C5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12 / 25</a:t>
            </a:r>
          </a:p>
        </p:txBody>
      </p:sp>
    </p:spTree>
    <p:extLst>
      <p:ext uri="{BB962C8B-B14F-4D97-AF65-F5344CB8AC3E}">
        <p14:creationId xmlns:p14="http://schemas.microsoft.com/office/powerpoint/2010/main" val="1878629615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3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6">
            <a:extLst xmlns:a="http://schemas.openxmlformats.org/drawingml/2006/main">
              <a:ext uri="{FF2B5EF4-FFF2-40B4-BE49-F238E27FC236}">
                <a16:creationId xmlns:a16="http://schemas.microsoft.com/office/drawing/2014/main" id="{589549ED-EFCC-4643-8FF5-CA7CDEE2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!!actor-topic-06">
            <a:extLst xmlns:a="http://schemas.openxmlformats.org/drawingml/2006/main">
              <a:ext uri="{FF2B5EF4-FFF2-40B4-BE49-F238E27FC236}">
                <a16:creationId xmlns:a16="http://schemas.microsoft.com/office/drawing/2014/main" id="{532E58F1-A7D2-420D-AAA6-96CE234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金塘港区LNG加注</a:t>
            </a:r>
          </a:p>
        </p:txBody>
      </p:sp>
      <p:sp>
        <p:nvSpPr>
          <p:cNvPr id="3" name="!!s13-date">
            <a:extLst xmlns:a="http://schemas.openxmlformats.org/drawingml/2006/main">
              <a:ext uri="{FF2B5EF4-FFF2-40B4-BE49-F238E27FC236}">
                <a16:creationId xmlns:a16="http://schemas.microsoft.com/office/drawing/2014/main" id="{D6C8D547-F1EA-4E53-ABF9-E9C01308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06</a:t>
            </a:r>
          </a:p>
        </p:txBody>
      </p:sp>
      <p:sp>
        <p:nvSpPr>
          <p:cNvPr id="4" name="!!s13-title">
            <a:extLst xmlns:a="http://schemas.openxmlformats.org/drawingml/2006/main">
              <a:ext uri="{FF2B5EF4-FFF2-40B4-BE49-F238E27FC236}">
                <a16:creationId xmlns:a16="http://schemas.microsoft.com/office/drawing/2014/main" id="{9A62538F-814E-4FA8-AD04-A46A668F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宁波提气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舟山完成加注</a:t>
            </a:r>
          </a:p>
        </p:txBody>
      </p:sp>
      <p:sp>
        <p:nvSpPr>
          <p:cNvPr id="5" name="!!s13-metric">
            <a:extLst xmlns:a="http://schemas.openxmlformats.org/drawingml/2006/main">
              <a:ext uri="{FF2B5EF4-FFF2-40B4-BE49-F238E27FC236}">
                <a16:creationId xmlns:a16="http://schemas.microsoft.com/office/drawing/2014/main" id="{D17BF815-0DB7-47BB-811C-00AC791A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约4000m³</a:t>
            </a:r>
          </a:p>
        </p:txBody>
      </p:sp>
      <p:sp>
        <p:nvSpPr>
          <p:cNvPr id="6" name="!!s13-label">
            <a:extLst xmlns:a="http://schemas.openxmlformats.org/drawingml/2006/main">
              <a:ext uri="{FF2B5EF4-FFF2-40B4-BE49-F238E27FC236}">
                <a16:creationId xmlns:a16="http://schemas.microsoft.com/office/drawing/2014/main" id="{A6EA12D9-6958-47D8-82A5-FC0B551E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报道所述保税LNG加注量</a:t>
            </a:r>
          </a:p>
        </p:txBody>
      </p:sp>
      <p:sp>
        <p:nvSpPr>
          <p:cNvPr id="7" name="!!s13-fact-0">
            <a:extLst xmlns:a="http://schemas.openxmlformats.org/drawingml/2006/main">
              <a:ext uri="{FF2B5EF4-FFF2-40B4-BE49-F238E27FC236}">
                <a16:creationId xmlns:a16="http://schemas.microsoft.com/office/drawing/2014/main" id="{EF345BA0-EBE7-40EE-BB60-D03A3CF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金塘港区首次开展该项LNG加注业务</a:t>
            </a:r>
          </a:p>
        </p:txBody>
      </p:sp>
      <p:sp>
        <p:nvSpPr>
          <p:cNvPr id="8" name="!!s13-fact-1">
            <a:extLst xmlns:a="http://schemas.openxmlformats.org/drawingml/2006/main">
              <a:ext uri="{FF2B5EF4-FFF2-40B4-BE49-F238E27FC236}">
                <a16:creationId xmlns:a16="http://schemas.microsoft.com/office/drawing/2014/main" id="{5623ECD0-ACC9-4D45-B852-E7836C20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海洋石油302轮为达飞帕米尔轮实施加注</a:t>
            </a:r>
          </a:p>
        </p:txBody>
      </p:sp>
      <p:sp>
        <p:nvSpPr>
          <p:cNvPr id="9" name="!!s13-fact-2">
            <a:extLst xmlns:a="http://schemas.openxmlformats.org/drawingml/2006/main">
              <a:ext uri="{FF2B5EF4-FFF2-40B4-BE49-F238E27FC236}">
                <a16:creationId xmlns:a16="http://schemas.microsoft.com/office/drawing/2014/main" id="{AEAC295D-BED4-42A2-AFD2-5618BC6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跨关区流转与海事动态监管共同支撑作业</a:t>
            </a:r>
          </a:p>
        </p:txBody>
      </p:sp>
      <p:pic>
        <p:nvPicPr>
          <p:cNvPr id="10" name="!!actor-photo-06">
            <a:extLst xmlns:a="http://schemas.openxmlformats.org/drawingml/2006/main">
              <a:ext uri="{FF2B5EF4-FFF2-40B4-BE49-F238E27FC236}">
                <a16:creationId xmlns:a16="http://schemas.microsoft.com/office/drawing/2014/main" id="{004444C6-91E0-4C75-8326-037FF4020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9ad3025bc4c31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3-caption">
            <a:extLst xmlns:a="http://schemas.openxmlformats.org/drawingml/2006/main">
              <a:ext uri="{FF2B5EF4-FFF2-40B4-BE49-F238E27FC236}">
                <a16:creationId xmlns:a16="http://schemas.microsoft.com/office/drawing/2014/main" id="{743F1D8D-54C9-432D-9100-D11D6704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3-section">
            <a:extLst xmlns:a="http://schemas.openxmlformats.org/drawingml/2006/main">
              <a:ext uri="{FF2B5EF4-FFF2-40B4-BE49-F238E27FC236}">
                <a16:creationId xmlns:a16="http://schemas.microsoft.com/office/drawing/2014/main" id="{D6C687BD-5E82-4240-B3C5-441F00B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06</a:t>
            </a:r>
          </a:p>
        </p:txBody>
      </p:sp>
      <p:sp>
        <p:nvSpPr>
          <p:cNvPr id="13" name="!!s13-footer">
            <a:extLst xmlns:a="http://schemas.openxmlformats.org/drawingml/2006/main">
              <a:ext uri="{FF2B5EF4-FFF2-40B4-BE49-F238E27FC236}">
                <a16:creationId xmlns:a16="http://schemas.microsoft.com/office/drawing/2014/main" id="{F71EDC29-E966-4843-9F8C-AEB11A5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[06] 中国交通报 中国交通新闻网  2026-10-06</a:t>
            </a:r>
          </a:p>
        </p:txBody>
      </p:sp>
      <p:sp>
        <p:nvSpPr>
          <p:cNvPr id="14" name="!!s13-page">
            <a:extLst xmlns:a="http://schemas.openxmlformats.org/drawingml/2006/main">
              <a:ext uri="{FF2B5EF4-FFF2-40B4-BE49-F238E27FC236}">
                <a16:creationId xmlns:a16="http://schemas.microsoft.com/office/drawing/2014/main" id="{73A7479A-4AF9-4A41-BDB1-222E65A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13 / 25</a:t>
            </a:r>
          </a:p>
        </p:txBody>
      </p:sp>
    </p:spTree>
    <p:extLst>
      <p:ext uri="{BB962C8B-B14F-4D97-AF65-F5344CB8AC3E}">
        <p14:creationId xmlns:p14="http://schemas.microsoft.com/office/powerpoint/2010/main" val="190218853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4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6">
            <a:extLst xmlns:a="http://schemas.openxmlformats.org/drawingml/2006/main">
              <a:ext uri="{FF2B5EF4-FFF2-40B4-BE49-F238E27FC236}">
                <a16:creationId xmlns:a16="http://schemas.microsoft.com/office/drawing/2014/main" id="{FB53D6D6-5B93-48F3-93AD-3D6CB4C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pic>
        <p:nvPicPr>
          <p:cNvPr id="2" name="!!actor-photo-06">
            <a:extLst xmlns:a="http://schemas.openxmlformats.org/drawingml/2006/main">
              <a:ext uri="{FF2B5EF4-FFF2-40B4-BE49-F238E27FC236}">
                <a16:creationId xmlns:a16="http://schemas.microsoft.com/office/drawing/2014/main" id="{3C526555-45F5-4705-B58B-830FD3DD1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e5d74c9574f63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14-caption">
            <a:extLst xmlns:a="http://schemas.openxmlformats.org/drawingml/2006/main">
              <a:ext uri="{FF2B5EF4-FFF2-40B4-BE49-F238E27FC236}">
                <a16:creationId xmlns:a16="http://schemas.microsoft.com/office/drawing/2014/main" id="{AAD1C261-2F65-4CDE-802E-DCB6E2A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4-section">
            <a:extLst xmlns:a="http://schemas.openxmlformats.org/drawingml/2006/main">
              <a:ext uri="{FF2B5EF4-FFF2-40B4-BE49-F238E27FC236}">
                <a16:creationId xmlns:a16="http://schemas.microsoft.com/office/drawing/2014/main" id="{2C11BC61-22C1-412F-A79E-79A287D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06</a:t>
            </a:r>
          </a:p>
        </p:txBody>
      </p:sp>
      <p:sp>
        <p:nvSpPr>
          <p:cNvPr id="5" name="!!actor-topic-06">
            <a:extLst xmlns:a="http://schemas.openxmlformats.org/drawingml/2006/main">
              <a:ext uri="{FF2B5EF4-FFF2-40B4-BE49-F238E27FC236}">
                <a16:creationId xmlns:a16="http://schemas.microsoft.com/office/drawing/2014/main" id="{BF0D72A9-A471-430E-A865-2E6FC3F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金塘港区LNG加注</a:t>
            </a:r>
          </a:p>
        </p:txBody>
      </p:sp>
      <p:sp>
        <p:nvSpPr>
          <p:cNvPr id="6" name="!!s14-tag">
            <a:extLst xmlns:a="http://schemas.openxmlformats.org/drawingml/2006/main">
              <a:ext uri="{FF2B5EF4-FFF2-40B4-BE49-F238E27FC236}">
                <a16:creationId xmlns:a16="http://schemas.microsoft.com/office/drawing/2014/main" id="{EDBD0592-4DC2-4F72-9B97-29E01C2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4-question">
            <a:extLst xmlns:a="http://schemas.openxmlformats.org/drawingml/2006/main">
              <a:ext uri="{FF2B5EF4-FFF2-40B4-BE49-F238E27FC236}">
                <a16:creationId xmlns:a16="http://schemas.microsoft.com/office/drawing/2014/main" id="{F5836526-7208-4155-9E6F-BAEE55B3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绿色燃料服务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需要哪些规则配合？</a:t>
            </a:r>
          </a:p>
        </p:txBody>
      </p:sp>
      <p:sp>
        <p:nvSpPr>
          <p:cNvPr id="8" name="!!s14-rule">
            <a:extLst xmlns:a="http://schemas.openxmlformats.org/drawingml/2006/main">
              <a:ext uri="{FF2B5EF4-FFF2-40B4-BE49-F238E27FC236}">
                <a16:creationId xmlns:a16="http://schemas.microsoft.com/office/drawing/2014/main" id="{A3645059-9B3A-4635-B775-E2E02C4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4-analysis-0">
            <a:extLst xmlns:a="http://schemas.openxmlformats.org/drawingml/2006/main">
              <a:ext uri="{FF2B5EF4-FFF2-40B4-BE49-F238E27FC236}">
                <a16:creationId xmlns:a16="http://schemas.microsoft.com/office/drawing/2014/main" id="{5925FD42-2FB1-4713-A547-A0C0A1B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海关流转、船对船加注和通航条件需协调</a:t>
            </a:r>
          </a:p>
        </p:txBody>
      </p:sp>
      <p:sp>
        <p:nvSpPr>
          <p:cNvPr id="10" name="!!s14-analysis-1">
            <a:extLst xmlns:a="http://schemas.openxmlformats.org/drawingml/2006/main">
              <a:ext uri="{FF2B5EF4-FFF2-40B4-BE49-F238E27FC236}">
                <a16:creationId xmlns:a16="http://schemas.microsoft.com/office/drawing/2014/main" id="{6411E9AC-9352-4887-AA8F-B1CCD79B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危险作业的安全标准不能因便利化降低</a:t>
            </a:r>
          </a:p>
        </p:txBody>
      </p:sp>
      <p:sp>
        <p:nvSpPr>
          <p:cNvPr id="11" name="!!s14-analysis-2">
            <a:extLst xmlns:a="http://schemas.openxmlformats.org/drawingml/2006/main">
              <a:ext uri="{FF2B5EF4-FFF2-40B4-BE49-F238E27FC236}">
                <a16:creationId xmlns:a16="http://schemas.microsoft.com/office/drawing/2014/main" id="{78F9CDEC-5F1D-42F1-9E26-2B7C4B0A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LNG的气候效益还需评估全生命周期排放</a:t>
            </a:r>
          </a:p>
        </p:txBody>
      </p:sp>
      <p:sp>
        <p:nvSpPr>
          <p:cNvPr id="12" name="!!s14-footer">
            <a:extLst xmlns:a="http://schemas.openxmlformats.org/drawingml/2006/main">
              <a:ext uri="{FF2B5EF4-FFF2-40B4-BE49-F238E27FC236}">
                <a16:creationId xmlns:a16="http://schemas.microsoft.com/office/drawing/2014/main" id="{10D39D58-F635-4F21-B1C8-CE9F50FE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4-footer-paper">
            <a:extLst xmlns:a="http://schemas.openxmlformats.org/drawingml/2006/main">
              <a:ext uri="{FF2B5EF4-FFF2-40B4-BE49-F238E27FC236}">
                <a16:creationId xmlns:a16="http://schemas.microsoft.com/office/drawing/2014/main" id="{8BBFD696-969C-4885-831F-299E73B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4-page-paper">
            <a:extLst xmlns:a="http://schemas.openxmlformats.org/drawingml/2006/main">
              <a:ext uri="{FF2B5EF4-FFF2-40B4-BE49-F238E27FC236}">
                <a16:creationId xmlns:a16="http://schemas.microsoft.com/office/drawing/2014/main" id="{EC28A2D0-6127-471A-883F-9EB8AA1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14 / 25</a:t>
            </a:r>
          </a:p>
        </p:txBody>
      </p:sp>
    </p:spTree>
    <p:extLst>
      <p:ext uri="{BB962C8B-B14F-4D97-AF65-F5344CB8AC3E}">
        <p14:creationId xmlns:p14="http://schemas.microsoft.com/office/powerpoint/2010/main" val="1400939417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7">
            <a:extLst xmlns:a="http://schemas.openxmlformats.org/drawingml/2006/main">
              <a:ext uri="{FF2B5EF4-FFF2-40B4-BE49-F238E27FC236}">
                <a16:creationId xmlns:a16="http://schemas.microsoft.com/office/drawing/2014/main" id="{CF7C4722-DBD0-4C03-A72C-4AD655A8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7">
            <a:extLst xmlns:a="http://schemas.openxmlformats.org/drawingml/2006/main">
              <a:ext uri="{FF2B5EF4-FFF2-40B4-BE49-F238E27FC236}">
                <a16:creationId xmlns:a16="http://schemas.microsoft.com/office/drawing/2014/main" id="{DAB4826D-D927-45BF-A9CB-A8E53DEE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海洋地球工程研究框架</a:t>
            </a:r>
          </a:p>
        </p:txBody>
      </p:sp>
      <p:sp>
        <p:nvSpPr>
          <p:cNvPr id="3" name="!!s15-date">
            <a:extLst xmlns:a="http://schemas.openxmlformats.org/drawingml/2006/main">
              <a:ext uri="{FF2B5EF4-FFF2-40B4-BE49-F238E27FC236}">
                <a16:creationId xmlns:a16="http://schemas.microsoft.com/office/drawing/2014/main" id="{533BBE05-9EC4-47B9-B5CA-235D961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07</a:t>
            </a:r>
          </a:p>
        </p:txBody>
      </p:sp>
      <p:sp>
        <p:nvSpPr>
          <p:cNvPr id="4" name="!!s15-title">
            <a:extLst xmlns:a="http://schemas.openxmlformats.org/drawingml/2006/main">
              <a:ext uri="{FF2B5EF4-FFF2-40B4-BE49-F238E27FC236}">
                <a16:creationId xmlns:a16="http://schemas.microsoft.com/office/drawing/2014/main" id="{F35CC20E-A94F-453C-A40E-A4C4694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IMO为海洋研究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提出评估工具</a:t>
            </a:r>
          </a:p>
        </p:txBody>
      </p:sp>
      <p:sp>
        <p:nvSpPr>
          <p:cNvPr id="5" name="!!s15-metric">
            <a:extLst xmlns:a="http://schemas.openxmlformats.org/drawingml/2006/main">
              <a:ext uri="{FF2B5EF4-FFF2-40B4-BE49-F238E27FC236}">
                <a16:creationId xmlns:a16="http://schemas.microsoft.com/office/drawing/2014/main" id="{3547C52A-543F-41F0-88C9-E24EABA8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3类</a:t>
            </a:r>
          </a:p>
        </p:txBody>
      </p:sp>
      <p:sp>
        <p:nvSpPr>
          <p:cNvPr id="6" name="!!s15-label">
            <a:extLst xmlns:a="http://schemas.openxmlformats.org/drawingml/2006/main">
              <a:ext uri="{FF2B5EF4-FFF2-40B4-BE49-F238E27FC236}">
                <a16:creationId xmlns:a16="http://schemas.microsoft.com/office/drawing/2014/main" id="{A2CC2CF8-D870-423D-AA65-4968A8A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海洋地球工程研究方法</a:t>
            </a:r>
          </a:p>
        </p:txBody>
      </p:sp>
      <p:sp>
        <p:nvSpPr>
          <p:cNvPr id="7" name="!!s15-fact-0">
            <a:extLst xmlns:a="http://schemas.openxmlformats.org/drawingml/2006/main">
              <a:ext uri="{FF2B5EF4-FFF2-40B4-BE49-F238E27FC236}">
                <a16:creationId xmlns:a16="http://schemas.microsoft.com/office/drawing/2014/main" id="{CBAFC6D0-0B3C-447A-87CA-8AE21EE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伦敦公约与议定书缔约方会议于10月5至9日举行</a:t>
            </a:r>
          </a:p>
        </p:txBody>
      </p:sp>
      <p:sp>
        <p:nvSpPr>
          <p:cNvPr id="8" name="!!s15-fact-1">
            <a:extLst xmlns:a="http://schemas.openxmlformats.org/drawingml/2006/main">
              <a:ext uri="{FF2B5EF4-FFF2-40B4-BE49-F238E27FC236}">
                <a16:creationId xmlns:a16="http://schemas.microsoft.com/office/drawing/2014/main" id="{8AEB4FB0-6035-4E1B-8A8A-673AE571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通过海洋施肥、增碱及生物质沉降研究评估框架</a:t>
            </a:r>
          </a:p>
        </p:txBody>
      </p:sp>
      <p:sp>
        <p:nvSpPr>
          <p:cNvPr id="9" name="!!s15-fact-2">
            <a:extLst xmlns:a="http://schemas.openxmlformats.org/drawingml/2006/main">
              <a:ext uri="{FF2B5EF4-FFF2-40B4-BE49-F238E27FC236}">
                <a16:creationId xmlns:a16="http://schemas.microsoft.com/office/drawing/2014/main" id="{ADD0AB13-0B28-4843-A81C-1F7C959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要求环境评估、利益相关方参与、监测与透明报告</a:t>
            </a:r>
          </a:p>
        </p:txBody>
      </p:sp>
      <p:pic>
        <p:nvPicPr>
          <p:cNvPr id="10" name="!!actor-photo-07">
            <a:extLst xmlns:a="http://schemas.openxmlformats.org/drawingml/2006/main">
              <a:ext uri="{FF2B5EF4-FFF2-40B4-BE49-F238E27FC236}">
                <a16:creationId xmlns:a16="http://schemas.microsoft.com/office/drawing/2014/main" id="{9DABABE9-9EF9-4471-9AB3-F9A7F3847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2278f53be431a"/>
          <a:stretch xmlns:a="http://schemas.openxmlformats.org/drawingml/2006/main"/>
        </p:blipFill>
        <p:spPr>
          <a:xfrm xmlns:a="http://schemas.openxmlformats.org/drawingml/2006/main">
            <a:off x="7658100" y="2292350"/>
            <a:ext cx="4191000" cy="2025650"/>
          </a:xfrm>
          <a:prstGeom xmlns:a="http://schemas.openxmlformats.org/drawingml/2006/main" prst="rect">
            <a:avLst/>
          </a:prstGeom>
        </p:spPr>
      </p:pic>
      <p:sp>
        <p:nvSpPr>
          <p:cNvPr id="11" name="!!s15-caption">
            <a:extLst xmlns:a="http://schemas.openxmlformats.org/drawingml/2006/main">
              <a:ext uri="{FF2B5EF4-FFF2-40B4-BE49-F238E27FC236}">
                <a16:creationId xmlns:a16="http://schemas.microsoft.com/office/drawing/2014/main" id="{C77BB4AF-23C3-413A-9B54-DFB078B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5-section">
            <a:extLst xmlns:a="http://schemas.openxmlformats.org/drawingml/2006/main">
              <a:ext uri="{FF2B5EF4-FFF2-40B4-BE49-F238E27FC236}">
                <a16:creationId xmlns:a16="http://schemas.microsoft.com/office/drawing/2014/main" id="{698B89EB-A8D4-41DF-8270-215FC192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07</a:t>
            </a:r>
          </a:p>
        </p:txBody>
      </p:sp>
      <p:sp>
        <p:nvSpPr>
          <p:cNvPr id="13" name="!!s15-footer">
            <a:extLst xmlns:a="http://schemas.openxmlformats.org/drawingml/2006/main">
              <a:ext uri="{FF2B5EF4-FFF2-40B4-BE49-F238E27FC236}">
                <a16:creationId xmlns:a16="http://schemas.microsoft.com/office/drawing/2014/main" id="{2F4E91DE-2F82-45C1-803A-D309F8E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[07] 国际海事组织 IMO  2026-10-09</a:t>
            </a:r>
          </a:p>
        </p:txBody>
      </p:sp>
      <p:sp>
        <p:nvSpPr>
          <p:cNvPr id="14" name="!!s15-page">
            <a:extLst xmlns:a="http://schemas.openxmlformats.org/drawingml/2006/main">
              <a:ext uri="{FF2B5EF4-FFF2-40B4-BE49-F238E27FC236}">
                <a16:creationId xmlns:a16="http://schemas.microsoft.com/office/drawing/2014/main" id="{370EDAE5-60E5-4D69-B8AA-37E02CC8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15 / 25</a:t>
            </a:r>
          </a:p>
        </p:txBody>
      </p:sp>
    </p:spTree>
    <p:extLst>
      <p:ext uri="{BB962C8B-B14F-4D97-AF65-F5344CB8AC3E}">
        <p14:creationId xmlns:p14="http://schemas.microsoft.com/office/powerpoint/2010/main" val="327506274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6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7">
            <a:extLst xmlns:a="http://schemas.openxmlformats.org/drawingml/2006/main">
              <a:ext uri="{FF2B5EF4-FFF2-40B4-BE49-F238E27FC236}">
                <a16:creationId xmlns:a16="http://schemas.microsoft.com/office/drawing/2014/main" id="{B2F8B333-8AF7-4EEA-BB98-DC2224FC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7">
            <a:extLst xmlns:a="http://schemas.openxmlformats.org/drawingml/2006/main">
              <a:ext uri="{FF2B5EF4-FFF2-40B4-BE49-F238E27FC236}">
                <a16:creationId xmlns:a16="http://schemas.microsoft.com/office/drawing/2014/main" id="{71C7DE05-5CE2-4E0C-93E3-66E4720B6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782b3e5594f20"/>
          <a:stretch xmlns:a="http://schemas.openxmlformats.org/drawingml/2006/main"/>
        </p:blipFill>
        <p:spPr>
          <a:xfrm xmlns:a="http://schemas.openxmlformats.org/drawingml/2006/main">
            <a:off x="381000" y="2523014"/>
            <a:ext cx="3867150" cy="1869122"/>
          </a:xfrm>
          <a:prstGeom xmlns:a="http://schemas.openxmlformats.org/drawingml/2006/main" prst="rect">
            <a:avLst/>
          </a:prstGeom>
        </p:spPr>
      </p:pic>
      <p:sp>
        <p:nvSpPr>
          <p:cNvPr id="3" name="!!s16-caption">
            <a:extLst xmlns:a="http://schemas.openxmlformats.org/drawingml/2006/main">
              <a:ext uri="{FF2B5EF4-FFF2-40B4-BE49-F238E27FC236}">
                <a16:creationId xmlns:a16="http://schemas.microsoft.com/office/drawing/2014/main" id="{78F0CAF1-A194-45E7-B148-A20733D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6-section">
            <a:extLst xmlns:a="http://schemas.openxmlformats.org/drawingml/2006/main">
              <a:ext uri="{FF2B5EF4-FFF2-40B4-BE49-F238E27FC236}">
                <a16:creationId xmlns:a16="http://schemas.microsoft.com/office/drawing/2014/main" id="{44260EBC-530D-4D57-8F8A-E861953B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07</a:t>
            </a:r>
          </a:p>
        </p:txBody>
      </p:sp>
      <p:sp>
        <p:nvSpPr>
          <p:cNvPr id="5" name="!!actor-topic-07">
            <a:extLst xmlns:a="http://schemas.openxmlformats.org/drawingml/2006/main">
              <a:ext uri="{FF2B5EF4-FFF2-40B4-BE49-F238E27FC236}">
                <a16:creationId xmlns:a16="http://schemas.microsoft.com/office/drawing/2014/main" id="{8AF583CA-D05F-4C2A-B156-A3A7C2E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海洋地球工程研究框架</a:t>
            </a:r>
          </a:p>
        </p:txBody>
      </p:sp>
      <p:sp>
        <p:nvSpPr>
          <p:cNvPr id="6" name="!!s16-tag">
            <a:extLst xmlns:a="http://schemas.openxmlformats.org/drawingml/2006/main">
              <a:ext uri="{FF2B5EF4-FFF2-40B4-BE49-F238E27FC236}">
                <a16:creationId xmlns:a16="http://schemas.microsoft.com/office/drawing/2014/main" id="{22805D67-42D5-4FA5-8473-11ADB86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6-question">
            <a:extLst xmlns:a="http://schemas.openxmlformats.org/drawingml/2006/main">
              <a:ext uri="{FF2B5EF4-FFF2-40B4-BE49-F238E27FC236}">
                <a16:creationId xmlns:a16="http://schemas.microsoft.com/office/drawing/2014/main" id="{05DD94C7-DDCF-4B93-92E2-81B31B5A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吸收更多碳之前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怎样守住生态底线？</a:t>
            </a:r>
          </a:p>
        </p:txBody>
      </p:sp>
      <p:sp>
        <p:nvSpPr>
          <p:cNvPr id="8" name="!!s16-rule">
            <a:extLst xmlns:a="http://schemas.openxmlformats.org/drawingml/2006/main">
              <a:ext uri="{FF2B5EF4-FFF2-40B4-BE49-F238E27FC236}">
                <a16:creationId xmlns:a16="http://schemas.microsoft.com/office/drawing/2014/main" id="{67A32AB6-5101-4CC4-8C40-F4672F2B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6-analysis-0">
            <a:extLst xmlns:a="http://schemas.openxmlformats.org/drawingml/2006/main">
              <a:ext uri="{FF2B5EF4-FFF2-40B4-BE49-F238E27FC236}">
                <a16:creationId xmlns:a16="http://schemas.microsoft.com/office/drawing/2014/main" id="{FFBA3D5F-25E1-4AF9-9673-393335CF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框架用于逐案评估正当科学研究</a:t>
            </a:r>
          </a:p>
        </p:txBody>
      </p:sp>
      <p:sp>
        <p:nvSpPr>
          <p:cNvPr id="10" name="!!s16-analysis-1">
            <a:extLst xmlns:a="http://schemas.openxmlformats.org/drawingml/2006/main">
              <a:ext uri="{FF2B5EF4-FFF2-40B4-BE49-F238E27FC236}">
                <a16:creationId xmlns:a16="http://schemas.microsoft.com/office/drawing/2014/main" id="{8935133B-B9A0-497D-8A66-EF1ACB34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通过研究框架不等于批准商业规模部署</a:t>
            </a:r>
          </a:p>
        </p:txBody>
      </p:sp>
      <p:sp>
        <p:nvSpPr>
          <p:cNvPr id="11" name="!!s16-analysis-2">
            <a:extLst xmlns:a="http://schemas.openxmlformats.org/drawingml/2006/main">
              <a:ext uri="{FF2B5EF4-FFF2-40B4-BE49-F238E27FC236}">
                <a16:creationId xmlns:a16="http://schemas.microsoft.com/office/drawing/2014/main" id="{FB291DF2-8563-411E-832F-F68D5D5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知识有限时，预防原则要求先评估风险</a:t>
            </a:r>
          </a:p>
        </p:txBody>
      </p:sp>
      <p:sp>
        <p:nvSpPr>
          <p:cNvPr id="12" name="!!s16-footer">
            <a:extLst xmlns:a="http://schemas.openxmlformats.org/drawingml/2006/main">
              <a:ext uri="{FF2B5EF4-FFF2-40B4-BE49-F238E27FC236}">
                <a16:creationId xmlns:a16="http://schemas.microsoft.com/office/drawing/2014/main" id="{F585BA79-3B6E-4F54-AB45-BE63582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6-footer-paper">
            <a:extLst xmlns:a="http://schemas.openxmlformats.org/drawingml/2006/main">
              <a:ext uri="{FF2B5EF4-FFF2-40B4-BE49-F238E27FC236}">
                <a16:creationId xmlns:a16="http://schemas.microsoft.com/office/drawing/2014/main" id="{06E693E7-EBF5-4F24-9E6B-853B048E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6-page-paper">
            <a:extLst xmlns:a="http://schemas.openxmlformats.org/drawingml/2006/main">
              <a:ext uri="{FF2B5EF4-FFF2-40B4-BE49-F238E27FC236}">
                <a16:creationId xmlns:a16="http://schemas.microsoft.com/office/drawing/2014/main" id="{18B495CA-D179-4D35-BCC1-2C44499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16 / 25</a:t>
            </a:r>
          </a:p>
        </p:txBody>
      </p:sp>
    </p:spTree>
    <p:extLst>
      <p:ext uri="{BB962C8B-B14F-4D97-AF65-F5344CB8AC3E}">
        <p14:creationId xmlns:p14="http://schemas.microsoft.com/office/powerpoint/2010/main" val="1808474439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7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8">
            <a:extLst xmlns:a="http://schemas.openxmlformats.org/drawingml/2006/main">
              <a:ext uri="{FF2B5EF4-FFF2-40B4-BE49-F238E27FC236}">
                <a16:creationId xmlns:a16="http://schemas.microsoft.com/office/drawing/2014/main" id="{7BC195F5-86B4-442D-8830-E8B1DAA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8">
            <a:extLst xmlns:a="http://schemas.openxmlformats.org/drawingml/2006/main">
              <a:ext uri="{FF2B5EF4-FFF2-40B4-BE49-F238E27FC236}">
                <a16:creationId xmlns:a16="http://schemas.microsoft.com/office/drawing/2014/main" id="{2DAE5A00-04DB-4787-8EAF-58CE128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地中海污染合作五十年</a:t>
            </a:r>
          </a:p>
        </p:txBody>
      </p:sp>
      <p:sp>
        <p:nvSpPr>
          <p:cNvPr id="3" name="!!s17-date">
            <a:extLst xmlns:a="http://schemas.openxmlformats.org/drawingml/2006/main">
              <a:ext uri="{FF2B5EF4-FFF2-40B4-BE49-F238E27FC236}">
                <a16:creationId xmlns:a16="http://schemas.microsoft.com/office/drawing/2014/main" id="{A23EE450-95E9-4709-AD65-294FCA1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08</a:t>
            </a:r>
          </a:p>
        </p:txBody>
      </p:sp>
      <p:sp>
        <p:nvSpPr>
          <p:cNvPr id="4" name="!!s17-title">
            <a:extLst xmlns:a="http://schemas.openxmlformats.org/drawingml/2006/main">
              <a:ext uri="{FF2B5EF4-FFF2-40B4-BE49-F238E27FC236}">
                <a16:creationId xmlns:a16="http://schemas.microsoft.com/office/drawing/2014/main" id="{288D22E1-836D-4A95-8202-0D5B525C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REMPEC纪念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成立50周年</a:t>
            </a:r>
          </a:p>
        </p:txBody>
      </p:sp>
      <p:sp>
        <p:nvSpPr>
          <p:cNvPr id="5" name="!!s17-metric">
            <a:extLst xmlns:a="http://schemas.openxmlformats.org/drawingml/2006/main">
              <a:ext uri="{FF2B5EF4-FFF2-40B4-BE49-F238E27FC236}">
                <a16:creationId xmlns:a16="http://schemas.microsoft.com/office/drawing/2014/main" id="{C3718798-2902-4162-8E45-18A03F0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50年</a:t>
            </a:r>
          </a:p>
        </p:txBody>
      </p:sp>
      <p:sp>
        <p:nvSpPr>
          <p:cNvPr id="6" name="!!s17-label">
            <a:extLst xmlns:a="http://schemas.openxmlformats.org/drawingml/2006/main">
              <a:ext uri="{FF2B5EF4-FFF2-40B4-BE49-F238E27FC236}">
                <a16:creationId xmlns:a16="http://schemas.microsoft.com/office/drawing/2014/main" id="{BB19EE41-BE2B-4791-8868-5C340D91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地中海海洋污染合作历程</a:t>
            </a:r>
          </a:p>
        </p:txBody>
      </p:sp>
      <p:sp>
        <p:nvSpPr>
          <p:cNvPr id="7" name="!!s17-fact-0">
            <a:extLst xmlns:a="http://schemas.openxmlformats.org/drawingml/2006/main">
              <a:ext uri="{FF2B5EF4-FFF2-40B4-BE49-F238E27FC236}">
                <a16:creationId xmlns:a16="http://schemas.microsoft.com/office/drawing/2014/main" id="{56BBB5EC-D316-4F2F-A804-5F2DBA37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10月6日，REMPEC在马耳他举行周年纪念活动</a:t>
            </a:r>
          </a:p>
        </p:txBody>
      </p:sp>
      <p:sp>
        <p:nvSpPr>
          <p:cNvPr id="8" name="!!s17-fact-1">
            <a:extLst xmlns:a="http://schemas.openxmlformats.org/drawingml/2006/main">
              <a:ext uri="{FF2B5EF4-FFF2-40B4-BE49-F238E27FC236}">
                <a16:creationId xmlns:a16="http://schemas.microsoft.com/office/drawing/2014/main" id="{482E94AD-7E00-42BC-A8F9-F486D1F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中心成立于1976年，职责扩展至船舶污染预防</a:t>
            </a:r>
          </a:p>
        </p:txBody>
      </p:sp>
      <p:sp>
        <p:nvSpPr>
          <p:cNvPr id="9" name="!!s17-fact-2">
            <a:extLst xmlns:a="http://schemas.openxmlformats.org/drawingml/2006/main">
              <a:ext uri="{FF2B5EF4-FFF2-40B4-BE49-F238E27FC236}">
                <a16:creationId xmlns:a16="http://schemas.microsoft.com/office/drawing/2014/main" id="{D3E77F48-C596-480C-95E5-895702D6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过去五十年支持20国应急体系，培训逾5000人</a:t>
            </a:r>
          </a:p>
        </p:txBody>
      </p:sp>
      <p:pic>
        <p:nvPicPr>
          <p:cNvPr id="10" name="!!actor-photo-08">
            <a:extLst xmlns:a="http://schemas.openxmlformats.org/drawingml/2006/main">
              <a:ext uri="{FF2B5EF4-FFF2-40B4-BE49-F238E27FC236}">
                <a16:creationId xmlns:a16="http://schemas.microsoft.com/office/drawing/2014/main" id="{16C4EF0F-4809-4C5B-A8E8-AD7BD2427E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2847b64734eae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7-caption">
            <a:extLst xmlns:a="http://schemas.openxmlformats.org/drawingml/2006/main">
              <a:ext uri="{FF2B5EF4-FFF2-40B4-BE49-F238E27FC236}">
                <a16:creationId xmlns:a16="http://schemas.microsoft.com/office/drawing/2014/main" id="{3B941DEF-F0A2-40D0-9CE7-42DE8019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7-section">
            <a:extLst xmlns:a="http://schemas.openxmlformats.org/drawingml/2006/main">
              <a:ext uri="{FF2B5EF4-FFF2-40B4-BE49-F238E27FC236}">
                <a16:creationId xmlns:a16="http://schemas.microsoft.com/office/drawing/2014/main" id="{C2EE8DA2-A0CD-4C1D-8379-907610A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08</a:t>
            </a:r>
          </a:p>
        </p:txBody>
      </p:sp>
      <p:sp>
        <p:nvSpPr>
          <p:cNvPr id="13" name="!!s17-footer">
            <a:extLst xmlns:a="http://schemas.openxmlformats.org/drawingml/2006/main">
              <a:ext uri="{FF2B5EF4-FFF2-40B4-BE49-F238E27FC236}">
                <a16:creationId xmlns:a16="http://schemas.microsoft.com/office/drawing/2014/main" id="{56EFD6F0-9FB2-4CF0-88C1-1FE8338C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[08] 国际海事组织 IMO  2026-10-06</a:t>
            </a:r>
          </a:p>
        </p:txBody>
      </p:sp>
      <p:sp>
        <p:nvSpPr>
          <p:cNvPr id="14" name="!!s17-page">
            <a:extLst xmlns:a="http://schemas.openxmlformats.org/drawingml/2006/main">
              <a:ext uri="{FF2B5EF4-FFF2-40B4-BE49-F238E27FC236}">
                <a16:creationId xmlns:a16="http://schemas.microsoft.com/office/drawing/2014/main" id="{2F7CD8C3-700B-4E5C-8F9D-CCB4947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17 / 25</a:t>
            </a:r>
          </a:p>
        </p:txBody>
      </p:sp>
    </p:spTree>
    <p:extLst>
      <p:ext uri="{BB962C8B-B14F-4D97-AF65-F5344CB8AC3E}">
        <p14:creationId xmlns:p14="http://schemas.microsoft.com/office/powerpoint/2010/main" val="2012158724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18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8">
            <a:extLst xmlns:a="http://schemas.openxmlformats.org/drawingml/2006/main">
              <a:ext uri="{FF2B5EF4-FFF2-40B4-BE49-F238E27FC236}">
                <a16:creationId xmlns:a16="http://schemas.microsoft.com/office/drawing/2014/main" id="{5E4C2553-0965-4ADF-8327-3CBF8A7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8">
            <a:extLst xmlns:a="http://schemas.openxmlformats.org/drawingml/2006/main">
              <a:ext uri="{FF2B5EF4-FFF2-40B4-BE49-F238E27FC236}">
                <a16:creationId xmlns:a16="http://schemas.microsoft.com/office/drawing/2014/main" id="{BDA563EB-8257-4988-92D6-88AC3ABCF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3762a218c4155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18-caption">
            <a:extLst xmlns:a="http://schemas.openxmlformats.org/drawingml/2006/main">
              <a:ext uri="{FF2B5EF4-FFF2-40B4-BE49-F238E27FC236}">
                <a16:creationId xmlns:a16="http://schemas.microsoft.com/office/drawing/2014/main" id="{BEE69737-5B9A-4691-9D5F-590CF365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18-section">
            <a:extLst xmlns:a="http://schemas.openxmlformats.org/drawingml/2006/main">
              <a:ext uri="{FF2B5EF4-FFF2-40B4-BE49-F238E27FC236}">
                <a16:creationId xmlns:a16="http://schemas.microsoft.com/office/drawing/2014/main" id="{AF2A1FCF-E1C1-490F-B1A9-1AF47407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08</a:t>
            </a:r>
          </a:p>
        </p:txBody>
      </p:sp>
      <p:sp>
        <p:nvSpPr>
          <p:cNvPr id="5" name="!!actor-topic-08">
            <a:extLst xmlns:a="http://schemas.openxmlformats.org/drawingml/2006/main">
              <a:ext uri="{FF2B5EF4-FFF2-40B4-BE49-F238E27FC236}">
                <a16:creationId xmlns:a16="http://schemas.microsoft.com/office/drawing/2014/main" id="{B47057B4-69DD-415A-BDF7-F49E4C7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地中海污染合作五十年</a:t>
            </a:r>
          </a:p>
        </p:txBody>
      </p:sp>
      <p:sp>
        <p:nvSpPr>
          <p:cNvPr id="6" name="!!s18-tag">
            <a:extLst xmlns:a="http://schemas.openxmlformats.org/drawingml/2006/main">
              <a:ext uri="{FF2B5EF4-FFF2-40B4-BE49-F238E27FC236}">
                <a16:creationId xmlns:a16="http://schemas.microsoft.com/office/drawing/2014/main" id="{2ABC375F-E8E8-406A-9FB5-8661F1D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18-question">
            <a:extLst xmlns:a="http://schemas.openxmlformats.org/drawingml/2006/main">
              <a:ext uri="{FF2B5EF4-FFF2-40B4-BE49-F238E27FC236}">
                <a16:creationId xmlns:a16="http://schemas.microsoft.com/office/drawing/2014/main" id="{FB39B439-C13B-4268-954A-3DF9554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跨境海洋污染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怎样形成共同应对？</a:t>
            </a:r>
          </a:p>
        </p:txBody>
      </p:sp>
      <p:sp>
        <p:nvSpPr>
          <p:cNvPr id="8" name="!!s18-rule">
            <a:extLst xmlns:a="http://schemas.openxmlformats.org/drawingml/2006/main">
              <a:ext uri="{FF2B5EF4-FFF2-40B4-BE49-F238E27FC236}">
                <a16:creationId xmlns:a16="http://schemas.microsoft.com/office/drawing/2014/main" id="{D3F4EED5-5C04-4755-A586-15A29E1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18-analysis-0">
            <a:extLst xmlns:a="http://schemas.openxmlformats.org/drawingml/2006/main">
              <a:ext uri="{FF2B5EF4-FFF2-40B4-BE49-F238E27FC236}">
                <a16:creationId xmlns:a16="http://schemas.microsoft.com/office/drawing/2014/main" id="{6A9F3864-5DC5-4617-A006-A602BA2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污染影响可以跨境，应急能力需要区域协作</a:t>
            </a:r>
          </a:p>
        </p:txBody>
      </p:sp>
      <p:sp>
        <p:nvSpPr>
          <p:cNvPr id="10" name="!!s18-analysis-1">
            <a:extLst xmlns:a="http://schemas.openxmlformats.org/drawingml/2006/main">
              <a:ext uri="{FF2B5EF4-FFF2-40B4-BE49-F238E27FC236}">
                <a16:creationId xmlns:a16="http://schemas.microsoft.com/office/drawing/2014/main" id="{50363C9B-15DE-4592-8D56-AFA2A545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共同规则需落实为预案、人员与技术支持</a:t>
            </a:r>
          </a:p>
        </p:txBody>
      </p:sp>
      <p:sp>
        <p:nvSpPr>
          <p:cNvPr id="11" name="!!s18-analysis-2">
            <a:extLst xmlns:a="http://schemas.openxmlformats.org/drawingml/2006/main">
              <a:ext uri="{FF2B5EF4-FFF2-40B4-BE49-F238E27FC236}">
                <a16:creationId xmlns:a16="http://schemas.microsoft.com/office/drawing/2014/main" id="{E6E58B2A-1608-4EC8-9103-071B8BF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长期累计成果不能写成今年新增成果</a:t>
            </a:r>
          </a:p>
        </p:txBody>
      </p:sp>
      <p:sp>
        <p:nvSpPr>
          <p:cNvPr id="12" name="!!s18-footer">
            <a:extLst xmlns:a="http://schemas.openxmlformats.org/drawingml/2006/main">
              <a:ext uri="{FF2B5EF4-FFF2-40B4-BE49-F238E27FC236}">
                <a16:creationId xmlns:a16="http://schemas.microsoft.com/office/drawing/2014/main" id="{178F936B-A213-4838-BB30-583EE88A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18-footer-paper">
            <a:extLst xmlns:a="http://schemas.openxmlformats.org/drawingml/2006/main">
              <a:ext uri="{FF2B5EF4-FFF2-40B4-BE49-F238E27FC236}">
                <a16:creationId xmlns:a16="http://schemas.microsoft.com/office/drawing/2014/main" id="{B08CC839-E4D0-451F-A662-99D47D9C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18-page-paper">
            <a:extLst xmlns:a="http://schemas.openxmlformats.org/drawingml/2006/main">
              <a:ext uri="{FF2B5EF4-FFF2-40B4-BE49-F238E27FC236}">
                <a16:creationId xmlns:a16="http://schemas.microsoft.com/office/drawing/2014/main" id="{465E5070-08E2-42E9-AA4D-1D38957D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18 / 25</a:t>
            </a:r>
          </a:p>
        </p:txBody>
      </p:sp>
    </p:spTree>
    <p:extLst>
      <p:ext uri="{BB962C8B-B14F-4D97-AF65-F5344CB8AC3E}">
        <p14:creationId xmlns:p14="http://schemas.microsoft.com/office/powerpoint/2010/main" val="1676003326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1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9">
            <a:extLst xmlns:a="http://schemas.openxmlformats.org/drawingml/2006/main">
              <a:ext uri="{FF2B5EF4-FFF2-40B4-BE49-F238E27FC236}">
                <a16:creationId xmlns:a16="http://schemas.microsoft.com/office/drawing/2014/main" id="{74DEA428-0830-47D3-B14F-26E27493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09">
            <a:extLst xmlns:a="http://schemas.openxmlformats.org/drawingml/2006/main">
              <a:ext uri="{FF2B5EF4-FFF2-40B4-BE49-F238E27FC236}">
                <a16:creationId xmlns:a16="http://schemas.microsoft.com/office/drawing/2014/main" id="{1A94FA00-85B6-4E40-AAD4-5D02ED6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塞内加尔海运单一窗口</a:t>
            </a:r>
          </a:p>
        </p:txBody>
      </p:sp>
      <p:sp>
        <p:nvSpPr>
          <p:cNvPr id="3" name="!!s19-date">
            <a:extLst xmlns:a="http://schemas.openxmlformats.org/drawingml/2006/main">
              <a:ext uri="{FF2B5EF4-FFF2-40B4-BE49-F238E27FC236}">
                <a16:creationId xmlns:a16="http://schemas.microsoft.com/office/drawing/2014/main" id="{20EC76B3-B2FB-491B-A04B-4856125F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 演讲者 09</a:t>
            </a:r>
          </a:p>
        </p:txBody>
      </p:sp>
      <p:sp>
        <p:nvSpPr>
          <p:cNvPr id="4" name="!!s19-title">
            <a:extLst xmlns:a="http://schemas.openxmlformats.org/drawingml/2006/main">
              <a:ext uri="{FF2B5EF4-FFF2-40B4-BE49-F238E27FC236}">
                <a16:creationId xmlns:a16="http://schemas.microsoft.com/office/drawing/2014/main" id="{502A2CDB-CD63-496C-8C5F-FE35CF4E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达喀尔港开展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数字化需求评估</a:t>
            </a:r>
          </a:p>
        </p:txBody>
      </p:sp>
      <p:sp>
        <p:nvSpPr>
          <p:cNvPr id="5" name="!!s19-metric">
            <a:extLst xmlns:a="http://schemas.openxmlformats.org/drawingml/2006/main">
              <a:ext uri="{FF2B5EF4-FFF2-40B4-BE49-F238E27FC236}">
                <a16:creationId xmlns:a16="http://schemas.microsoft.com/office/drawing/2014/main" id="{7636E37D-0F86-48EF-846B-1E6D919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5至9日</a:t>
            </a:r>
          </a:p>
        </p:txBody>
      </p:sp>
      <p:sp>
        <p:nvSpPr>
          <p:cNvPr id="6" name="!!s19-label">
            <a:extLst xmlns:a="http://schemas.openxmlformats.org/drawingml/2006/main">
              <a:ext uri="{FF2B5EF4-FFF2-40B4-BE49-F238E27FC236}">
                <a16:creationId xmlns:a16="http://schemas.microsoft.com/office/drawing/2014/main" id="{DCAE677F-7DDB-4614-B035-67A80993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IMO需求评估任务的开展时间</a:t>
            </a:r>
          </a:p>
        </p:txBody>
      </p:sp>
      <p:sp>
        <p:nvSpPr>
          <p:cNvPr id="7" name="!!s19-fact-0">
            <a:extLst xmlns:a="http://schemas.openxmlformats.org/drawingml/2006/main">
              <a:ext uri="{FF2B5EF4-FFF2-40B4-BE49-F238E27FC236}">
                <a16:creationId xmlns:a16="http://schemas.microsoft.com/office/drawing/2014/main" id="{BA544EFF-2412-4ABC-BC97-9C5F130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IMO支持塞内加尔筹备海运单一窗口</a:t>
            </a:r>
          </a:p>
        </p:txBody>
      </p:sp>
      <p:sp>
        <p:nvSpPr>
          <p:cNvPr id="8" name="!!s19-fact-1">
            <a:extLst xmlns:a="http://schemas.openxmlformats.org/drawingml/2006/main">
              <a:ext uri="{FF2B5EF4-FFF2-40B4-BE49-F238E27FC236}">
                <a16:creationId xmlns:a16="http://schemas.microsoft.com/office/drawing/2014/main" id="{E9E3D301-0A2B-4F80-BAED-96D3D158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任务评估港口流程、制度框架和系统建设需求</a:t>
            </a:r>
          </a:p>
        </p:txBody>
      </p:sp>
      <p:sp>
        <p:nvSpPr>
          <p:cNvPr id="9" name="!!s19-fact-2">
            <a:extLst xmlns:a="http://schemas.openxmlformats.org/drawingml/2006/main">
              <a:ext uri="{FF2B5EF4-FFF2-40B4-BE49-F238E27FC236}">
                <a16:creationId xmlns:a16="http://schemas.microsoft.com/office/drawing/2014/main" id="{F18D7FB4-3D09-47F3-801C-478253F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参与方包含海关、港口卫生、边检与航运企业</a:t>
            </a:r>
          </a:p>
        </p:txBody>
      </p:sp>
      <p:pic>
        <p:nvPicPr>
          <p:cNvPr id="10" name="!!actor-photo-09">
            <a:extLst xmlns:a="http://schemas.openxmlformats.org/drawingml/2006/main">
              <a:ext uri="{FF2B5EF4-FFF2-40B4-BE49-F238E27FC236}">
                <a16:creationId xmlns:a16="http://schemas.microsoft.com/office/drawing/2014/main" id="{D6578038-AD42-4CEE-BBED-2ECDB68F0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de884215840e7"/>
          <a:stretch xmlns:a="http://schemas.openxmlformats.org/drawingml/2006/main"/>
        </p:blipFill>
        <p:spPr>
          <a:xfrm xmlns:a="http://schemas.openxmlformats.org/drawingml/2006/main">
            <a:off x="7658100" y="1733550"/>
            <a:ext cx="4191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!!s19-caption">
            <a:extLst xmlns:a="http://schemas.openxmlformats.org/drawingml/2006/main">
              <a:ext uri="{FF2B5EF4-FFF2-40B4-BE49-F238E27FC236}">
                <a16:creationId xmlns:a16="http://schemas.microsoft.com/office/drawing/2014/main" id="{AA7800F5-F3B4-4A61-8C38-3B4B850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19-section">
            <a:extLst xmlns:a="http://schemas.openxmlformats.org/drawingml/2006/main">
              <a:ext uri="{FF2B5EF4-FFF2-40B4-BE49-F238E27FC236}">
                <a16:creationId xmlns:a16="http://schemas.microsoft.com/office/drawing/2014/main" id="{495B3D77-B086-4B40-A106-32EB847B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09</a:t>
            </a:r>
          </a:p>
        </p:txBody>
      </p:sp>
      <p:sp>
        <p:nvSpPr>
          <p:cNvPr id="13" name="!!s19-footer">
            <a:extLst xmlns:a="http://schemas.openxmlformats.org/drawingml/2006/main">
              <a:ext uri="{FF2B5EF4-FFF2-40B4-BE49-F238E27FC236}">
                <a16:creationId xmlns:a16="http://schemas.microsoft.com/office/drawing/2014/main" id="{EAF003E7-CD91-40A3-A1D0-46373CD0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[09] 国际海事组织 IMO  2026-10-09</a:t>
            </a:r>
          </a:p>
        </p:txBody>
      </p:sp>
      <p:sp>
        <p:nvSpPr>
          <p:cNvPr id="14" name="!!s19-page">
            <a:extLst xmlns:a="http://schemas.openxmlformats.org/drawingml/2006/main">
              <a:ext uri="{FF2B5EF4-FFF2-40B4-BE49-F238E27FC236}">
                <a16:creationId xmlns:a16="http://schemas.microsoft.com/office/drawing/2014/main" id="{356ECA8B-3631-4A9B-9C46-DC5BE598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19 / 25</a:t>
            </a:r>
          </a:p>
        </p:txBody>
      </p:sp>
    </p:spTree>
    <p:extLst>
      <p:ext uri="{BB962C8B-B14F-4D97-AF65-F5344CB8AC3E}">
        <p14:creationId xmlns:p14="http://schemas.microsoft.com/office/powerpoint/2010/main" val="324968718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20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09">
            <a:extLst xmlns:a="http://schemas.openxmlformats.org/drawingml/2006/main">
              <a:ext uri="{FF2B5EF4-FFF2-40B4-BE49-F238E27FC236}">
                <a16:creationId xmlns:a16="http://schemas.microsoft.com/office/drawing/2014/main" id="{3331108B-CF25-480E-B4CD-4169442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09">
            <a:extLst xmlns:a="http://schemas.openxmlformats.org/drawingml/2006/main">
              <a:ext uri="{FF2B5EF4-FFF2-40B4-BE49-F238E27FC236}">
                <a16:creationId xmlns:a16="http://schemas.microsoft.com/office/drawing/2014/main" id="{480613E0-78AC-4A98-82C8-851C38ED3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a57becdc24a16"/>
          <a:stretch xmlns:a="http://schemas.openxmlformats.org/drawingml/2006/main"/>
        </p:blipFill>
        <p:spPr>
          <a:xfrm xmlns:a="http://schemas.openxmlformats.org/drawingml/2006/main">
            <a:off x="381000" y="2007394"/>
            <a:ext cx="3867150" cy="2900363"/>
          </a:xfrm>
          <a:prstGeom xmlns:a="http://schemas.openxmlformats.org/drawingml/2006/main" prst="rect">
            <a:avLst/>
          </a:prstGeom>
        </p:spPr>
      </p:pic>
      <p:sp>
        <p:nvSpPr>
          <p:cNvPr id="3" name="!!s20-caption">
            <a:extLst xmlns:a="http://schemas.openxmlformats.org/drawingml/2006/main">
              <a:ext uri="{FF2B5EF4-FFF2-40B4-BE49-F238E27FC236}">
                <a16:creationId xmlns:a16="http://schemas.microsoft.com/office/drawing/2014/main" id="{50051CE2-2423-4BA6-AAC9-5B1ED4D0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20-section">
            <a:extLst xmlns:a="http://schemas.openxmlformats.org/drawingml/2006/main">
              <a:ext uri="{FF2B5EF4-FFF2-40B4-BE49-F238E27FC236}">
                <a16:creationId xmlns:a16="http://schemas.microsoft.com/office/drawing/2014/main" id="{33642B46-602D-48B3-84D9-A6CE1D2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09</a:t>
            </a:r>
          </a:p>
        </p:txBody>
      </p:sp>
      <p:sp>
        <p:nvSpPr>
          <p:cNvPr id="5" name="!!actor-topic-09">
            <a:extLst xmlns:a="http://schemas.openxmlformats.org/drawingml/2006/main">
              <a:ext uri="{FF2B5EF4-FFF2-40B4-BE49-F238E27FC236}">
                <a16:creationId xmlns:a16="http://schemas.microsoft.com/office/drawing/2014/main" id="{E4D69FDB-74AE-4F18-BF26-732BA9D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塞内加尔海运单一窗口</a:t>
            </a:r>
          </a:p>
        </p:txBody>
      </p:sp>
      <p:sp>
        <p:nvSpPr>
          <p:cNvPr id="6" name="!!s20-tag">
            <a:extLst xmlns:a="http://schemas.openxmlformats.org/drawingml/2006/main">
              <a:ext uri="{FF2B5EF4-FFF2-40B4-BE49-F238E27FC236}">
                <a16:creationId xmlns:a16="http://schemas.microsoft.com/office/drawing/2014/main" id="{429853F1-88F5-48F1-936D-EA00BEB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20-question">
            <a:extLst xmlns:a="http://schemas.openxmlformats.org/drawingml/2006/main">
              <a:ext uri="{FF2B5EF4-FFF2-40B4-BE49-F238E27FC236}">
                <a16:creationId xmlns:a16="http://schemas.microsoft.com/office/drawing/2014/main" id="{4CF33643-10AD-43A4-A189-C12639F6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信息只提交一次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监管怎样各司其职？</a:t>
            </a:r>
          </a:p>
        </p:txBody>
      </p:sp>
      <p:sp>
        <p:nvSpPr>
          <p:cNvPr id="8" name="!!s20-rule">
            <a:extLst xmlns:a="http://schemas.openxmlformats.org/drawingml/2006/main">
              <a:ext uri="{FF2B5EF4-FFF2-40B4-BE49-F238E27FC236}">
                <a16:creationId xmlns:a16="http://schemas.microsoft.com/office/drawing/2014/main" id="{EA7B2FFC-A90C-41FC-94A4-775B5325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20-analysis-0">
            <a:extLst xmlns:a="http://schemas.openxmlformats.org/drawingml/2006/main">
              <a:ext uri="{FF2B5EF4-FFF2-40B4-BE49-F238E27FC236}">
                <a16:creationId xmlns:a16="http://schemas.microsoft.com/office/drawing/2014/main" id="{B1ABB307-3C82-474E-8C38-919A0B5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单一窗口整合船舶进港、停留和离港信息</a:t>
            </a:r>
          </a:p>
        </p:txBody>
      </p:sp>
      <p:sp>
        <p:nvSpPr>
          <p:cNvPr id="10" name="!!s20-analysis-1">
            <a:extLst xmlns:a="http://schemas.openxmlformats.org/drawingml/2006/main">
              <a:ext uri="{FF2B5EF4-FFF2-40B4-BE49-F238E27FC236}">
                <a16:creationId xmlns:a16="http://schemas.microsoft.com/office/drawing/2014/main" id="{281E5B97-0332-4119-B311-40577689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数字化需要明确数据权限与部门职责</a:t>
            </a:r>
          </a:p>
        </p:txBody>
      </p:sp>
      <p:sp>
        <p:nvSpPr>
          <p:cNvPr id="11" name="!!s20-analysis-2">
            <a:extLst xmlns:a="http://schemas.openxmlformats.org/drawingml/2006/main">
              <a:ext uri="{FF2B5EF4-FFF2-40B4-BE49-F238E27FC236}">
                <a16:creationId xmlns:a16="http://schemas.microsoft.com/office/drawing/2014/main" id="{C8D19AAA-5F53-4E01-92F8-4F82ED5D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此次是需求评估，不能说系统已经上线</a:t>
            </a:r>
          </a:p>
        </p:txBody>
      </p:sp>
      <p:sp>
        <p:nvSpPr>
          <p:cNvPr id="12" name="!!s20-footer">
            <a:extLst xmlns:a="http://schemas.openxmlformats.org/drawingml/2006/main">
              <a:ext uri="{FF2B5EF4-FFF2-40B4-BE49-F238E27FC236}">
                <a16:creationId xmlns:a16="http://schemas.microsoft.com/office/drawing/2014/main" id="{0E06D842-28FA-41A9-A875-CA9035C4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20-footer-paper">
            <a:extLst xmlns:a="http://schemas.openxmlformats.org/drawingml/2006/main">
              <a:ext uri="{FF2B5EF4-FFF2-40B4-BE49-F238E27FC236}">
                <a16:creationId xmlns:a16="http://schemas.microsoft.com/office/drawing/2014/main" id="{4D5744BB-57D2-438B-B454-92F70B7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20-page-paper">
            <a:extLst xmlns:a="http://schemas.openxmlformats.org/drawingml/2006/main">
              <a:ext uri="{FF2B5EF4-FFF2-40B4-BE49-F238E27FC236}">
                <a16:creationId xmlns:a16="http://schemas.microsoft.com/office/drawing/2014/main" id="{53109C3F-B377-421E-B41B-8DE1C40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 / 25</a:t>
            </a:r>
          </a:p>
        </p:txBody>
      </p:sp>
    </p:spTree>
    <p:extLst>
      <p:ext uri="{BB962C8B-B14F-4D97-AF65-F5344CB8AC3E}">
        <p14:creationId xmlns:p14="http://schemas.microsoft.com/office/powerpoint/2010/main" val="339363016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21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10">
            <a:extLst xmlns:a="http://schemas.openxmlformats.org/drawingml/2006/main">
              <a:ext uri="{FF2B5EF4-FFF2-40B4-BE49-F238E27FC236}">
                <a16:creationId xmlns:a16="http://schemas.microsoft.com/office/drawing/2014/main" id="{8644E92C-201F-474C-B321-3080F76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sp>
        <p:nvSpPr>
          <p:cNvPr id="2" name="!!actor-topic-10">
            <a:extLst xmlns:a="http://schemas.openxmlformats.org/drawingml/2006/main">
              <a:ext uri="{FF2B5EF4-FFF2-40B4-BE49-F238E27FC236}">
                <a16:creationId xmlns:a16="http://schemas.microsoft.com/office/drawing/2014/main" id="{ACD2B24D-3F1B-4B15-9A28-57964C76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公海条约秘书处选址</a:t>
            </a:r>
          </a:p>
        </p:txBody>
      </p:sp>
      <p:sp>
        <p:nvSpPr>
          <p:cNvPr id="3" name="!!s21-date">
            <a:extLst xmlns:a="http://schemas.openxmlformats.org/drawingml/2006/main">
              <a:ext uri="{FF2B5EF4-FFF2-40B4-BE49-F238E27FC236}">
                <a16:creationId xmlns:a16="http://schemas.microsoft.com/office/drawing/2014/main" id="{A432A9FC-8BE0-4451-8160-F1E44C9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 演讲者 10</a:t>
            </a:r>
          </a:p>
        </p:txBody>
      </p:sp>
      <p:sp>
        <p:nvSpPr>
          <p:cNvPr id="4" name="!!s21-title">
            <a:extLst xmlns:a="http://schemas.openxmlformats.org/drawingml/2006/main">
              <a:ext uri="{FF2B5EF4-FFF2-40B4-BE49-F238E27FC236}">
                <a16:creationId xmlns:a16="http://schemas.microsoft.com/office/drawing/2014/main" id="{892FC55B-084F-4C39-ACB3-B5079F53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238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智利重申竞逐</a:t>
            </a:r>
          </a:p>
          <a:p xmlns:a="http://schemas.openxmlformats.org/drawingml/2006/main">
            <a:pPr algn="l">
              <a:defRPr sz="4275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75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BBNJ秘书处驻地</a:t>
            </a:r>
          </a:p>
        </p:txBody>
      </p:sp>
      <p:sp>
        <p:nvSpPr>
          <p:cNvPr id="5" name="!!s21-metric">
            <a:extLst xmlns:a="http://schemas.openxmlformats.org/drawingml/2006/main">
              <a:ext uri="{FF2B5EF4-FFF2-40B4-BE49-F238E27FC236}">
                <a16:creationId xmlns:a16="http://schemas.microsoft.com/office/drawing/2014/main" id="{AFA4AF1D-47CB-4CF9-973F-0A5399F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1531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3城</a:t>
            </a:r>
          </a:p>
        </p:txBody>
      </p:sp>
      <p:sp>
        <p:nvSpPr>
          <p:cNvPr id="6" name="!!s21-label">
            <a:extLst xmlns:a="http://schemas.openxmlformats.org/drawingml/2006/main">
              <a:ext uri="{FF2B5EF4-FFF2-40B4-BE49-F238E27FC236}">
                <a16:creationId xmlns:a16="http://schemas.microsoft.com/office/drawing/2014/main" id="{9D4FBCCB-8FF0-4817-BE7E-6B13932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615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报道列出的秘书处驻地候选城市</a:t>
            </a:r>
          </a:p>
        </p:txBody>
      </p:sp>
      <p:sp>
        <p:nvSpPr>
          <p:cNvPr id="7" name="!!s21-fact-0">
            <a:extLst xmlns:a="http://schemas.openxmlformats.org/drawingml/2006/main">
              <a:ext uri="{FF2B5EF4-FFF2-40B4-BE49-F238E27FC236}">
                <a16:creationId xmlns:a16="http://schemas.microsoft.com/office/drawing/2014/main" id="{945C4F14-DC37-4587-A5FA-1C0F2A4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本周报道：智利继续支持瓦尔帕莱索申办</a:t>
            </a:r>
          </a:p>
        </p:txBody>
      </p:sp>
      <p:sp>
        <p:nvSpPr>
          <p:cNvPr id="8" name="!!s21-fact-1">
            <a:extLst xmlns:a="http://schemas.openxmlformats.org/drawingml/2006/main">
              <a:ext uri="{FF2B5EF4-FFF2-40B4-BE49-F238E27FC236}">
                <a16:creationId xmlns:a16="http://schemas.microsoft.com/office/drawing/2014/main" id="{FC35D03A-6BC6-418F-9A47-464A05B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竞争方案包括中国厦门、比利时布鲁塞尔</a:t>
            </a:r>
          </a:p>
        </p:txBody>
      </p:sp>
      <p:sp>
        <p:nvSpPr>
          <p:cNvPr id="9" name="!!s21-fact-2">
            <a:extLst xmlns:a="http://schemas.openxmlformats.org/drawingml/2006/main">
              <a:ext uri="{FF2B5EF4-FFF2-40B4-BE49-F238E27FC236}">
                <a16:creationId xmlns:a16="http://schemas.microsoft.com/office/drawing/2014/main" id="{BFAB8272-2134-43D5-8CBE-69ADCC37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615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驻地仍待缔约方会议决定，不能当作已定结果</a:t>
            </a:r>
          </a:p>
        </p:txBody>
      </p:sp>
      <p:pic>
        <p:nvPicPr>
          <p:cNvPr id="10" name="!!actor-photo-10">
            <a:extLst xmlns:a="http://schemas.openxmlformats.org/drawingml/2006/main">
              <a:ext uri="{FF2B5EF4-FFF2-40B4-BE49-F238E27FC236}">
                <a16:creationId xmlns:a16="http://schemas.microsoft.com/office/drawing/2014/main" id="{96F11BE9-4AA0-49FB-9E75-AFEFC505C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32eb7b7c94fe6"/>
          <a:stretch xmlns:a="http://schemas.openxmlformats.org/drawingml/2006/main"/>
        </p:blipFill>
        <p:spPr>
          <a:xfrm xmlns:a="http://schemas.openxmlformats.org/drawingml/2006/main">
            <a:off x="7658100" y="2126456"/>
            <a:ext cx="4191000" cy="2357438"/>
          </a:xfrm>
          <a:prstGeom xmlns:a="http://schemas.openxmlformats.org/drawingml/2006/main" prst="rect">
            <a:avLst/>
          </a:prstGeom>
        </p:spPr>
      </p:pic>
      <p:sp>
        <p:nvSpPr>
          <p:cNvPr id="11" name="!!s21-caption">
            <a:extLst xmlns:a="http://schemas.openxmlformats.org/drawingml/2006/main">
              <a:ext uri="{FF2B5EF4-FFF2-40B4-BE49-F238E27FC236}">
                <a16:creationId xmlns:a16="http://schemas.microsoft.com/office/drawing/2014/main" id="{26AC2ADA-D238-4C6C-A025-2CC3A8C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12" name="!!s21-section">
            <a:extLst xmlns:a="http://schemas.openxmlformats.org/drawingml/2006/main">
              <a:ext uri="{FF2B5EF4-FFF2-40B4-BE49-F238E27FC236}">
                <a16:creationId xmlns:a16="http://schemas.microsoft.com/office/drawing/2014/main" id="{BF3F99F5-34A7-4D74-8067-456C98B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34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13" name="!!s21-footer">
            <a:extLst xmlns:a="http://schemas.openxmlformats.org/drawingml/2006/main">
              <a:ext uri="{FF2B5EF4-FFF2-40B4-BE49-F238E27FC236}">
                <a16:creationId xmlns:a16="http://schemas.microsoft.com/office/drawing/2014/main" id="{84E0AC12-B05A-4D17-8715-87052CC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[10] Climate Home News  2026-10-06</a:t>
            </a:r>
          </a:p>
        </p:txBody>
      </p:sp>
      <p:sp>
        <p:nvSpPr>
          <p:cNvPr id="14" name="!!s21-page">
            <a:extLst xmlns:a="http://schemas.openxmlformats.org/drawingml/2006/main">
              <a:ext uri="{FF2B5EF4-FFF2-40B4-BE49-F238E27FC236}">
                <a16:creationId xmlns:a16="http://schemas.microsoft.com/office/drawing/2014/main" id="{B89DA694-922F-4192-B710-BB7A718D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21 / 25</a:t>
            </a:r>
          </a:p>
        </p:txBody>
      </p:sp>
    </p:spTree>
    <p:extLst>
      <p:ext uri="{BB962C8B-B14F-4D97-AF65-F5344CB8AC3E}">
        <p14:creationId xmlns:p14="http://schemas.microsoft.com/office/powerpoint/2010/main" val="760143699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1" accel="5000" decel="6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1" presetClass="entr" presetSubtype="0" accel="5000" decel="6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accel="5000" decel="6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accel="5000" decel="65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0"/>
                            </p:stCondLst>
                            <p:childTnLst>
                              <p:par>
                                <p:cTn id="25" presetID="10" presetClass="entr" presetSubtype="0" accel="5000" decel="65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10" presetClass="entr" presetSubtype="0" accel="5000" decel="65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80"/>
                            </p:stCondLst>
                            <p:childTnLst>
                              <p:par>
                                <p:cTn id="35" presetID="20" presetClass="entr" presetSubtype="2" accel="5000" decel="65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/>
      <p:bldP spid="8" grpId="4"/>
      <p:bldP spid="9" grpId="5"/>
      <p:bldP spid="11" grpId="6"/>
    </p:bldLst>
  </p:timing>
</p:sld>
</file>

<file path=ppt/slides/slide22.xml><?xml version="1.0" encoding="utf-8"?>
<p:sld xmlns:a="http://schemas.openxmlformats.org/drawingml/2006/main" xmlns:a16="http://schemas.microsoft.com/office/drawing/2014/main" xmlns:r="http://schemas.openxmlformats.org/officeDocument/2006/relationships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!!actor-field-10">
            <a:extLst xmlns:a="http://schemas.openxmlformats.org/drawingml/2006/main">
              <a:ext uri="{FF2B5EF4-FFF2-40B4-BE49-F238E27FC236}">
                <a16:creationId xmlns:a16="http://schemas.microsoft.com/office/drawing/2014/main" id="{93A26886-3328-4038-99D5-1C3DFD6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C47"/>
          </a:solidFill>
          <a:ln xmlns:a="http://schemas.openxmlformats.org/drawingml/2006/main" w="0">
            <a:noFill/>
          </a:ln>
        </p:spPr>
      </p:sp>
      <p:pic>
        <p:nvPicPr>
          <p:cNvPr id="2" name="!!actor-photo-10">
            <a:extLst xmlns:a="http://schemas.openxmlformats.org/drawingml/2006/main">
              <a:ext uri="{FF2B5EF4-FFF2-40B4-BE49-F238E27FC236}">
                <a16:creationId xmlns:a16="http://schemas.microsoft.com/office/drawing/2014/main" id="{13E5E1BD-8970-4B0F-98CA-F7F7C05A9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95f84e9d24284"/>
          <a:stretch xmlns:a="http://schemas.openxmlformats.org/drawingml/2006/main"/>
        </p:blipFill>
        <p:spPr>
          <a:xfrm xmlns:a="http://schemas.openxmlformats.org/drawingml/2006/main">
            <a:off x="381000" y="2369939"/>
            <a:ext cx="3867150" cy="2175272"/>
          </a:xfrm>
          <a:prstGeom xmlns:a="http://schemas.openxmlformats.org/drawingml/2006/main" prst="rect">
            <a:avLst/>
          </a:prstGeom>
        </p:spPr>
      </p:pic>
      <p:sp>
        <p:nvSpPr>
          <p:cNvPr id="3" name="!!s22-caption">
            <a:extLst xmlns:a="http://schemas.openxmlformats.org/drawingml/2006/main">
              <a:ext uri="{FF2B5EF4-FFF2-40B4-BE49-F238E27FC236}">
                <a16:creationId xmlns:a16="http://schemas.microsoft.com/office/drawing/2014/main" id="{C05F8A53-726E-4B66-9A3F-12E2A29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原报道配图</a:t>
            </a:r>
          </a:p>
        </p:txBody>
      </p:sp>
      <p:sp>
        <p:nvSpPr>
          <p:cNvPr id="4" name="!!s22-section">
            <a:extLst xmlns:a="http://schemas.openxmlformats.org/drawingml/2006/main">
              <a:ext uri="{FF2B5EF4-FFF2-40B4-BE49-F238E27FC236}">
                <a16:creationId xmlns:a16="http://schemas.microsoft.com/office/drawing/2014/main" id="{573D1951-989E-4E25-81A7-534974A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4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5" name="!!actor-topic-10">
            <a:extLst xmlns:a="http://schemas.openxmlformats.org/drawingml/2006/main">
              <a:ext uri="{FF2B5EF4-FFF2-40B4-BE49-F238E27FC236}">
                <a16:creationId xmlns:a16="http://schemas.microsoft.com/office/drawing/2014/main" id="{6C9F7C6C-AAB8-4489-B3A1-10811B81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公海条约秘书处选址</a:t>
            </a:r>
          </a:p>
        </p:txBody>
      </p:sp>
      <p:sp>
        <p:nvSpPr>
          <p:cNvPr id="6" name="!!s22-tag">
            <a:extLst xmlns:a="http://schemas.openxmlformats.org/drawingml/2006/main">
              <a:ext uri="{FF2B5EF4-FFF2-40B4-BE49-F238E27FC236}">
                <a16:creationId xmlns:a16="http://schemas.microsoft.com/office/drawing/2014/main" id="{6D1071FD-1622-46A1-9F5B-C2878E0D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1442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法治观察</a:t>
            </a:r>
          </a:p>
        </p:txBody>
      </p:sp>
      <p:sp>
        <p:nvSpPr>
          <p:cNvPr id="7" name="!!s22-question">
            <a:extLst xmlns:a="http://schemas.openxmlformats.org/drawingml/2006/main">
              <a:ext uri="{FF2B5EF4-FFF2-40B4-BE49-F238E27FC236}">
                <a16:creationId xmlns:a16="http://schemas.microsoft.com/office/drawing/2014/main" id="{92F66024-2ADE-47AA-82F8-4590D951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85925"/>
            <a:ext cx="6334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公海治理机构</a:t>
            </a:r>
          </a:p>
          <a:p xmlns:a="http://schemas.openxmlformats.org/drawingml/2006/main">
            <a:pPr algn="l">
              <a:defRPr sz="42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怎样做到开放与有效？</a:t>
            </a:r>
          </a:p>
        </p:txBody>
      </p:sp>
      <p:sp>
        <p:nvSpPr>
          <p:cNvPr id="8" name="!!s22-rule">
            <a:extLst xmlns:a="http://schemas.openxmlformats.org/drawingml/2006/main">
              <a:ext uri="{FF2B5EF4-FFF2-40B4-BE49-F238E27FC236}">
                <a16:creationId xmlns:a16="http://schemas.microsoft.com/office/drawing/2014/main" id="{1835A4E3-1714-41F7-93B9-77A6893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9" name="!!s22-analysis-0">
            <a:extLst xmlns:a="http://schemas.openxmlformats.org/drawingml/2006/main">
              <a:ext uri="{FF2B5EF4-FFF2-40B4-BE49-F238E27FC236}">
                <a16:creationId xmlns:a16="http://schemas.microsoft.com/office/drawing/2014/main" id="{345B421B-8E43-44A6-9D89-3C8BB99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BBNJ关注国家管辖范围外的海洋生物多样性</a:t>
            </a:r>
          </a:p>
        </p:txBody>
      </p:sp>
      <p:sp>
        <p:nvSpPr>
          <p:cNvPr id="10" name="!!s22-analysis-1">
            <a:extLst xmlns:a="http://schemas.openxmlformats.org/drawingml/2006/main">
              <a:ext uri="{FF2B5EF4-FFF2-40B4-BE49-F238E27FC236}">
                <a16:creationId xmlns:a16="http://schemas.microsoft.com/office/drawing/2014/main" id="{9B019FA6-D73C-46E4-A484-A119289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驻地讨论涉及参与成本、科学合作和数据治理</a:t>
            </a:r>
          </a:p>
        </p:txBody>
      </p:sp>
      <p:sp>
        <p:nvSpPr>
          <p:cNvPr id="11" name="!!s22-analysis-2">
            <a:extLst xmlns:a="http://schemas.openxmlformats.org/drawingml/2006/main">
              <a:ext uri="{FF2B5EF4-FFF2-40B4-BE49-F238E27FC236}">
                <a16:creationId xmlns:a16="http://schemas.microsoft.com/office/drawing/2014/main" id="{2A3E6FA5-17DA-48ED-A5E3-D9A7D874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机构设立之后仍要推动保护措施落实</a:t>
            </a:r>
          </a:p>
        </p:txBody>
      </p:sp>
      <p:sp>
        <p:nvSpPr>
          <p:cNvPr id="12" name="!!s22-footer">
            <a:extLst xmlns:a="http://schemas.openxmlformats.org/drawingml/2006/main">
              <a:ext uri="{FF2B5EF4-FFF2-40B4-BE49-F238E27FC236}">
                <a16:creationId xmlns:a16="http://schemas.microsoft.com/office/drawing/2014/main" id="{4239E6F0-E294-4D70-A9AA-A856B0A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13" name="!!s22-footer-paper">
            <a:extLst xmlns:a="http://schemas.openxmlformats.org/drawingml/2006/main">
              <a:ext uri="{FF2B5EF4-FFF2-40B4-BE49-F238E27FC236}">
                <a16:creationId xmlns:a16="http://schemas.microsoft.com/office/drawing/2014/main" id="{9DC6B192-4C0E-4D41-85A3-6867A196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67475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本组法治观察  事实来源见前页</a:t>
            </a:r>
          </a:p>
        </p:txBody>
      </p:sp>
      <p:sp>
        <p:nvSpPr>
          <p:cNvPr id="14" name="!!s22-page-paper">
            <a:extLst xmlns:a="http://schemas.openxmlformats.org/drawingml/2006/main">
              <a:ext uri="{FF2B5EF4-FFF2-40B4-BE49-F238E27FC236}">
                <a16:creationId xmlns:a16="http://schemas.microsoft.com/office/drawing/2014/main" id="{79E378AB-DB13-4247-A687-BCEECA98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22 / 25</a:t>
            </a:r>
          </a:p>
        </p:txBody>
      </p:sp>
    </p:spTree>
    <p:extLst>
      <p:ext uri="{BB962C8B-B14F-4D97-AF65-F5344CB8AC3E}">
        <p14:creationId xmlns:p14="http://schemas.microsoft.com/office/powerpoint/2010/main" val="1882682513"/>
      </p:ext>
    </p:extLst>
  </p:cSld>
  <mc:AlternateContent>
    <mc:Choice Requires="p159">
      <p:transition xmlns:p159="http://schemas.microsoft.com/office/powerpoint/2015/09/main"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"/>
                            </p:stCondLst>
                            <p:childTnLst>
                              <p:par>
                                <p:cTn id="9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"/>
                            </p:stCondLst>
                            <p:childTnLst>
                              <p:par>
                                <p:cTn id="15" presetID="20" presetClass="entr" presetSubtype="2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0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10"/>
                            </p:stCondLst>
                            <p:childTnLst>
                              <p:par>
                                <p:cTn id="30" presetID="10" presetClass="entr" presetSubtype="0" fill="hold" grpId="5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</p:bldLst>
  </p:timing>
</p:sld>
</file>

<file path=ppt/slides/slide2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D7AC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3-green-field">
            <a:extLst xmlns:a="http://schemas.openxmlformats.org/drawingml/2006/main">
              <a:ext uri="{FF2B5EF4-FFF2-40B4-BE49-F238E27FC236}">
                <a16:creationId xmlns:a16="http://schemas.microsoft.com/office/drawing/2014/main" id="{E09D0FA3-16FF-4179-B667-757700BB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29225"/>
            <a:ext cx="121920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056"/>
          </a:solidFill>
          <a:ln xmlns:a="http://schemas.openxmlformats.org/drawingml/2006/main" w="0">
            <a:noFill/>
          </a:ln>
        </p:spPr>
      </p:sp>
      <p:sp>
        <p:nvSpPr>
          <p:cNvPr id="2" name="s23-title">
            <a:extLst xmlns:a="http://schemas.openxmlformats.org/drawingml/2006/main">
              <a:ext uri="{FF2B5EF4-FFF2-40B4-BE49-F238E27FC236}">
                <a16:creationId xmlns:a16="http://schemas.microsoft.com/office/drawing/2014/main" id="{CEB61B19-FA36-4EE9-9F0A-EC81B84B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510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海洋治理的成效</a:t>
            </a:r>
          </a:p>
        </p:txBody>
      </p:sp>
      <p:sp>
        <p:nvSpPr>
          <p:cNvPr id="3" name="s23-point-0">
            <a:extLst xmlns:a="http://schemas.openxmlformats.org/drawingml/2006/main">
              <a:ext uri="{FF2B5EF4-FFF2-40B4-BE49-F238E27FC236}">
                <a16:creationId xmlns:a16="http://schemas.microsoft.com/office/drawing/2014/main" id="{F146C715-0A80-46FC-A6DA-08CA748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223E37"/>
                </a:solidFill>
                <a:latin typeface="SimSun"/>
                <a:ea typeface="SimSun"/>
                <a:cs typeface="SimSun"/>
              </a:rPr>
              <a:t>责任有没有落实到实际行为</a:t>
            </a:r>
          </a:p>
        </p:txBody>
      </p:sp>
      <p:sp>
        <p:nvSpPr>
          <p:cNvPr id="4" name="s23-point-1">
            <a:extLst xmlns:a="http://schemas.openxmlformats.org/drawingml/2006/main">
              <a:ext uri="{FF2B5EF4-FFF2-40B4-BE49-F238E27FC236}">
                <a16:creationId xmlns:a16="http://schemas.microsoft.com/office/drawing/2014/main" id="{02913322-99C7-426D-B762-025136B2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0">
                <a:solidFill>
                  <a:srgbClr val="223E37"/>
                </a:solidFill>
                <a:latin typeface="SimSun"/>
                <a:ea typeface="SimSun"/>
                <a:cs typeface="SimSun"/>
              </a:rPr>
              <a:t>程序有没有留下可核查记录</a:t>
            </a:r>
          </a:p>
        </p:txBody>
      </p:sp>
      <p:sp>
        <p:nvSpPr>
          <p:cNvPr id="5" name="s23-point-2">
            <a:extLst xmlns:a="http://schemas.openxmlformats.org/drawingml/2006/main">
              <a:ext uri="{FF2B5EF4-FFF2-40B4-BE49-F238E27FC236}">
                <a16:creationId xmlns:a16="http://schemas.microsoft.com/office/drawing/2014/main" id="{95008D9A-9149-4065-9A44-14FAB76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23E37"/>
                </a:solidFill>
                <a:latin typeface="SimSun"/>
                <a:ea typeface="SimSun"/>
                <a:cs typeface="SimSun"/>
              </a:defRPr>
            </a:pPr>
            <a:r>
              <a:rPr sz="2850" b="1">
                <a:solidFill>
                  <a:srgbClr val="223E37"/>
                </a:solidFill>
                <a:latin typeface="SimSun"/>
                <a:ea typeface="SimSun"/>
                <a:cs typeface="SimSun"/>
              </a:rPr>
              <a:t>海洋环境与安全有没有改善</a:t>
            </a:r>
          </a:p>
        </p:txBody>
      </p:sp>
      <p:sp>
        <p:nvSpPr>
          <p:cNvPr id="6" name="s23-thanks">
            <a:extLst xmlns:a="http://schemas.openxmlformats.org/drawingml/2006/main">
              <a:ext uri="{FF2B5EF4-FFF2-40B4-BE49-F238E27FC236}">
                <a16:creationId xmlns:a16="http://schemas.microsoft.com/office/drawing/2014/main" id="{37367E3C-3633-4D3B-86EB-397BC197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感谢聆听  欢迎讨论</a:t>
            </a:r>
          </a:p>
        </p:txBody>
      </p:sp>
      <p:sp>
        <p:nvSpPr>
          <p:cNvPr id="7" name="s23-footer">
            <a:extLst xmlns:a="http://schemas.openxmlformats.org/drawingml/2006/main">
              <a:ext uri="{FF2B5EF4-FFF2-40B4-BE49-F238E27FC236}">
                <a16:creationId xmlns:a16="http://schemas.microsoft.com/office/drawing/2014/main" id="{CB79C2CC-6988-4AE4-A52E-C7CCE8B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2026年10月6日至12日</a:t>
            </a:r>
          </a:p>
        </p:txBody>
      </p:sp>
      <p:sp>
        <p:nvSpPr>
          <p:cNvPr id="8" name="s23-page">
            <a:extLst xmlns:a="http://schemas.openxmlformats.org/drawingml/2006/main">
              <a:ext uri="{FF2B5EF4-FFF2-40B4-BE49-F238E27FC236}">
                <a16:creationId xmlns:a16="http://schemas.microsoft.com/office/drawing/2014/main" id="{48D9ADB0-A253-479D-86DB-A9390CF7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3E7CD"/>
                </a:solidFill>
                <a:latin typeface="Microsoft YaHei"/>
                <a:ea typeface="Microsoft YaHei"/>
                <a:cs typeface="Microsoft YaHei"/>
              </a:rPr>
              <a:t>23 / 25</a:t>
            </a:r>
          </a:p>
        </p:txBody>
      </p:sp>
    </p:spTree>
    <p:extLst>
      <p:ext uri="{BB962C8B-B14F-4D97-AF65-F5344CB8AC3E}">
        <p14:creationId xmlns:p14="http://schemas.microsoft.com/office/powerpoint/2010/main" val="702658792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3" presetID="2" presetClass="entr" presetSubtype="1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0"/>
                            </p:stCondLst>
                            <p:childTnLst>
                              <p:par>
                                <p:cTn id="10" presetID="2" presetClass="entr" presetSubtype="1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40"/>
                            </p:stCondLst>
                            <p:childTnLst>
                              <p:par>
                                <p:cTn id="16" presetID="2" presetClass="entr" presetSubtype="1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2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1"/>
      <p:bldP spid="5" grpId="2"/>
      <p:bldP spid="2" grpId="3"/>
    </p:bldLst>
  </p:timing>
</p:sld>
</file>

<file path=ppt/slides/slide24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4-red-field">
            <a:extLst xmlns:a="http://schemas.openxmlformats.org/drawingml/2006/main">
              <a:ext uri="{FF2B5EF4-FFF2-40B4-BE49-F238E27FC236}">
                <a16:creationId xmlns:a16="http://schemas.microsoft.com/office/drawing/2014/main" id="{EE3C995A-CECA-47E3-9137-6501BFB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s24-title">
            <a:extLst xmlns:a="http://schemas.openxmlformats.org/drawingml/2006/main">
              <a:ext uri="{FF2B5EF4-FFF2-40B4-BE49-F238E27FC236}">
                <a16:creationId xmlns:a16="http://schemas.microsoft.com/office/drawing/2014/main" id="{2A9D41CE-62A5-4468-9F59-43A8D333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4125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新闻来源与核查入口</a:t>
            </a:r>
          </a:p>
        </p:txBody>
      </p:sp>
      <p:sp>
        <p:nvSpPr>
          <p:cNvPr id="3" name="s24-ref-1">
            <a:extLst xmlns:a="http://schemas.openxmlformats.org/drawingml/2006/main">
              <a:ext uri="{FF2B5EF4-FFF2-40B4-BE49-F238E27FC236}">
                <a16:creationId xmlns:a16="http://schemas.microsoft.com/office/drawing/2014/main" id="{7F88571B-4EFF-417A-9076-C512EF01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01  三亚红树林保护区整治</a:t>
            </a:r>
          </a:p>
        </p:txBody>
      </p:sp>
      <p:sp>
        <p:nvSpPr>
          <p:cNvPr id="4" name="s24-link-1">
            <a:hlinkClick xmlns:r="http://schemas.openxmlformats.org/officeDocument/2006/relationships" xmlns:a="http://schemas.openxmlformats.org/drawingml/2006/main" r:id="R0bd05005c2d54c17"/>
            <a:extLst xmlns:a="http://schemas.openxmlformats.org/drawingml/2006/main">
              <a:ext uri="{FF2B5EF4-FFF2-40B4-BE49-F238E27FC236}">
                <a16:creationId xmlns:a16="http://schemas.microsoft.com/office/drawing/2014/main" id="{03208525-3CA2-4178-9696-D778F06A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2026-10-08  澎湃新闻 转引三亚日报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5" name="s24-ref-2">
            <a:extLst xmlns:a="http://schemas.openxmlformats.org/drawingml/2006/main">
              <a:ext uri="{FF2B5EF4-FFF2-40B4-BE49-F238E27FC236}">
                <a16:creationId xmlns:a16="http://schemas.microsoft.com/office/drawing/2014/main" id="{0018331D-7025-40E9-AA1B-8BE2F41D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02  连江无居民海岛保护</a:t>
            </a:r>
          </a:p>
        </p:txBody>
      </p:sp>
      <p:sp>
        <p:nvSpPr>
          <p:cNvPr id="6" name="s24-link-2">
            <a:hlinkClick xmlns:r="http://schemas.openxmlformats.org/officeDocument/2006/relationships" xmlns:a="http://schemas.openxmlformats.org/drawingml/2006/main" r:id="Ra78d44fb58c54ea2"/>
            <a:extLst xmlns:a="http://schemas.openxmlformats.org/drawingml/2006/main">
              <a:ext uri="{FF2B5EF4-FFF2-40B4-BE49-F238E27FC236}">
                <a16:creationId xmlns:a16="http://schemas.microsoft.com/office/drawing/2014/main" id="{0923547F-06DD-406B-8179-46CEFFE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福州新闻网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7" name="s24-ref-3">
            <a:extLst xmlns:a="http://schemas.openxmlformats.org/drawingml/2006/main">
              <a:ext uri="{FF2B5EF4-FFF2-40B4-BE49-F238E27FC236}">
                <a16:creationId xmlns:a16="http://schemas.microsoft.com/office/drawing/2014/main" id="{20F9308B-E116-430A-A70D-D888D92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03  宁德海洋生态修复</a:t>
            </a:r>
          </a:p>
        </p:txBody>
      </p:sp>
      <p:sp>
        <p:nvSpPr>
          <p:cNvPr id="8" name="s24-link-3">
            <a:hlinkClick xmlns:r="http://schemas.openxmlformats.org/officeDocument/2006/relationships" xmlns:a="http://schemas.openxmlformats.org/drawingml/2006/main" r:id="R2b44648c3b0a4fc4"/>
            <a:extLst xmlns:a="http://schemas.openxmlformats.org/drawingml/2006/main">
              <a:ext uri="{FF2B5EF4-FFF2-40B4-BE49-F238E27FC236}">
                <a16:creationId xmlns:a16="http://schemas.microsoft.com/office/drawing/2014/main" id="{04CD35C3-FB87-452F-96CB-7F623DA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2026-10-10  中国水运网 新浪财经转载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9" name="s24-ref-4">
            <a:extLst xmlns:a="http://schemas.openxmlformats.org/drawingml/2006/main">
              <a:ext uri="{FF2B5EF4-FFF2-40B4-BE49-F238E27FC236}">
                <a16:creationId xmlns:a16="http://schemas.microsoft.com/office/drawing/2014/main" id="{6DF25B14-4E41-46D9-A095-D47D4A00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04  天津固体散装货物监管</a:t>
            </a:r>
          </a:p>
        </p:txBody>
      </p:sp>
      <p:sp>
        <p:nvSpPr>
          <p:cNvPr id="10" name="s24-link-4">
            <a:hlinkClick xmlns:r="http://schemas.openxmlformats.org/officeDocument/2006/relationships" xmlns:a="http://schemas.openxmlformats.org/drawingml/2006/main" r:id="Ra481bc9e21744177"/>
            <a:extLst xmlns:a="http://schemas.openxmlformats.org/drawingml/2006/main">
              <a:ext uri="{FF2B5EF4-FFF2-40B4-BE49-F238E27FC236}">
                <a16:creationId xmlns:a16="http://schemas.microsoft.com/office/drawing/2014/main" id="{94EBA0DA-4218-4687-AA55-1398AACC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2026-10-07  中国交通报 中国交通新闻网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1" name="s24-ref-5">
            <a:extLst xmlns:a="http://schemas.openxmlformats.org/drawingml/2006/main">
              <a:ext uri="{FF2B5EF4-FFF2-40B4-BE49-F238E27FC236}">
                <a16:creationId xmlns:a16="http://schemas.microsoft.com/office/drawing/2014/main" id="{839EB0BF-6082-4B1A-B834-531CA43D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05  潮州港民生物资保畅</a:t>
            </a:r>
          </a:p>
        </p:txBody>
      </p:sp>
      <p:sp>
        <p:nvSpPr>
          <p:cNvPr id="12" name="s24-link-5">
            <a:hlinkClick xmlns:r="http://schemas.openxmlformats.org/officeDocument/2006/relationships" xmlns:a="http://schemas.openxmlformats.org/drawingml/2006/main" r:id="R64897537911c4e7d"/>
            <a:extLst xmlns:a="http://schemas.openxmlformats.org/drawingml/2006/main">
              <a:ext uri="{FF2B5EF4-FFF2-40B4-BE49-F238E27FC236}">
                <a16:creationId xmlns:a16="http://schemas.microsoft.com/office/drawing/2014/main" id="{2E19721D-C059-48CB-B577-167A641E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羊城派 21经济网转载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3" name="s24-footer">
            <a:extLst xmlns:a="http://schemas.openxmlformats.org/drawingml/2006/main">
              <a:ext uri="{FF2B5EF4-FFF2-40B4-BE49-F238E27FC236}">
                <a16:creationId xmlns:a16="http://schemas.microsoft.com/office/drawing/2014/main" id="{0AA54671-676A-4A4D-A4B4-9E251D4A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核查截至2026年10月12日  原文链接亦收录于演讲稿</a:t>
            </a:r>
          </a:p>
        </p:txBody>
      </p:sp>
      <p:sp>
        <p:nvSpPr>
          <p:cNvPr id="14" name="s24-page">
            <a:extLst xmlns:a="http://schemas.openxmlformats.org/drawingml/2006/main">
              <a:ext uri="{FF2B5EF4-FFF2-40B4-BE49-F238E27FC236}">
                <a16:creationId xmlns:a16="http://schemas.microsoft.com/office/drawing/2014/main" id="{40B6E729-1AFE-4448-8D8D-EF0E787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24 / 25</a:t>
            </a:r>
          </a:p>
        </p:txBody>
      </p:sp>
    </p:spTree>
    <p:extLst>
      <p:ext uri="{BB962C8B-B14F-4D97-AF65-F5344CB8AC3E}">
        <p14:creationId xmlns:p14="http://schemas.microsoft.com/office/powerpoint/2010/main" val="1427857176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"/>
                            </p:stCondLst>
                            <p:childTnLst>
                              <p:par>
                                <p:cTn id="9" presetID="10" presetClass="entr" presetSubtype="0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"/>
                            </p:stCondLst>
                            <p:childTnLst>
                              <p:par>
                                <p:cTn id="14" presetID="10" presetClass="entr" presetSubtype="0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"/>
                            </p:stCondLst>
                            <p:childTnLst>
                              <p:par>
                                <p:cTn id="24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7" grpId="2"/>
      <p:bldP spid="9" grpId="3"/>
      <p:bldP spid="11" grpId="4"/>
    </p:bldLst>
  </p:timing>
</p:sld>
</file>

<file path=ppt/slides/slide25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bg>
      <p:bgPr>
        <a:solidFill xmlns:a="http://schemas.openxmlformats.org/drawingml/2006/main">
          <a:srgbClr val="F3E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25-red-field">
            <a:extLst xmlns:a="http://schemas.openxmlformats.org/drawingml/2006/main">
              <a:ext uri="{FF2B5EF4-FFF2-40B4-BE49-F238E27FC236}">
                <a16:creationId xmlns:a16="http://schemas.microsoft.com/office/drawing/2014/main" id="{6C67FB47-2F7E-412A-A788-B4FF854E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2"/>
          </a:solidFill>
          <a:ln xmlns:a="http://schemas.openxmlformats.org/drawingml/2006/main" w="0">
            <a:noFill/>
          </a:ln>
        </p:spPr>
      </p:sp>
      <p:sp>
        <p:nvSpPr>
          <p:cNvPr id="2" name="s25-title">
            <a:extLst xmlns:a="http://schemas.openxmlformats.org/drawingml/2006/main">
              <a:ext uri="{FF2B5EF4-FFF2-40B4-BE49-F238E27FC236}">
                <a16:creationId xmlns:a16="http://schemas.microsoft.com/office/drawing/2014/main" id="{3916D495-DE87-44AB-9838-D9ACFF68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F3E7CD"/>
                </a:solidFill>
                <a:latin typeface="SimSun"/>
                <a:ea typeface="SimSun"/>
                <a:cs typeface="SimSun"/>
              </a:defRPr>
            </a:pPr>
            <a:r>
              <a:rPr sz="4125" b="1">
                <a:solidFill>
                  <a:srgbClr val="F3E7CD"/>
                </a:solidFill>
                <a:latin typeface="SimSun"/>
                <a:ea typeface="SimSun"/>
                <a:cs typeface="SimSun"/>
              </a:rPr>
              <a:t>新闻来源与核查入口</a:t>
            </a:r>
          </a:p>
        </p:txBody>
      </p:sp>
      <p:sp>
        <p:nvSpPr>
          <p:cNvPr id="3" name="s25-ref-6">
            <a:extLst xmlns:a="http://schemas.openxmlformats.org/drawingml/2006/main">
              <a:ext uri="{FF2B5EF4-FFF2-40B4-BE49-F238E27FC236}">
                <a16:creationId xmlns:a16="http://schemas.microsoft.com/office/drawing/2014/main" id="{F165977F-AE85-4EFF-BC0F-693D379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06  金塘港区LNG加注</a:t>
            </a:r>
          </a:p>
        </p:txBody>
      </p:sp>
      <p:sp>
        <p:nvSpPr>
          <p:cNvPr id="4" name="s25-link-6">
            <a:hlinkClick xmlns:r="http://schemas.openxmlformats.org/officeDocument/2006/relationships" xmlns:a="http://schemas.openxmlformats.org/drawingml/2006/main" r:id="R743fbfb33178489e"/>
            <a:extLst xmlns:a="http://schemas.openxmlformats.org/drawingml/2006/main">
              <a:ext uri="{FF2B5EF4-FFF2-40B4-BE49-F238E27FC236}">
                <a16:creationId xmlns:a16="http://schemas.microsoft.com/office/drawing/2014/main" id="{ABEEDF28-0FF1-4CAE-A85B-AD6DE1B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中国交通报 中国交通新闻网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5" name="s25-ref-7">
            <a:extLst xmlns:a="http://schemas.openxmlformats.org/drawingml/2006/main">
              <a:ext uri="{FF2B5EF4-FFF2-40B4-BE49-F238E27FC236}">
                <a16:creationId xmlns:a16="http://schemas.microsoft.com/office/drawing/2014/main" id="{A087B3A2-D033-48DE-A5E6-241AFC5A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07  海洋地球工程研究框架</a:t>
            </a:r>
          </a:p>
        </p:txBody>
      </p:sp>
      <p:sp>
        <p:nvSpPr>
          <p:cNvPr id="6" name="s25-link-7">
            <a:hlinkClick xmlns:r="http://schemas.openxmlformats.org/officeDocument/2006/relationships" xmlns:a="http://schemas.openxmlformats.org/drawingml/2006/main" r:id="R80cfcd84a21d43f1"/>
            <a:extLst xmlns:a="http://schemas.openxmlformats.org/drawingml/2006/main">
              <a:ext uri="{FF2B5EF4-FFF2-40B4-BE49-F238E27FC236}">
                <a16:creationId xmlns:a16="http://schemas.microsoft.com/office/drawing/2014/main" id="{788BFBA1-6125-4D0D-8061-9885999F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7" name="s25-ref-8">
            <a:extLst xmlns:a="http://schemas.openxmlformats.org/drawingml/2006/main">
              <a:ext uri="{FF2B5EF4-FFF2-40B4-BE49-F238E27FC236}">
                <a16:creationId xmlns:a16="http://schemas.microsoft.com/office/drawing/2014/main" id="{60797650-C393-4F57-9014-04129850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08  地中海污染合作五十年</a:t>
            </a:r>
          </a:p>
        </p:txBody>
      </p:sp>
      <p:sp>
        <p:nvSpPr>
          <p:cNvPr id="8" name="s25-link-8">
            <a:hlinkClick xmlns:r="http://schemas.openxmlformats.org/officeDocument/2006/relationships" xmlns:a="http://schemas.openxmlformats.org/drawingml/2006/main" r:id="Rd57a479a09684c4e"/>
            <a:extLst xmlns:a="http://schemas.openxmlformats.org/drawingml/2006/main">
              <a:ext uri="{FF2B5EF4-FFF2-40B4-BE49-F238E27FC236}">
                <a16:creationId xmlns:a16="http://schemas.microsoft.com/office/drawing/2014/main" id="{2E38D7A0-3CA1-4EE6-A231-5685C90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9" name="s25-ref-9">
            <a:extLst xmlns:a="http://schemas.openxmlformats.org/drawingml/2006/main">
              <a:ext uri="{FF2B5EF4-FFF2-40B4-BE49-F238E27FC236}">
                <a16:creationId xmlns:a16="http://schemas.microsoft.com/office/drawing/2014/main" id="{E365E49E-9AB1-41EE-8E4E-1EFF0875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09  塞内加尔海运单一窗口</a:t>
            </a:r>
          </a:p>
        </p:txBody>
      </p:sp>
      <p:sp>
        <p:nvSpPr>
          <p:cNvPr id="10" name="s25-link-9">
            <a:hlinkClick xmlns:r="http://schemas.openxmlformats.org/officeDocument/2006/relationships" xmlns:a="http://schemas.openxmlformats.org/drawingml/2006/main" r:id="Re7f20638bb14478f"/>
            <a:extLst xmlns:a="http://schemas.openxmlformats.org/drawingml/2006/main">
              <a:ext uri="{FF2B5EF4-FFF2-40B4-BE49-F238E27FC236}">
                <a16:creationId xmlns:a16="http://schemas.microsoft.com/office/drawing/2014/main" id="{6C0C068D-AB45-4B65-87D2-82732FC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2026-10-09  国际海事组织 IMO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1" name="s25-ref-10">
            <a:extLst xmlns:a="http://schemas.openxmlformats.org/drawingml/2006/main">
              <a:ext uri="{FF2B5EF4-FFF2-40B4-BE49-F238E27FC236}">
                <a16:creationId xmlns:a16="http://schemas.microsoft.com/office/drawing/2014/main" id="{A3DA06DC-C05D-453C-B28C-FF7C959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E37"/>
                </a:solidFill>
                <a:latin typeface="Microsoft YaHei"/>
                <a:ea typeface="Microsoft YaHei"/>
                <a:cs typeface="Microsoft YaHei"/>
              </a:rPr>
              <a:t>10  公海条约秘书处选址</a:t>
            </a:r>
          </a:p>
        </p:txBody>
      </p:sp>
      <p:sp>
        <p:nvSpPr>
          <p:cNvPr id="12" name="s25-link-10">
            <a:hlinkClick xmlns:r="http://schemas.openxmlformats.org/officeDocument/2006/relationships" xmlns:a="http://schemas.openxmlformats.org/drawingml/2006/main" r:id="Rfc8c8c23a06f4c97"/>
            <a:extLst xmlns:a="http://schemas.openxmlformats.org/drawingml/2006/main">
              <a:ext uri="{FF2B5EF4-FFF2-40B4-BE49-F238E27FC236}">
                <a16:creationId xmlns:a16="http://schemas.microsoft.com/office/drawing/2014/main" id="{D6993C2A-D2B8-49B3-B266-430CA9B6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2026-10-06  Climate Home News  </a:t>
            </a:r>
            <a:r>
              <a:rPr sz="1500" b="0" u="sng">
                <a:solidFill>
                  <a:srgbClr val="B44D32"/>
                </a:solidFill>
                <a:latin typeface="Microsoft YaHei"/>
                <a:ea typeface="Microsoft YaHei"/>
                <a:cs typeface="Microsoft YaHei"/>
              </a:rPr>
              <a:t>点击查看原文</a:t>
            </a:r>
          </a:p>
        </p:txBody>
      </p:sp>
      <p:sp>
        <p:nvSpPr>
          <p:cNvPr id="13" name="s25-footer">
            <a:extLst xmlns:a="http://schemas.openxmlformats.org/drawingml/2006/main">
              <a:ext uri="{FF2B5EF4-FFF2-40B4-BE49-F238E27FC236}">
                <a16:creationId xmlns:a16="http://schemas.microsoft.com/office/drawing/2014/main" id="{D3C69A29-3DBE-4179-A942-D10F517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核查截至2026年10月12日  原文链接亦收录于演讲稿</a:t>
            </a:r>
          </a:p>
        </p:txBody>
      </p:sp>
      <p:sp>
        <p:nvSpPr>
          <p:cNvPr id="14" name="s25-page">
            <a:extLst xmlns:a="http://schemas.openxmlformats.org/drawingml/2006/main">
              <a:ext uri="{FF2B5EF4-FFF2-40B4-BE49-F238E27FC236}">
                <a16:creationId xmlns:a16="http://schemas.microsoft.com/office/drawing/2014/main" id="{86E5C187-B88B-40C3-AFB6-1C5BA99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67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45A"/>
                </a:solidFill>
                <a:latin typeface="Microsoft YaHei"/>
                <a:ea typeface="Microsoft YaHei"/>
                <a:cs typeface="Microsoft YaHei"/>
              </a:rPr>
              <a:t>25 / 25</a:t>
            </a:r>
          </a:p>
        </p:txBody>
      </p:sp>
    </p:spTree>
    <p:extLst>
      <p:ext uri="{BB962C8B-B14F-4D97-AF65-F5344CB8AC3E}">
        <p14:creationId xmlns:p14="http://schemas.microsoft.com/office/powerpoint/2010/main" val="1459893847"/>
      </p:ext>
    </p:extLst>
  </p:cSld>
  <p:transition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"/>
                            </p:stCondLst>
                            <p:childTnLst>
                              <p:par>
                                <p:cTn id="9" presetID="10" presetClass="entr" presetSubtype="0" fill="hold" grpId="1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"/>
                            </p:stCondLst>
                            <p:childTnLst>
                              <p:par>
                                <p:cTn id="14" presetID="10" presetClass="entr" presetSubtype="0" fill="hold" grpId="2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"/>
                            </p:stCondLst>
                            <p:childTnLst>
                              <p:par>
                                <p:cTn id="19" presetID="10" presetClass="entr" presetSubtype="0" fill="hold" grpId="3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"/>
                            </p:stCondLst>
                            <p:childTnLst>
                              <p:par>
                                <p:cTn id="24" presetID="10" presetClass="entr" presetSubtype="0" fill="hold" grpId="4" nodeType="withEffect" accel="5000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7" grpId="2"/>
      <p:bldP spid="9" grpId="3"/>
      <p:bldP spid="11" grpId="4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2026-10-12T15:21:43.0940000Z</dcterms:created>
  <dcterms:modified xsi:type="dcterms:W3CDTF">2026-10-12T15:21:43.0940000Z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2026-10-12T16:51:19Z</vt:lpwstr>
  </op:property>
</op:Properties>
</file>