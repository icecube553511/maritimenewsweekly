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Default Extension="mp4" ContentType="video/mp4"/>
  <Default Extension="png" ContentType="image/png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docProps/custom.xml" ContentType="application/vnd.openxmlformats-officedocument.custom-properties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5f98754c834fd7" /><Relationship Type="http://schemas.openxmlformats.org/officeDocument/2006/relationships/extended-properties" Target="/docProps/app.xml" Id="R062fbd30617745da" /><Relationship Type="http://schemas.openxmlformats.org/officeDocument/2006/relationships/officeDocument" Target="/ppt/presentation.xml" Id="R66cfc7e765374027" /><Relationship Type="http://schemas.openxmlformats.org/officeDocument/2006/relationships/custom-properties" Target="/docProps/custom.xml" Id="R5a536e25779f4abe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07da206cd1664698"/>
  </p:sldMasterIdLst>
  <p:notesMasterIdLst>
    <p:notesMasterId xmlns:r="http://schemas.openxmlformats.org/officeDocument/2006/relationships" r:id="Rfdbd8b469fb44a30"/>
  </p:notesMasterIdLst>
  <p:sldIdLst>
    <p:sldId xmlns:r="http://schemas.openxmlformats.org/officeDocument/2006/relationships" id="256" r:id="R553801c4e5784c43"/>
    <p:sldId xmlns:r="http://schemas.openxmlformats.org/officeDocument/2006/relationships" id="257" r:id="Rffaa20d181c04114"/>
    <p:sldId xmlns:r="http://schemas.openxmlformats.org/officeDocument/2006/relationships" id="258" r:id="R35605a52f59048c6"/>
    <p:sldId xmlns:r="http://schemas.openxmlformats.org/officeDocument/2006/relationships" id="259" r:id="R81060155e51d4cd2"/>
    <p:sldId xmlns:r="http://schemas.openxmlformats.org/officeDocument/2006/relationships" id="260" r:id="Rdc5e962f7c834569"/>
    <p:sldId xmlns:r="http://schemas.openxmlformats.org/officeDocument/2006/relationships" id="261" r:id="R56c350d485644695"/>
    <p:sldId xmlns:r="http://schemas.openxmlformats.org/officeDocument/2006/relationships" id="262" r:id="R2decc4052f214192"/>
    <p:sldId xmlns:r="http://schemas.openxmlformats.org/officeDocument/2006/relationships" id="263" r:id="R60fae3c1c2524fc1"/>
    <p:sldId xmlns:r="http://schemas.openxmlformats.org/officeDocument/2006/relationships" id="264" r:id="Rbafe3076024c4776"/>
    <p:sldId xmlns:r="http://schemas.openxmlformats.org/officeDocument/2006/relationships" id="265" r:id="R386cab6314944b16"/>
    <p:sldId xmlns:r="http://schemas.openxmlformats.org/officeDocument/2006/relationships" id="266" r:id="R0831600b999c4621"/>
    <p:sldId xmlns:r="http://schemas.openxmlformats.org/officeDocument/2006/relationships" id="267" r:id="R00da8ebb74e9419e"/>
    <p:sldId xmlns:r="http://schemas.openxmlformats.org/officeDocument/2006/relationships" id="268" r:id="R2d12d114cb994ec6"/>
    <p:sldId xmlns:r="http://schemas.openxmlformats.org/officeDocument/2006/relationships" id="269" r:id="Rdb1f84709c56486e"/>
    <p:sldId xmlns:r="http://schemas.openxmlformats.org/officeDocument/2006/relationships" id="270" r:id="R72b51420b86e46a2"/>
    <p:sldId xmlns:r="http://schemas.openxmlformats.org/officeDocument/2006/relationships" id="271" r:id="R9d36624d770d4dde"/>
    <p:sldId xmlns:r="http://schemas.openxmlformats.org/officeDocument/2006/relationships" id="272" r:id="Rbe6caafc561049a7"/>
    <p:sldId xmlns:r="http://schemas.openxmlformats.org/officeDocument/2006/relationships" id="273" r:id="Re5571ad284b74949"/>
    <p:sldId xmlns:r="http://schemas.openxmlformats.org/officeDocument/2006/relationships" id="274" r:id="Rb7764f499a354689"/>
    <p:sldId xmlns:r="http://schemas.openxmlformats.org/officeDocument/2006/relationships" id="275" r:id="Rc18bb49dc3584c73"/>
    <p:sldId xmlns:r="http://schemas.openxmlformats.org/officeDocument/2006/relationships" id="276" r:id="R5e11d89625514cba"/>
    <p:sldId xmlns:r="http://schemas.openxmlformats.org/officeDocument/2006/relationships" id="277" r:id="Rd730df5668194d50"/>
    <p:sldId xmlns:r="http://schemas.openxmlformats.org/officeDocument/2006/relationships" id="278" r:id="R6e4903c13f6347b3"/>
    <p:sldId xmlns:r="http://schemas.openxmlformats.org/officeDocument/2006/relationships" id="279" r:id="R4be82f50d2c04b78"/>
    <p:sldId xmlns:r="http://schemas.openxmlformats.org/officeDocument/2006/relationships" id="280" r:id="Rdd655d59e14e4e6a"/>
    <p:sldId id="281" r:id="rIdJiaobei2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ca005a448ecd4f49"/><Relationship Type="http://schemas.openxmlformats.org/officeDocument/2006/relationships/slideMaster" Target="/ppt/slideMasters/slideMaster1.xml" Id="R07da206cd1664698"/><Relationship Type="http://schemas.openxmlformats.org/officeDocument/2006/relationships/notesMaster" Target="/ppt/notesMasters/notesMaster1.xml" Id="Rfdbd8b469fb44a30"/><Relationship Type="http://schemas.openxmlformats.org/officeDocument/2006/relationships/presProps" Target="/ppt/presProps.xml" Id="Rc1f680e26c0a4469"/><Relationship Type="http://schemas.openxmlformats.org/officeDocument/2006/relationships/tableStyles" Target="/ppt/tableStyles.xml" Id="R6b5559feebf243ac"/><Relationship Type="http://schemas.openxmlformats.org/officeDocument/2006/relationships/slide" Target="/ppt/slides/slide1.xml" Id="R553801c4e5784c43"/><Relationship Type="http://schemas.openxmlformats.org/officeDocument/2006/relationships/slide" Target="/ppt/slides/slide2.xml" Id="Rffaa20d181c04114"/><Relationship Type="http://schemas.openxmlformats.org/officeDocument/2006/relationships/slide" Target="/ppt/slides/slide3.xml" Id="R35605a52f59048c6"/><Relationship Type="http://schemas.openxmlformats.org/officeDocument/2006/relationships/slide" Target="/ppt/slides/slide4.xml" Id="R81060155e51d4cd2"/><Relationship Type="http://schemas.openxmlformats.org/officeDocument/2006/relationships/slide" Target="/ppt/slides/slide5.xml" Id="Rdc5e962f7c834569"/><Relationship Type="http://schemas.openxmlformats.org/officeDocument/2006/relationships/slide" Target="/ppt/slides/slide6.xml" Id="R56c350d485644695"/><Relationship Type="http://schemas.openxmlformats.org/officeDocument/2006/relationships/slide" Target="/ppt/slides/slide7.xml" Id="R2decc4052f214192"/><Relationship Type="http://schemas.openxmlformats.org/officeDocument/2006/relationships/slide" Target="/ppt/slides/slide8.xml" Id="R60fae3c1c2524fc1"/><Relationship Type="http://schemas.openxmlformats.org/officeDocument/2006/relationships/slide" Target="/ppt/slides/slide9.xml" Id="Rbafe3076024c4776"/><Relationship Type="http://schemas.openxmlformats.org/officeDocument/2006/relationships/slide" Target="/ppt/slides/slide10.xml" Id="R386cab6314944b16"/><Relationship Type="http://schemas.openxmlformats.org/officeDocument/2006/relationships/slide" Target="/ppt/slides/slide11.xml" Id="R0831600b999c4621"/><Relationship Type="http://schemas.openxmlformats.org/officeDocument/2006/relationships/slide" Target="/ppt/slides/slide12.xml" Id="R00da8ebb74e9419e"/><Relationship Type="http://schemas.openxmlformats.org/officeDocument/2006/relationships/slide" Target="/ppt/slides/slide13.xml" Id="R2d12d114cb994ec6"/><Relationship Type="http://schemas.openxmlformats.org/officeDocument/2006/relationships/slide" Target="/ppt/slides/slide14.xml" Id="Rdb1f84709c56486e"/><Relationship Type="http://schemas.openxmlformats.org/officeDocument/2006/relationships/slide" Target="/ppt/slides/slide15.xml" Id="R72b51420b86e46a2"/><Relationship Type="http://schemas.openxmlformats.org/officeDocument/2006/relationships/slide" Target="/ppt/slides/slide16.xml" Id="R9d36624d770d4dde"/><Relationship Type="http://schemas.openxmlformats.org/officeDocument/2006/relationships/slide" Target="/ppt/slides/slide17.xml" Id="Rbe6caafc561049a7"/><Relationship Type="http://schemas.openxmlformats.org/officeDocument/2006/relationships/slide" Target="/ppt/slides/slide18.xml" Id="Re5571ad284b74949"/><Relationship Type="http://schemas.openxmlformats.org/officeDocument/2006/relationships/slide" Target="/ppt/slides/slide19.xml" Id="Rb7764f499a354689"/><Relationship Type="http://schemas.openxmlformats.org/officeDocument/2006/relationships/slide" Target="/ppt/slides/slide20.xml" Id="Rc18bb49dc3584c73"/><Relationship Type="http://schemas.openxmlformats.org/officeDocument/2006/relationships/slide" Target="/ppt/slides/slide21.xml" Id="R5e11d89625514cba"/><Relationship Type="http://schemas.openxmlformats.org/officeDocument/2006/relationships/slide" Target="/ppt/slides/slide22.xml" Id="Rd730df5668194d50"/><Relationship Type="http://schemas.openxmlformats.org/officeDocument/2006/relationships/slide" Target="/ppt/slides/slide23.xml" Id="R6e4903c13f6347b3"/><Relationship Type="http://schemas.openxmlformats.org/officeDocument/2006/relationships/slide" Target="/ppt/slides/slide24.xml" Id="R4be82f50d2c04b78"/><Relationship Type="http://schemas.openxmlformats.org/officeDocument/2006/relationships/slide" Target="/ppt/slides/slide25.xml" Id="Rdd655d59e14e4e6a"/><Relationship Id="rIdJiaobei26" Type="http://schemas.openxmlformats.org/officeDocument/2006/relationships/slide" Target="slides/slide26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46c90c1438f42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e27cb647f904cd7" /><Relationship Type="http://schemas.openxmlformats.org/officeDocument/2006/relationships/notesMaster" Target="/ppt/notesMasters/notesMaster1.xml" Id="Re212625f27ce41e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f917b925d4b4025" /><Relationship Type="http://schemas.openxmlformats.org/officeDocument/2006/relationships/notesMaster" Target="/ppt/notesMasters/notesMaster1.xml" Id="R440a402114bb474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2f772de8d754263" /><Relationship Type="http://schemas.openxmlformats.org/officeDocument/2006/relationships/notesMaster" Target="/ppt/notesMasters/notesMaster1.xml" Id="R65692db0214e44f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3a9c56bf47497b" /><Relationship Type="http://schemas.openxmlformats.org/officeDocument/2006/relationships/notesMaster" Target="/ppt/notesMasters/notesMaster1.xml" Id="Rb07ac43ac2584e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fbc8715c47149ad" /><Relationship Type="http://schemas.openxmlformats.org/officeDocument/2006/relationships/notesMaster" Target="/ppt/notesMasters/notesMaster1.xml" Id="Rfa90c8613710466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9670535fa3449e" /><Relationship Type="http://schemas.openxmlformats.org/officeDocument/2006/relationships/notesMaster" Target="/ppt/notesMasters/notesMaster1.xml" Id="R54a1f32d8b86432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99ef9a8877e4c3e" /><Relationship Type="http://schemas.openxmlformats.org/officeDocument/2006/relationships/notesMaster" Target="/ppt/notesMasters/notesMaster1.xml" Id="R83c964891da6444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240f7f3a2bc4d2a" /><Relationship Type="http://schemas.openxmlformats.org/officeDocument/2006/relationships/notesMaster" Target="/ppt/notesMasters/notesMaster1.xml" Id="R67da5f8a9654446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1b1ed88b86e43ac" /><Relationship Type="http://schemas.openxmlformats.org/officeDocument/2006/relationships/notesMaster" Target="/ppt/notesMasters/notesMaster1.xml" Id="R5dca7f070362427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2216fe3dde34475" /><Relationship Type="http://schemas.openxmlformats.org/officeDocument/2006/relationships/notesMaster" Target="/ppt/notesMasters/notesMaster1.xml" Id="Rbaeebcd5527a4cb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e56d1b70aa24b17" /><Relationship Type="http://schemas.openxmlformats.org/officeDocument/2006/relationships/notesMaster" Target="/ppt/notesMasters/notesMaster1.xml" Id="R3466fb17f98c439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413d5704e244a8e" /><Relationship Type="http://schemas.openxmlformats.org/officeDocument/2006/relationships/notesMaster" Target="/ppt/notesMasters/notesMaster1.xml" Id="Ra571c5ba4a87496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6e14267329f4229" /><Relationship Type="http://schemas.openxmlformats.org/officeDocument/2006/relationships/notesMaster" Target="/ppt/notesMasters/notesMaster1.xml" Id="Ref7583cc6ccb4bd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dc5da4dfc884b93" /><Relationship Type="http://schemas.openxmlformats.org/officeDocument/2006/relationships/notesMaster" Target="/ppt/notesMasters/notesMaster1.xml" Id="R87dcceeef6a44d1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0c65d4cf9a641cd" /><Relationship Type="http://schemas.openxmlformats.org/officeDocument/2006/relationships/notesMaster" Target="/ppt/notesMasters/notesMaster1.xml" Id="R98697d442f3e4e4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89ae0077d0f418a" /><Relationship Type="http://schemas.openxmlformats.org/officeDocument/2006/relationships/notesMaster" Target="/ppt/notesMasters/notesMaster1.xml" Id="R752600f2e8ad42b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a2c4865a5914ec9" /><Relationship Type="http://schemas.openxmlformats.org/officeDocument/2006/relationships/notesMaster" Target="/ppt/notesMasters/notesMaster1.xml" Id="R09089b0c9ad04b9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4b3b314595c4516" /><Relationship Type="http://schemas.openxmlformats.org/officeDocument/2006/relationships/notesMaster" Target="/ppt/notesMasters/notesMaster1.xml" Id="R86b204419a9147f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524e4f86b08405c" /><Relationship Type="http://schemas.openxmlformats.org/officeDocument/2006/relationships/notesMaster" Target="/ppt/notesMasters/notesMaster1.xml" Id="Rbd2ac75b38d4412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3f624ea89ac4944" /><Relationship Type="http://schemas.openxmlformats.org/officeDocument/2006/relationships/notesMaster" Target="/ppt/notesMasters/notesMaster1.xml" Id="Rd53708b8b09b4e9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07bc11a0b244df3" /><Relationship Type="http://schemas.openxmlformats.org/officeDocument/2006/relationships/notesMaster" Target="/ppt/notesMasters/notesMaster1.xml" Id="R56f54c1fccce482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0cdaad452624740" /><Relationship Type="http://schemas.openxmlformats.org/officeDocument/2006/relationships/notesMaster" Target="/ppt/notesMasters/notesMaster1.xml" Id="R65f4fdb3ad504d5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febaac09b3c4b10" /><Relationship Type="http://schemas.openxmlformats.org/officeDocument/2006/relationships/notesMaster" Target="/ppt/notesMasters/notesMaster1.xml" Id="Rbde5e28f44434f7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8d7bcde76b8404d" /><Relationship Type="http://schemas.openxmlformats.org/officeDocument/2006/relationships/notesMaster" Target="/ppt/notesMasters/notesMaster1.xml" Id="R97adc06126a543a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18f58b98c50477d" /><Relationship Type="http://schemas.openxmlformats.org/officeDocument/2006/relationships/notesMaster" Target="/ppt/notesMasters/notesMaster1.xml" Id="R12a746c279644b21" 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老师、同学们好。我们用八分钟介绍十月六日至十二日发布的十条海洋新闻，关注生态保护、航运安全和国际治理。报道中涉及的前期工作与累计成果，仍按原有时间口径理解。</ns0:t>
            </ns0:r>
          </ns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先看生态与港口，再看国际合作。每条新闻只抓一个事实和一个法治问题。</ns0:t>
            </ns0:r>
          </ns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演讲者1｜新闻01｜事实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十月八日，三亚红树林保护区整治进展公布。当地关停七家赶海经营场所，收缴八百四十条禁用地笼，五名负责人接受调查。保护区里的旅游经营，必须服从生态保护要求。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新闻出处：红树林保护区成“赶海乐园”，三亚：传唤5名俱乐部负责人接受调查 - ThePaper.cn</ns4:t>
            </ns4:r>
          </ns4:p>
          <ns5:p xmlns:ns5="http://schemas.openxmlformats.org/drawingml/2006/main">
            <ns5:r>
              <ns5:t>报道日期：2026-10-08</ns5:t>
            </ns5:r>
          </ns5:p>
          <ns6:p xmlns:ns6="http://schemas.openxmlformats.org/drawingml/2006/main">
            <ns6:r>
              <ns6:t>原文：https://m.thepaper.cn/newsDetail_forward_34210667</ns6:t>
            </ns6:r>
          </ns6:p>
          <ns7:p xmlns:ns7="http://schemas.openxmlformats.org/drawingml/2006/main">
            <ns7:r>
              <ns7:t>素材：https://imgpai.thepaper.cn/newpai/image/20261008/07e8a53d-3e21-4161-91fd-c11d1236699c.jpg</ns7:t>
            </ns7:r>
          </ns7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演讲者1｜新闻01｜法治观察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接受调查并不代表责任已经认定，仍要依据证据和法律判断。治理也不能止于关停，受损区域是否恢复，需要后续评估和监测。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新闻出处：红树林保护区成“赶海乐园”，三亚：传唤5名俱乐部负责人接受调查 - ThePaper.cn</ns4:t>
            </ns4:r>
          </ns4:p>
          <ns5:p xmlns:ns5="http://schemas.openxmlformats.org/drawingml/2006/main">
            <ns5:r>
              <ns5:t>报道日期：2026-10-08</ns5:t>
            </ns5:r>
          </ns5:p>
          <ns6:p xmlns:ns6="http://schemas.openxmlformats.org/drawingml/2006/main">
            <ns6:r>
              <ns6:t>原文：https://m.thepaper.cn/newsDetail_forward_34210667</ns6:t>
            </ns6:r>
          </ns6:p>
          <ns7:p xmlns:ns7="http://schemas.openxmlformats.org/drawingml/2006/main">
            <ns7:r>
              <ns7:t>素材：https://imgpai.thepaper.cn/newpai/image/20261008/07e8a53d-3e21-4161-91fd-c11d1236699c.jpg</ns7:t>
            </ns7:r>
          </ns7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演讲者1｜新闻02｜事实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十月九日，连江报道无居民海岛保护进展。当地有二百一十一座无居民海岛，检察机关通过无人机巡查和实地勘察发现问题，推动检察建议、联合巡岛与整改回访。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新闻出处：案鉴 |“海上明珠”法治守护再升级 连江构建无居民海岛全链条保护体系 - 福州新闻网</ns4:t>
            </ns4:r>
          </ns4:p>
          <ns5:p xmlns:ns5="http://schemas.openxmlformats.org/drawingml/2006/main">
            <ns5:r>
              <ns5:t>报道日期：2026-10-09</ns5:t>
            </ns5:r>
          </ns5:p>
          <ns6:p xmlns:ns6="http://schemas.openxmlformats.org/drawingml/2006/main">
            <ns6:r>
              <ns6:t>原文：https://m.fznews.com.cn/node/24361/20261009/3eCX07xj0W.shtml</ns6:t>
            </ns6:r>
          </ns6:p>
          <ns7:p xmlns:ns7="http://schemas.openxmlformats.org/drawingml/2006/main">
            <ns7:r>
              <ns7:t>素材：https://image.fznews.com.cn/app/pic/2026-10/09/659226_0650e300-d547-4df7-a93f-73dc42bdd7f9.jpg</ns7:t>
            </ns7:r>
          </ns7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演讲者1｜新闻02｜法治观察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无人居住不意味着可以随意开发。保护的关键是发现问题后有人处置、有人复查。报道包含七八月的前期工作，并非全部发生在本周。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下面请第二位同学介绍生态修复和散货安全。</ns4:t>
            </ns4:r>
          </ns4:p>
          <ns5:p xmlns:ns5="http://schemas.openxmlformats.org/drawingml/2006/main">
            <ns5:r>
              <ns5:t/>
            </ns5:r>
          </ns5:p>
          <ns6:p xmlns:ns6="http://schemas.openxmlformats.org/drawingml/2006/main">
            <ns6:r>
              <ns6:t>新闻出处：案鉴 |“海上明珠”法治守护再升级 连江构建无居民海岛全链条保护体系 - 福州新闻网</ns6:t>
            </ns6:r>
          </ns6:p>
          <ns7:p xmlns:ns7="http://schemas.openxmlformats.org/drawingml/2006/main">
            <ns7:r>
              <ns7:t>报道日期：2026-10-09</ns7:t>
            </ns7:r>
          </ns7:p>
          <ns8:p xmlns:ns8="http://schemas.openxmlformats.org/drawingml/2006/main">
            <ns8:r>
              <ns8:t>原文：https://m.fznews.com.cn/node/24361/20261009/3eCX07xj0W.shtml</ns8:t>
            </ns8:r>
          </ns8:p>
          <ns9:p xmlns:ns9="http://schemas.openxmlformats.org/drawingml/2006/main">
            <ns9:r>
              <ns9:t>素材：https://image.fznews.com.cn/app/pic/2026-10/09/659226_0650e300-d547-4df7-a93f-73dc42bdd7f9.jpg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演讲者2｜新闻03｜事实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十月十日，宁德青岐湾启动红树林种植的消息发布。项目设计营造红树林五十八点一四公顷，同时开展微地形改造和潮沟疏浚。这个面积是设计目标，不能当作已经完成。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新闻出处：碧海滩涂添新绿——福建宁德海洋生态保护修复项目启动红树林种植 - 新浪财经</ns4:t>
            </ns4:r>
          </ns4:p>
          <ns5:p xmlns:ns5="http://schemas.openxmlformats.org/drawingml/2006/main">
            <ns5:r>
              <ns5:t>报道日期：2026-10-10</ns5:t>
            </ns5:r>
          </ns5:p>
          <ns6:p xmlns:ns6="http://schemas.openxmlformats.org/drawingml/2006/main">
            <ns6:r>
              <ns6:t>原文：https://finance.sina.com.cn/jjxw/2026-10-10/doc-iniututc2037582.shtml</ns6:t>
            </ns6:r>
          </ns6:p>
          <ns7:p xmlns:ns7="http://schemas.openxmlformats.org/drawingml/2006/main">
            <ns7:r>
              <ns7:t>素材：https://n.sinaimg.cn/spider20261010/235/w1024h811/20261010/0a39-d5d34fdb4ff0bea08abeab329a4572f9.jpg</ns7:t>
            </ns7:r>
          </ns7:p>
          <ns8:p xmlns:ns8="http://schemas.openxmlformats.org/drawingml/2006/main">
            <ns8:r>
              <ns8:t>图片口径：项目效果图，不代表已建成。</ns8:t>
            </ns8:r>
          </ns8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演讲者2｜新闻03｜法治观察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生态修复要看生境能否恢复。种苗成活、潮汐循环和长期养护，都需要可测的验收指标。屏幕照片是项目效果图，也不代表建成状态。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新闻出处：碧海滩涂添新绿——福建宁德海洋生态保护修复项目启动红树林种植 - 新浪财经</ns4:t>
            </ns4:r>
          </ns4:p>
          <ns5:p xmlns:ns5="http://schemas.openxmlformats.org/drawingml/2006/main">
            <ns5:r>
              <ns5:t>报道日期：2026-10-10</ns5:t>
            </ns5:r>
          </ns5:p>
          <ns6:p xmlns:ns6="http://schemas.openxmlformats.org/drawingml/2006/main">
            <ns6:r>
              <ns6:t>原文：https://finance.sina.com.cn/jjxw/2026-10-10/doc-iniututc2037582.shtml</ns6:t>
            </ns6:r>
          </ns6:p>
          <ns7:p xmlns:ns7="http://schemas.openxmlformats.org/drawingml/2006/main">
            <ns7:r>
              <ns7:t>素材：https://n.sinaimg.cn/spider20261010/235/w1024h811/20261010/0a39-d5d34fdb4ff0bea08abeab329a4572f9.jpg</ns7:t>
            </ns7:r>
          </ns7:p>
          <ns8:p xmlns:ns8="http://schemas.openxmlformats.org/drawingml/2006/main">
            <ns8:r>
              <ns8:t>图片口径：项目效果图，不代表已建成。</ns8:t>
            </ns8:r>
          </ns8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演讲者2｜新闻04｜事实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十月七日，天津海事局介绍固体散装货物监管。重点检查具有水分风险的A组货物，核查水分报告、适运水分极限和船舶稳性。这是监管工作报道，并非事故通报。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新闻出处：筑牢“四道防线”天津海事局全力保障假期固体散装货物运输安全 - 中国交通新闻网</ns4:t>
            </ns4:r>
          </ns4:p>
          <ns5:p xmlns:ns5="http://schemas.openxmlformats.org/drawingml/2006/main">
            <ns5:r>
              <ns5:t>报道日期：2026-10-07</ns5:t>
            </ns5:r>
          </ns5:p>
          <ns6:p xmlns:ns6="http://schemas.openxmlformats.org/drawingml/2006/main">
            <ns6:r>
              <ns6:t>原文：https://www.zgjtb.com/m/2026-10/07/content_540277.html</ns6:t>
            </ns6:r>
          </ns6:p>
          <ns7:p xmlns:ns7="http://schemas.openxmlformats.org/drawingml/2006/main">
            <ns7:r>
              <ns7:t>素材：https://www.zgjtb.com/m/img/2026-10/07/540277_affdc600-74ad-4a63-9ee4-1ee56f59cfb8.jpg.2</ns7:t>
            </ns7:r>
          </ns7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演讲者2｜新闻04｜法治观察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部分散货可能流态化或发生位移，影响船舶稳定。检测单证必须符合实际货况，托运、装载和船岸作业的责任也应能够追溯，发现隐患后还要复查销号。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下面请第三位同学介绍港口保畅与燃料服务。</ns4:t>
            </ns4:r>
          </ns4:p>
          <ns5:p xmlns:ns5="http://schemas.openxmlformats.org/drawingml/2006/main">
            <ns5:r>
              <ns5:t/>
            </ns5:r>
          </ns5:p>
          <ns6:p xmlns:ns6="http://schemas.openxmlformats.org/drawingml/2006/main">
            <ns6:r>
              <ns6:t>新闻出处：筑牢“四道防线”天津海事局全力保障假期固体散装货物运输安全 - 中国交通新闻网</ns6:t>
            </ns6:r>
          </ns6:p>
          <ns7:p xmlns:ns7="http://schemas.openxmlformats.org/drawingml/2006/main">
            <ns7:r>
              <ns7:t>报道日期：2026-10-07</ns7:t>
            </ns7:r>
          </ns7:p>
          <ns8:p xmlns:ns8="http://schemas.openxmlformats.org/drawingml/2006/main">
            <ns8:r>
              <ns8:t>原文：https://www.zgjtb.com/m/2026-10/07/content_540277.html</ns8:t>
            </ns8:r>
          </ns8:p>
          <ns9:p xmlns:ns9="http://schemas.openxmlformats.org/drawingml/2006/main">
            <ns9:r>
              <ns9:t>素材：https://www.zgjtb.com/m/img/2026-10/07/540277_affdc600-74ad-4a63-9ee4-1ee56f59cfb8.jpg.2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演讲者3｜新闻05｜事实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十月九日，潮州港公布国庆运输保障情况。假期船舶进出一百四十九艘次，重点民生物资运输量四十万吨。这些都是国庆期间的数据。重点物资享有靠离泊与装卸优先保障。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新闻出处：国庆期间潮州港重点民生物资运输40万吨，潮州海事部门做好保障工作 - 21财经</ns4:t>
            </ns4:r>
          </ns4:p>
          <ns5:p xmlns:ns5="http://schemas.openxmlformats.org/drawingml/2006/main">
            <ns5:r>
              <ns5:t>报道日期：2026-10-09</ns5:t>
            </ns5:r>
          </ns5:p>
          <ns6:p xmlns:ns6="http://schemas.openxmlformats.org/drawingml/2006/main">
            <ns6:r>
              <ns6:t>原文：https://www.21jingji.com/article/20261009/herald/1989902377cbe99324709eeac605ad7c.html</ns6:t>
            </ns6:r>
          </ns6:p>
          <ns7:p xmlns:ns7="http://schemas.openxmlformats.org/drawingml/2006/main">
            <ns7:r>
              <ns7:t>素材：https://ocmsmedia.sfccn.com/vod-4310da/image/default/DE6B82AD0D504DFBA36EC434E438FDEF-6-2.jpg</ns7:t>
            </ns7:r>
          </ns7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演讲者3｜新闻05｜法治观察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潮州港商船和渔船交汇频繁，保畅要靠清晰的通航秩序和联合巡查。便利化应当与风险识别同步，缩短等待时间也必须满足安全条件。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新闻出处：国庆期间潮州港重点民生物资运输40万吨，潮州海事部门做好保障工作 - 21财经</ns4:t>
            </ns4:r>
          </ns4:p>
          <ns5:p xmlns:ns5="http://schemas.openxmlformats.org/drawingml/2006/main">
            <ns5:r>
              <ns5:t>报道日期：2026-10-09</ns5:t>
            </ns5:r>
          </ns5:p>
          <ns6:p xmlns:ns6="http://schemas.openxmlformats.org/drawingml/2006/main">
            <ns6:r>
              <ns6:t>原文：https://www.21jingji.com/article/20261009/herald/1989902377cbe99324709eeac605ad7c.html</ns6:t>
            </ns6:r>
          </ns6:p>
          <ns7:p xmlns:ns7="http://schemas.openxmlformats.org/drawingml/2006/main">
            <ns7:r>
              <ns7:t>素材：https://ocmsmedia.sfccn.com/vod-4310da/image/default/DE6B82AD0D504DFBA36EC434E438FDEF-6-2.jpg</ns7:t>
            </ns7:r>
          </ns7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演讲者3｜新闻06｜事实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十月六日，金塘港区首次开展相关LNG加注业务的消息发布。海洋石油三〇二轮为达飞帕米尔轮加注约四千立方米液化天然气，实现宁波提气、舟山加注的跨关区协作。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新闻出处：宁波舟山港LNG加注覆盖金塘港区 - 中国交通新闻网</ns4:t>
            </ns4:r>
          </ns4:p>
          <ns5:p xmlns:ns5="http://schemas.openxmlformats.org/drawingml/2006/main">
            <ns5:r>
              <ns5:t>报道日期：2026-10-06</ns5:t>
            </ns5:r>
          </ns5:p>
          <ns6:p xmlns:ns6="http://schemas.openxmlformats.org/drawingml/2006/main">
            <ns6:r>
              <ns6:t>原文：https://www.zgjtb.com/m/2026-10/06/content_540204.html</ns6:t>
            </ns6:r>
          </ns6:p>
          <ns7:p xmlns:ns7="http://schemas.openxmlformats.org/drawingml/2006/main">
            <ns7:r>
              <ns7:t>素材：https://www.zgjtb.com/m/img/2026-10/06/540204_727e2a94-1f50-4ab7-9f4f-9fb19819e2ae.png.2</ns7:t>
            </ns7:r>
          </ns7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演讲者3｜新闻06｜法治观察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这类服务既需要通关程序衔接，也需要船对船危险作业监管。液化天然气并非零排放燃料，评价气候效益还要考虑生产、运输和甲烷泄漏等全生命周期因素。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下面请第四位同学介绍国际海洋合作。</ns4:t>
            </ns4:r>
          </ns4:p>
          <ns5:p xmlns:ns5="http://schemas.openxmlformats.org/drawingml/2006/main">
            <ns5:r>
              <ns5:t/>
            </ns5:r>
          </ns5:p>
          <ns6:p xmlns:ns6="http://schemas.openxmlformats.org/drawingml/2006/main">
            <ns6:r>
              <ns6:t>新闻出处：宁波舟山港LNG加注覆盖金塘港区 - 中国交通新闻网</ns6:t>
            </ns6:r>
          </ns6:p>
          <ns7:p xmlns:ns7="http://schemas.openxmlformats.org/drawingml/2006/main">
            <ns7:r>
              <ns7:t>报道日期：2026-10-06</ns7:t>
            </ns7:r>
          </ns7:p>
          <ns8:p xmlns:ns8="http://schemas.openxmlformats.org/drawingml/2006/main">
            <ns8:r>
              <ns8:t>原文：https://www.zgjtb.com/m/2026-10/06/content_540204.html</ns8:t>
            </ns8:r>
          </ns8:p>
          <ns9:p xmlns:ns9="http://schemas.openxmlformats.org/drawingml/2006/main">
            <ns9:r>
              <ns9:t>素材：https://www.zgjtb.com/m/img/2026-10/06/540204_727e2a94-1f50-4ab7-9f4f-9fb19819e2ae.png.2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演讲者4｜新闻07｜事实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十月九日，国际海事组织发布海洋地球工程研究评估框架，涉及海洋施肥、增碱和生物质沉降三类方法。这些技术希望增强海洋储碳，但生态影响仍有不确定性。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新闻出处：IMO adopts frameworks to assess marine geoengineering research activities - International Maritime Organization</ns4:t>
            </ns4:r>
          </ns4:p>
          <ns5:p xmlns:ns5="http://schemas.openxmlformats.org/drawingml/2006/main">
            <ns5:r>
              <ns5:t>报道日期：2026-10-09</ns5:t>
            </ns5:r>
          </ns5:p>
          <ns6:p xmlns:ns6="http://schemas.openxmlformats.org/drawingml/2006/main">
            <ns6:r>
              <ns6:t>原文：https://www.imo.org/en/MediaCentre/PressBriefings/pages/IMO-adopts-marine-geoengineering-frameworks-for-research-activities.aspx</ns6:t>
            </ns6:r>
          </ns6:p>
          <ns7:p xmlns:ns7="http://schemas.openxmlformats.org/drawingml/2006/main">
            <ns7:r>
              <ns7:t>素材：https://wwwcdn.imo.org/localresources/en/MediaCentre/WhatsNew/PublishingImages/LCLP_Oct 2026_banner_medium.jpg</ns7:t>
            </ns7:r>
          </ns7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演讲者4｜新闻07｜法治观察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框架要求环境评估、协商、监测和透明报告。通过研究框架不等于批准商业化部署。面向新技术，法治首先应把风险审查和持续监督落实到具体项目。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新闻出处：IMO adopts frameworks to assess marine geoengineering research activities - International Maritime Organization</ns4:t>
            </ns4:r>
          </ns4:p>
          <ns5:p xmlns:ns5="http://schemas.openxmlformats.org/drawingml/2006/main">
            <ns5:r>
              <ns5:t>报道日期：2026-10-09</ns5:t>
            </ns5:r>
          </ns5:p>
          <ns6:p xmlns:ns6="http://schemas.openxmlformats.org/drawingml/2006/main">
            <ns6:r>
              <ns6:t>原文：https://www.imo.org/en/MediaCentre/PressBriefings/pages/IMO-adopts-marine-geoengineering-frameworks-for-research-activities.aspx</ns6:t>
            </ns6:r>
          </ns6:p>
          <ns7:p xmlns:ns7="http://schemas.openxmlformats.org/drawingml/2006/main">
            <ns7:r>
              <ns7:t>素材：https://wwwcdn.imo.org/localresources/en/MediaCentre/WhatsNew/PublishingImages/LCLP_Oct 2026_banner_medium.jpg</ns7:t>
            </ns7:r>
          </ns7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演讲者4｜新闻08｜事实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十月六日，地中海区域海洋污染应急中心在马耳他纪念成立五十周年。中心过去五十年支持二十国建立应急体系，累计培训超过五千人，不能把这些数字说成今年新增。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新闻出处：REMPEC marks 50 years of protecting the Mediterranean marine environment - International Maritime Organization</ns4:t>
            </ns4:r>
          </ns4:p>
          <ns5:p xmlns:ns5="http://schemas.openxmlformats.org/drawingml/2006/main">
            <ns5:r>
              <ns5:t>报道日期：2026-10-06</ns5:t>
            </ns5:r>
          </ns5:p>
          <ns6:p xmlns:ns6="http://schemas.openxmlformats.org/drawingml/2006/main">
            <ns6:r>
              <ns6:t>原文：https://www.imo.org/en/MediaCentre/Pages/WhatsNew-2506.aspx</ns6:t>
            </ns6:r>
          </ns6:p>
          <ns7:p xmlns:ns7="http://schemas.openxmlformats.org/drawingml/2006/main">
            <ns7:r>
              <ns7:t>素材：https://wwwcdn.imo.org/localresources/en/MediaCentre/WhatsNew/PublishingImages/REMPEC 50th_medium.jpg</ns7:t>
            </ns7:r>
          </ns7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演讲者4｜新闻08｜法治观察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海洋污染能够跨境传播，单个国家的处置能力可能不足。区域合作的价值，是让预案、专家和信息共享在事故发生时真正运转。这需要平时持续培训和演练。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最后请第五位同学介绍数字港口与公海治理。</ns4:t>
            </ns4:r>
          </ns4:p>
          <ns5:p xmlns:ns5="http://schemas.openxmlformats.org/drawingml/2006/main">
            <ns5:r>
              <ns5:t/>
            </ns5:r>
          </ns5:p>
          <ns6:p xmlns:ns6="http://schemas.openxmlformats.org/drawingml/2006/main">
            <ns6:r>
              <ns6:t>新闻出处：REMPEC marks 50 years of protecting the Mediterranean marine environment - International Maritime Organization</ns6:t>
            </ns6:r>
          </ns6:p>
          <ns7:p xmlns:ns7="http://schemas.openxmlformats.org/drawingml/2006/main">
            <ns7:r>
              <ns7:t>报道日期：2026-10-06</ns7:t>
            </ns7:r>
          </ns7:p>
          <ns8:p xmlns:ns8="http://schemas.openxmlformats.org/drawingml/2006/main">
            <ns8:r>
              <ns8:t>原文：https://www.imo.org/en/MediaCentre/Pages/WhatsNew-2506.aspx</ns8:t>
            </ns8:r>
          </ns8:p>
          <ns9:p xmlns:ns9="http://schemas.openxmlformats.org/drawingml/2006/main">
            <ns9:r>
              <ns9:t>素材：https://wwwcdn.imo.org/localresources/en/MediaCentre/WhatsNew/PublishingImages/REMPEC 50th_medium.jpg</ns9:t>
            </ns9:r>
          </ns9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演讲者5｜新闻09｜事实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十月九日，国际海事组织介绍塞内加尔海运单一窗口需求评估。任务于五日至九日在达喀尔开展，评估港口流程、制度和建设需求，目前不能说新系统已经上线。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新闻出处：Senegal takes steps to digitalize its ports - International Maritime Organization</ns4:t>
            </ns4:r>
          </ns4:p>
          <ns5:p xmlns:ns5="http://schemas.openxmlformats.org/drawingml/2006/main">
            <ns5:r>
              <ns5:t>报道日期：2026-10-09</ns5:t>
            </ns5:r>
          </ns5:p>
          <ns6:p xmlns:ns6="http://schemas.openxmlformats.org/drawingml/2006/main">
            <ns6:r>
              <ns6:t>原文：https://www.imo.org/en/mediacentre/pages/WhatsNew-2507.aspx</ns6:t>
            </ns6:r>
          </ns6:p>
          <ns7:p xmlns:ns7="http://schemas.openxmlformats.org/drawingml/2006/main">
            <ns7:r>
              <ns7:t>素材：https://wwwcdn.imo.org/localresources/en/MediaCentre/WhatsNew/PublishingImages/Senegal WN_medium.jpg</ns7:t>
            </ns7:r>
          </ns7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演讲者5｜新闻09｜法治观察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单一窗口希望让船舶信息统一提交、部门共享。它不只是软件问题，还必须明确数据访问权限、纠错程序和各部门职责，才能提高效率并保留清晰责任。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新闻出处：Senegal takes steps to digitalize its ports - International Maritime Organization</ns4:t>
            </ns4:r>
          </ns4:p>
          <ns5:p xmlns:ns5="http://schemas.openxmlformats.org/drawingml/2006/main">
            <ns5:r>
              <ns5:t>报道日期：2026-10-09</ns5:t>
            </ns5:r>
          </ns5:p>
          <ns6:p xmlns:ns6="http://schemas.openxmlformats.org/drawingml/2006/main">
            <ns6:r>
              <ns6:t>原文：https://www.imo.org/en/mediacentre/pages/WhatsNew-2507.aspx</ns6:t>
            </ns6:r>
          </ns6:p>
          <ns7:p xmlns:ns7="http://schemas.openxmlformats.org/drawingml/2006/main">
            <ns7:r>
              <ns7:t>素材：https://wwwcdn.imo.org/localresources/en/MediaCentre/WhatsNew/PublishingImages/Senegal WN_medium.jpg</ns7:t>
            </ns7:r>
          </ns7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演讲者5｜新闻10｜事实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十月六日，公海条约秘书处选址竞争的新进展见诸报道。智利继续支持瓦尔帕莱索，中国厦门和比利时布鲁塞尔也是候选城市。驻地仍待缔约方会议决定。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新闻出处：Race to host High Seas Treaty HQ heats up as Chile reaffirms bid - Climate Home News</ns4:t>
            </ns4:r>
          </ns4:p>
          <ns5:p xmlns:ns5="http://schemas.openxmlformats.org/drawingml/2006/main">
            <ns5:r>
              <ns5:t>报道日期：2026-10-06</ns5:t>
            </ns5:r>
          </ns5:p>
          <ns6:p xmlns:ns6="http://schemas.openxmlformats.org/drawingml/2006/main">
            <ns6:r>
              <ns6:t>原文：https://www.climatechangenews.com/2026/10/06/race-to-host-high-seas-treaty-hq-heats-up-as-chile-reaffirms-bid/</ns6:t>
            </ns6:r>
          </ns6:p>
          <ns7:p xmlns:ns7="http://schemas.openxmlformats.org/drawingml/2006/main">
            <ns7:r>
              <ns7:t>素材：https://www.climatechangenews.com/wp-content/files/2026/10/image00009_4-1440x810.png</ns7:t>
            </ns7:r>
          </ns7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演讲者5｜新闻10｜法治观察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公海条约关注国家管辖范围外的海洋生物多样性。选址涉及参与成本和科学合作，但机构的最终价值，还要看能否支持保护措施、环境影响评估和能力建设。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新闻出处：Race to host High Seas Treaty HQ heats up as Chile reaffirms bid - Climate Home News</ns4:t>
            </ns4:r>
          </ns4:p>
          <ns5:p xmlns:ns5="http://schemas.openxmlformats.org/drawingml/2006/main">
            <ns5:r>
              <ns5:t>报道日期：2026-10-06</ns5:t>
            </ns5:r>
          </ns5:p>
          <ns6:p xmlns:ns6="http://schemas.openxmlformats.org/drawingml/2006/main">
            <ns6:r>
              <ns6:t>原文：https://www.climatechangenews.com/2026/10/06/race-to-host-high-seas-treaty-hq-heats-up-as-chile-reaffirms-bid/</ns6:t>
            </ns6:r>
          </ns6:p>
          <ns7:p xmlns:ns7="http://schemas.openxmlformats.org/drawingml/2006/main">
            <ns7:r>
              <ns7:t>素材：https://www.climatechangenews.com/wp-content/files/2026/10/image00009_4-1440x810.png</ns7:t>
            </ns7:r>
          </ns7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回看十条新闻，治理成效最终要看责任能否落实、程序是否可核查，以及生态和安全是否改善。判断一项措施有效，需要持续监测和执行记录。我们的汇报到此结束，谢谢大家。</ns0:t>
            </ns0:r>
          </ns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备查页，不纳入8分钟口播。新闻01—05原文入口。</ns0:t>
            </ns0:r>
          </ns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备查页，不纳入8分钟口播。新闻06—10原文入口。</ns0:t>
            </ns0:r>
          </ns0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尾动画页，不纳入原8分钟新闻口播。两枚筊杯均正面朝上，按展示要求固定最终姿态，不标注传统占筊结论。进入页面自动播放9秒3D动画，结束停留在两枚正面朝上。模型、材质和轨迹为原创程序制作；外形参考 https://en.wikipedia.org/wiki/Jiaobei 。渲染库 three.js 0.160.1（MIT）。视频以H.264、60fps内嵌，无需外部文件。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d9d8d437a8428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6e32c6714f4bd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93a1d80a454b3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2df354dd3245e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ea8e4aa1a5420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b98c8f933b45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4ACAEAD-9851-4E94-BBD9-68E84E19E3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8562959-A261-4EBD-AC2F-051B21FEE2A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20DF1D0-A456-4330-BB04-1B764D1A6CE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578AFE4-696B-4AD7-AE4B-547E469FDD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03FBF07-5207-465C-8A24-47AAC183E4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4AEAC80-EA03-4770-8D3F-EEF3019F79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B565E4F-BBC3-45F7-B0B4-7B8A2F218C1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4F39134-C799-429F-B08E-18C5FAFC7CF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67A1880-1994-4B36-9BD2-B362CB4F03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BA023DF-DF85-48C4-84D1-40DEDA89D8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f4d9c4601834e0c" /><Relationship Type="http://schemas.openxmlformats.org/officeDocument/2006/relationships/slideLayout" Target="/ppt/slideLayouts/slideLayout1.xml" Id="Re3d55f9563da41f1" /><Relationship Type="http://schemas.openxmlformats.org/officeDocument/2006/relationships/slideLayout" Target="/ppt/slideLayouts/slideLayout2.xml" Id="R69d7df153fd64114" /><Relationship Type="http://schemas.openxmlformats.org/officeDocument/2006/relationships/slideLayout" Target="/ppt/slideLayouts/slideLayout3.xml" Id="R2a22a0ffa4c8448b" /><Relationship Type="http://schemas.openxmlformats.org/officeDocument/2006/relationships/slideLayout" Target="/ppt/slideLayouts/slideLayout4.xml" Id="R8cb3db4bfcd144aa" /><Relationship Type="http://schemas.openxmlformats.org/officeDocument/2006/relationships/slideLayout" Target="/ppt/slideLayouts/slideLayout5.xml" Id="R1660c5d1f92e4130" /><Relationship Type="http://schemas.openxmlformats.org/officeDocument/2006/relationships/slideLayout" Target="/ppt/slideLayouts/slideLayout6.xml" Id="Rb717589298a24f30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3d55f9563da41f1"/>
    <p:sldLayoutId xmlns:r="http://schemas.openxmlformats.org/officeDocument/2006/relationships" id="2147483650" r:id="R69d7df153fd64114"/>
    <p:sldLayoutId xmlns:r="http://schemas.openxmlformats.org/officeDocument/2006/relationships" id="2147483651" r:id="R2a22a0ffa4c8448b"/>
    <p:sldLayoutId xmlns:r="http://schemas.openxmlformats.org/officeDocument/2006/relationships" id="2147483652" r:id="R8cb3db4bfcd144aa"/>
    <p:sldLayoutId xmlns:r="http://schemas.openxmlformats.org/officeDocument/2006/relationships" id="2147483653" r:id="R1660c5d1f92e4130"/>
    <p:sldLayoutId xmlns:r="http://schemas.openxmlformats.org/officeDocument/2006/relationships" id="2147483654" r:id="Rb717589298a24f3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b343f0ca5c4384" /><Relationship Type="http://schemas.openxmlformats.org/officeDocument/2006/relationships/image" Target="/ppt/media/image.jpeg" Id="R5b3161c877af4feb" /><Relationship Type="http://schemas.openxmlformats.org/officeDocument/2006/relationships/notesSlide" Target="/ppt/notesSlides/notesSlide1.xml" Id="R9fbd28fe8acc476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9221e1ade642b6" /><Relationship Type="http://schemas.openxmlformats.org/officeDocument/2006/relationships/notesSlide" Target="/ppt/notesSlides/notesSlide2.xml" Id="Rf47e7706043a416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c11123eb9549db" /><Relationship Type="http://schemas.openxmlformats.org/officeDocument/2006/relationships/image" Target="/ppt/media/image2.jpeg" Id="R6c63a78a98d741fa" /><Relationship Type="http://schemas.openxmlformats.org/officeDocument/2006/relationships/notesSlide" Target="/ppt/notesSlides/notesSlide3.xml" Id="R9f77e0a818f1455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2d87f645654abf" /><Relationship Type="http://schemas.openxmlformats.org/officeDocument/2006/relationships/image" Target="/ppt/media/image3.jpeg" Id="Rc11ec85b09364ccc" /><Relationship Type="http://schemas.openxmlformats.org/officeDocument/2006/relationships/notesSlide" Target="/ppt/notesSlides/notesSlide4.xml" Id="R7df652a24d20432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fbe43162044260" /><Relationship Type="http://schemas.openxmlformats.org/officeDocument/2006/relationships/image" Target="/ppt/media/image4.jpeg" Id="Rf830d4c696244709" /><Relationship Type="http://schemas.openxmlformats.org/officeDocument/2006/relationships/notesSlide" Target="/ppt/notesSlides/notesSlide5.xml" Id="R59a69ff98b5449c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659d1a0e7d14468" /><Relationship Type="http://schemas.openxmlformats.org/officeDocument/2006/relationships/image" Target="/ppt/media/image5.jpeg" Id="R08c71f1f0635493d" /><Relationship Type="http://schemas.openxmlformats.org/officeDocument/2006/relationships/notesSlide" Target="/ppt/notesSlides/notesSlide6.xml" Id="R1f04c6137e68443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478e2fbf334059" /><Relationship Type="http://schemas.openxmlformats.org/officeDocument/2006/relationships/image" Target="/ppt/media/image6.jpeg" Id="Rc2ade6e2a4804f7c" /><Relationship Type="http://schemas.openxmlformats.org/officeDocument/2006/relationships/notesSlide" Target="/ppt/notesSlides/notesSlide7.xml" Id="Rc193cb13523c413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661130106e466d" /><Relationship Type="http://schemas.openxmlformats.org/officeDocument/2006/relationships/image" Target="/ppt/media/image7.jpeg" Id="R4b9f5ec70ab84fe0" /><Relationship Type="http://schemas.openxmlformats.org/officeDocument/2006/relationships/notesSlide" Target="/ppt/notesSlides/notesSlide8.xml" Id="R5adc0eff95db4f9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fcdb77c26594d04" /><Relationship Type="http://schemas.openxmlformats.org/officeDocument/2006/relationships/image" Target="/ppt/media/image8.jpeg" Id="R19fb2beac24e4f60" /><Relationship Type="http://schemas.openxmlformats.org/officeDocument/2006/relationships/notesSlide" Target="/ppt/notesSlides/notesSlide9.xml" Id="R77fa22b129fc4e9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824bd1666e4620" /><Relationship Type="http://schemas.openxmlformats.org/officeDocument/2006/relationships/image" Target="/ppt/media/image9.jpeg" Id="Rb9eb15c093b448b1" /><Relationship Type="http://schemas.openxmlformats.org/officeDocument/2006/relationships/notesSlide" Target="/ppt/notesSlides/notesSlide10.xml" Id="Rbb0a00ea600a44f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b4d09569334c84" /><Relationship Type="http://schemas.openxmlformats.org/officeDocument/2006/relationships/image" Target="/ppt/media/image10.jpeg" Id="R24c2bd04ce28422b" /><Relationship Type="http://schemas.openxmlformats.org/officeDocument/2006/relationships/notesSlide" Target="/ppt/notesSlides/notesSlide11.xml" Id="Ra37683c9b5db4df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90e6c0b8214b74" /><Relationship Type="http://schemas.openxmlformats.org/officeDocument/2006/relationships/image" Target="/ppt/media/image11.jpeg" Id="R33654fe85a9146b3" /><Relationship Type="http://schemas.openxmlformats.org/officeDocument/2006/relationships/notesSlide" Target="/ppt/notesSlides/notesSlide12.xml" Id="R355da22bfba6474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cb798270d04bb7" /><Relationship Type="http://schemas.openxmlformats.org/officeDocument/2006/relationships/image" Target="/ppt/media/image12.jpeg" Id="Rad79ad3025bc4c31" /><Relationship Type="http://schemas.openxmlformats.org/officeDocument/2006/relationships/notesSlide" Target="/ppt/notesSlides/notesSlide13.xml" Id="Rd770aae1d3ce42c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686b28c7b34464" /><Relationship Type="http://schemas.openxmlformats.org/officeDocument/2006/relationships/image" Target="/ppt/media/image13.jpeg" Id="Rc7ce5d74c9574f63" /><Relationship Type="http://schemas.openxmlformats.org/officeDocument/2006/relationships/notesSlide" Target="/ppt/notesSlides/notesSlide14.xml" Id="Rb4e8baae95414ab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095acc39bd4035" /><Relationship Type="http://schemas.openxmlformats.org/officeDocument/2006/relationships/image" Target="/ppt/media/image14.jpeg" Id="Rf202278f53be431a" /><Relationship Type="http://schemas.openxmlformats.org/officeDocument/2006/relationships/notesSlide" Target="/ppt/notesSlides/notesSlide15.xml" Id="R5c859ab900e64bb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43438c8e484157" /><Relationship Type="http://schemas.openxmlformats.org/officeDocument/2006/relationships/image" Target="/ppt/media/image15.jpeg" Id="R1e7782b3e5594f20" /><Relationship Type="http://schemas.openxmlformats.org/officeDocument/2006/relationships/notesSlide" Target="/ppt/notesSlides/notesSlide16.xml" Id="R58fa3f8087ef4a0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a0d40b3c234d70" /><Relationship Type="http://schemas.openxmlformats.org/officeDocument/2006/relationships/image" Target="/ppt/media/image16.jpeg" Id="R0e92847b64734eae" /><Relationship Type="http://schemas.openxmlformats.org/officeDocument/2006/relationships/notesSlide" Target="/ppt/notesSlides/notesSlide17.xml" Id="R61bdeea8cf2b4d4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2e62d71e6f9488e" /><Relationship Type="http://schemas.openxmlformats.org/officeDocument/2006/relationships/image" Target="/ppt/media/image17.jpeg" Id="Rf863762a218c4155" /><Relationship Type="http://schemas.openxmlformats.org/officeDocument/2006/relationships/notesSlide" Target="/ppt/notesSlides/notesSlide18.xml" Id="R2816ad2c99af447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a1929cd9b1440d" /><Relationship Type="http://schemas.openxmlformats.org/officeDocument/2006/relationships/image" Target="/ppt/media/image18.jpeg" Id="R3cade884215840e7" /><Relationship Type="http://schemas.openxmlformats.org/officeDocument/2006/relationships/notesSlide" Target="/ppt/notesSlides/notesSlide19.xml" Id="R3a3de27b7c2746f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25774b773aa45e9" /><Relationship Type="http://schemas.openxmlformats.org/officeDocument/2006/relationships/image" Target="/ppt/media/image19.jpeg" Id="R363a57becdc24a16" /><Relationship Type="http://schemas.openxmlformats.org/officeDocument/2006/relationships/notesSlide" Target="/ppt/notesSlides/notesSlide20.xml" Id="R9e7a713bc0db49b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8a9c8b8aa90484e" /><Relationship Type="http://schemas.openxmlformats.org/officeDocument/2006/relationships/image" Target="/ppt/media/image20.jpeg" Id="R1e032eb7b7c94fe6" /><Relationship Type="http://schemas.openxmlformats.org/officeDocument/2006/relationships/notesSlide" Target="/ppt/notesSlides/notesSlide21.xml" Id="Rbf330d0ee3474ba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6cb9c52bc64dec" /><Relationship Type="http://schemas.openxmlformats.org/officeDocument/2006/relationships/image" Target="/ppt/media/image21.jpeg" Id="R65195f84e9d24284" /><Relationship Type="http://schemas.openxmlformats.org/officeDocument/2006/relationships/notesSlide" Target="/ppt/notesSlides/notesSlide22.xml" Id="R3da5ff159e7d4aa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19244d9b834b51" /><Relationship Type="http://schemas.openxmlformats.org/officeDocument/2006/relationships/notesSlide" Target="/ppt/notesSlides/notesSlide23.xml" Id="R7cc7818e7ee949e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3c0065a46548bc" /><Relationship Type="http://schemas.openxmlformats.org/officeDocument/2006/relationships/hyperlink" Target="https://m.thepaper.cn/newsDetail_forward_34210667" TargetMode="External" Id="R0bd05005c2d54c17" /><Relationship Type="http://schemas.openxmlformats.org/officeDocument/2006/relationships/hyperlink" Target="https://m.fznews.com.cn/node/24361/20261009/3eCX07xj0W.shtml" TargetMode="External" Id="Ra78d44fb58c54ea2" /><Relationship Type="http://schemas.openxmlformats.org/officeDocument/2006/relationships/hyperlink" Target="https://finance.sina.com.cn/jjxw/2026-10-10/doc-iniututc2037582.shtml" TargetMode="External" Id="R2b44648c3b0a4fc4" /><Relationship Type="http://schemas.openxmlformats.org/officeDocument/2006/relationships/hyperlink" Target="https://www.zgjtb.com/m/2026-10/07/content_540277.html" TargetMode="External" Id="Ra481bc9e21744177" /><Relationship Type="http://schemas.openxmlformats.org/officeDocument/2006/relationships/hyperlink" Target="https://www.21jingji.com/article/20261009/herald/1989902377cbe99324709eeac605ad7c.html" TargetMode="External" Id="R64897537911c4e7d" /><Relationship Type="http://schemas.openxmlformats.org/officeDocument/2006/relationships/notesSlide" Target="/ppt/notesSlides/notesSlide24.xml" Id="Rafc782cb7ff34d8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24db5618cf34e41" /><Relationship Type="http://schemas.openxmlformats.org/officeDocument/2006/relationships/hyperlink" Target="https://www.zgjtb.com/m/2026-10/06/content_540204.html" TargetMode="External" Id="R743fbfb33178489e" /><Relationship Type="http://schemas.openxmlformats.org/officeDocument/2006/relationships/hyperlink" Target="https://www.imo.org/en/MediaCentre/PressBriefings/pages/IMO-adopts-marine-geoengineering-frameworks-for-research-activities.aspx" TargetMode="External" Id="R80cfcd84a21d43f1" /><Relationship Type="http://schemas.openxmlformats.org/officeDocument/2006/relationships/hyperlink" Target="https://www.imo.org/en/MediaCentre/Pages/WhatsNew-2506.aspx" TargetMode="External" Id="Rd57a479a09684c4e" /><Relationship Type="http://schemas.openxmlformats.org/officeDocument/2006/relationships/hyperlink" Target="https://www.imo.org/en/mediacentre/pages/WhatsNew-2507.aspx" TargetMode="External" Id="Re7f20638bb14478f" /><Relationship Type="http://schemas.openxmlformats.org/officeDocument/2006/relationships/hyperlink" Target="https://www.climatechangenews.com/2026/10/06/race-to-host-high-seas-treaty-hq-heats-up-as-chile-reaffirms-bid/" TargetMode="External" Id="Rfc8c8c23a06f4c97" /><Relationship Type="http://schemas.openxmlformats.org/officeDocument/2006/relationships/notesSlide" Target="/ppt/notesSlides/notesSlide25.xml" Id="R0e775608870446dc" /></Relationships>
</file>

<file path=ppt/slides/_rels/slide26.xml.rels><?xml version='1.0' encoding='UTF-8' standalone='yes'?>
<Relationships xmlns="http://schemas.openxmlformats.org/package/2006/relationships"><Relationship Type="http://schemas.openxmlformats.org/officeDocument/2006/relationships/slideLayout" Target="../slideLayouts/slideLayout1.xml" Id="rId1"/><Relationship Type="http://schemas.openxmlformats.org/officeDocument/2006/relationships/notesSlide" Target="../notesSlides/notesSlide26.xml" Id="rId2"/><Relationship Type="http://schemas.openxmlformats.org/officeDocument/2006/relationships/video" Target="/ppt/media/mediadata.mp4" Id="R6b00ed8278ef4e2b"/><Relationship Type="http://schemas.microsoft.com/office/2007/relationships/media" Target="/ppt/media/mediadata.mp4" Id="R7d8fae16bb3c48ab"/><Relationship Type="http://schemas.openxmlformats.org/officeDocument/2006/relationships/image" Target="/ppt/media/image.png" Id="Rab0c5aeb11064ee8"/></Relationships>
</file>

<file path=ppt/slides/slide1.xml><?xml version="1.0" encoding="utf-8"?>
<p:sld xmlns:a="http://schemas.openxmlformats.org/drawingml/2006/main" xmlns:a16="http://schemas.microsoft.com/office/drawing/2014/main" xmlns:r="http://schemas.openxmlformats.org/officeDocument/2006/relationships" xmlns:p14="http://schemas.microsoft.com/office/powerpoint/2010/main" xmlns:p="http://schemas.openxmlformats.org/presentationml/2006/main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1-green-field">
            <a:extLst xmlns:a="http://schemas.openxmlformats.org/drawingml/2006/main">
              <a:ext uri="{FF2B5EF4-FFF2-40B4-BE49-F238E27FC236}">
                <a16:creationId xmlns:a16="http://schemas.microsoft.com/office/drawing/2014/main" id="{5A086A68-B462-4805-B3B9-78FF856F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0"/>
            <a:ext cx="381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056"/>
          </a:solidFill>
          <a:ln xmlns:a="http://schemas.openxmlformats.org/drawingml/2006/main" w="0">
            <a:noFill/>
          </a:ln>
        </p:spPr>
      </p:sp>
      <p:sp>
        <p:nvSpPr>
          <p:cNvPr id="2" name="s1-red-edge">
            <a:extLst xmlns:a="http://schemas.openxmlformats.org/drawingml/2006/main">
              <a:ext uri="{FF2B5EF4-FFF2-40B4-BE49-F238E27FC236}">
                <a16:creationId xmlns:a16="http://schemas.microsoft.com/office/drawing/2014/main" id="{340B1498-C19E-414E-9F31-936D4B3F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0"/>
            <a:ext cx="495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D32"/>
          </a:solidFill>
          <a:ln xmlns:a="http://schemas.openxmlformats.org/drawingml/2006/main" w="0">
            <a:noFill/>
          </a:ln>
        </p:spPr>
      </p:sp>
      <p:sp>
        <p:nvSpPr>
          <p:cNvPr id="3" name="s1-kicker">
            <a:extLst xmlns:a="http://schemas.openxmlformats.org/drawingml/2006/main">
              <a:ext uri="{FF2B5EF4-FFF2-40B4-BE49-F238E27FC236}">
                <a16:creationId xmlns:a16="http://schemas.microsoft.com/office/drawing/2014/main" id="{594CDD7E-7C5D-45B4-80D0-3E5BCC84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8175"/>
            <a:ext cx="733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海洋法治课堂汇报</a:t>
            </a:r>
          </a:p>
        </p:txBody>
      </p:sp>
      <p:sp>
        <p:nvSpPr>
          <p:cNvPr id="4" name="s1-title">
            <a:extLst xmlns:a="http://schemas.openxmlformats.org/drawingml/2006/main">
              <a:ext uri="{FF2B5EF4-FFF2-40B4-BE49-F238E27FC236}">
                <a16:creationId xmlns:a16="http://schemas.microsoft.com/office/drawing/2014/main" id="{621EFCA4-87F8-4A60-B4A8-6C84B0308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75247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4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64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645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一周海洋时事</a:t>
            </a:r>
          </a:p>
          <a:p xmlns:a="http://schemas.openxmlformats.org/drawingml/2006/main">
            <a:pPr algn="l">
              <a:defRPr sz="64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645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与法治观察</a:t>
            </a:r>
          </a:p>
        </p:txBody>
      </p:sp>
      <p:sp>
        <p:nvSpPr>
          <p:cNvPr id="5" name="s1-date">
            <a:extLst xmlns:a="http://schemas.openxmlformats.org/drawingml/2006/main">
              <a:ext uri="{FF2B5EF4-FFF2-40B4-BE49-F238E27FC236}">
                <a16:creationId xmlns:a16="http://schemas.microsoft.com/office/drawing/2014/main" id="{DD0CC684-3DE9-47A3-8630-A437DD060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29125"/>
            <a:ext cx="733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2026年10月6日至12日</a:t>
            </a:r>
          </a:p>
        </p:txBody>
      </p:sp>
      <p:sp>
        <p:nvSpPr>
          <p:cNvPr id="6" name="s1-subtitle">
            <a:extLst xmlns:a="http://schemas.openxmlformats.org/drawingml/2006/main">
              <a:ext uri="{FF2B5EF4-FFF2-40B4-BE49-F238E27FC236}">
                <a16:creationId xmlns:a16="http://schemas.microsoft.com/office/drawing/2014/main" id="{BB548400-1B08-4DD7-884D-B47EA1525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24475"/>
            <a:ext cx="73342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十条新闻，五位讲述者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14E855-04D6-4BEF-BEE2-55F2D1B333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3161c877af4feb"/>
          <a:srcRect xmlns:a="http://schemas.openxmlformats.org/drawingml/2006/main" l="19067" t="0" r="1906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2000" y="1704975"/>
            <a:ext cx="3314700" cy="3571875"/>
          </a:xfrm>
          <a:prstGeom xmlns:a="http://schemas.openxmlformats.org/drawingml/2006/main" prst="rect">
            <a:avLst/>
          </a:prstGeom>
        </p:spPr>
      </p:pic>
      <p:sp>
        <p:nvSpPr>
          <p:cNvPr id="8" name="s1-edition">
            <a:extLst xmlns:a="http://schemas.openxmlformats.org/drawingml/2006/main">
              <a:ext uri="{FF2B5EF4-FFF2-40B4-BE49-F238E27FC236}">
                <a16:creationId xmlns:a16="http://schemas.microsoft.com/office/drawing/2014/main" id="{FC855C73-8368-481F-B1C7-926FD2B2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628650"/>
            <a:ext cx="2571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pPr>
            <a:r>
              <a:rPr sz="2850" b="1">
                <a:solidFill>
                  <a:srgbClr val="F3E7CD"/>
                </a:solidFill>
                <a:latin typeface="SimSun"/>
                <a:ea typeface="SimSun"/>
                <a:cs typeface="SimSun"/>
              </a:rPr>
              <a:t>OCEAN</a:t>
            </a:r>
          </a:p>
          <a:p xmlns:a="http://schemas.openxmlformats.org/drawingml/2006/main">
            <a:pPr algn="l">
              <a:defRPr sz="285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pPr>
            <a:r>
              <a:rPr sz="2850" b="1">
                <a:solidFill>
                  <a:srgbClr val="F3E7CD"/>
                </a:solidFill>
                <a:latin typeface="SimSun"/>
                <a:ea typeface="SimSun"/>
                <a:cs typeface="SimSun"/>
              </a:rPr>
              <a:t>WEEKLY</a:t>
            </a:r>
          </a:p>
        </p:txBody>
      </p:sp>
      <p:sp>
        <p:nvSpPr>
          <p:cNvPr id="9" name="s1-footer">
            <a:extLst xmlns:a="http://schemas.openxmlformats.org/drawingml/2006/main">
              <a:ext uri="{FF2B5EF4-FFF2-40B4-BE49-F238E27FC236}">
                <a16:creationId xmlns:a16="http://schemas.microsoft.com/office/drawing/2014/main" id="{31794A98-4C46-466F-985D-392628DB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10096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2026年10月6日至12日</a:t>
            </a:r>
          </a:p>
        </p:txBody>
      </p:sp>
      <p:sp>
        <p:nvSpPr>
          <p:cNvPr id="10" name="s1-page">
            <a:extLst xmlns:a="http://schemas.openxmlformats.org/drawingml/2006/main">
              <a:ext uri="{FF2B5EF4-FFF2-40B4-BE49-F238E27FC236}">
                <a16:creationId xmlns:a16="http://schemas.microsoft.com/office/drawing/2014/main" id="{F226054A-C270-4715-9E30-688BD9785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01 / 26</a:t>
            </a:r>
          </a:p>
        </p:txBody>
      </p:sp>
    </p:spTree>
    <p:extLst>
      <p:ext uri="{BB962C8B-B14F-4D97-AF65-F5344CB8AC3E}">
        <p14:creationId xmlns:p14="http://schemas.microsoft.com/office/powerpoint/2010/main" val="1703633519"/>
      </p:ext>
    </p:extLst>
  </p:cSld>
  <p:transition p14: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" presetClass="entr" presetSubtype="8" accel="5000" decel="65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60"/>
                            </p:stCondLst>
                            <p:childTnLst>
                              <p:par>
                                <p:cTn id="10" presetID="20" presetClass="entr" presetSubtype="4" accel="5000" decel="6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20"/>
                            </p:stCondLst>
                            <p:childTnLst>
                              <p:par>
                                <p:cTn id="15" presetID="10" presetClass="entr" presetSubtype="0" accel="5000" decel="65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80"/>
                            </p:stCondLst>
                            <p:childTnLst>
                              <p:par>
                                <p:cTn id="20" presetID="10" presetClass="entr" presetSubtype="0" accel="5000" decel="65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2" grpId="1"/>
      <p:bldP spid="5" grpId="2"/>
      <p:bldP spid="6" grpId="3"/>
    </p:bldLst>
  </p:timing>
</p:sld>
</file>

<file path=ppt/slides/slide2.xml><?xml version="1.0" encoding="utf-8"?>
<p:sld xmlns:a="http://schemas.openxmlformats.org/drawingml/2006/main" xmlns:a16="http://schemas.microsoft.com/office/drawing/2014/main" xmlns:p14="http://schemas.microsoft.com/office/powerpoint/2010/main" xmlns:p="http://schemas.openxmlformats.org/presentationml/2006/main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2-yellow-field">
            <a:extLst xmlns:a="http://schemas.openxmlformats.org/drawingml/2006/main">
              <a:ext uri="{FF2B5EF4-FFF2-40B4-BE49-F238E27FC236}">
                <a16:creationId xmlns:a16="http://schemas.microsoft.com/office/drawing/2014/main" id="{440C9200-B577-453C-9EA2-3DF36724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0"/>
            <a:ext cx="401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C47"/>
          </a:solidFill>
          <a:ln xmlns:a="http://schemas.openxmlformats.org/drawingml/2006/main" w="0">
            <a:noFill/>
          </a:ln>
        </p:spPr>
      </p:sp>
      <p:sp>
        <p:nvSpPr>
          <p:cNvPr id="2" name="s2-title">
            <a:extLst xmlns:a="http://schemas.openxmlformats.org/drawingml/2006/main">
              <a:ext uri="{FF2B5EF4-FFF2-40B4-BE49-F238E27FC236}">
                <a16:creationId xmlns:a16="http://schemas.microsoft.com/office/drawing/2014/main" id="{E69008A6-4BA8-4517-BC35-9CECE0328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76275"/>
            <a:ext cx="10668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3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35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本周观察的三个议题</a:t>
            </a:r>
          </a:p>
        </p:txBody>
      </p:sp>
      <p:sp>
        <p:nvSpPr>
          <p:cNvPr id="3" name="s2-range-0">
            <a:extLst xmlns:a="http://schemas.openxmlformats.org/drawingml/2006/main">
              <a:ext uri="{FF2B5EF4-FFF2-40B4-BE49-F238E27FC236}">
                <a16:creationId xmlns:a16="http://schemas.microsoft.com/office/drawing/2014/main" id="{6251217A-6565-41C0-A37E-7F17D4F52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1666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01—03</a:t>
            </a:r>
          </a:p>
        </p:txBody>
      </p:sp>
      <p:sp>
        <p:nvSpPr>
          <p:cNvPr id="4" name="s2-topic-0">
            <a:extLst xmlns:a="http://schemas.openxmlformats.org/drawingml/2006/main">
              <a:ext uri="{FF2B5EF4-FFF2-40B4-BE49-F238E27FC236}">
                <a16:creationId xmlns:a16="http://schemas.microsoft.com/office/drawing/2014/main" id="{F23CB020-58CA-46AA-BCC4-CCE10966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098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285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海洋生态保护</a:t>
            </a:r>
          </a:p>
        </p:txBody>
      </p:sp>
      <p:sp>
        <p:nvSpPr>
          <p:cNvPr id="5" name="s2-sub-0">
            <a:extLst xmlns:a="http://schemas.openxmlformats.org/drawingml/2006/main">
              <a:ext uri="{FF2B5EF4-FFF2-40B4-BE49-F238E27FC236}">
                <a16:creationId xmlns:a16="http://schemas.microsoft.com/office/drawing/2014/main" id="{521B1A12-4FA4-4DAA-BE61-52A23E06D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771775"/>
            <a:ext cx="561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经营边界、海岛监督与生境修复</a:t>
            </a:r>
          </a:p>
        </p:txBody>
      </p:sp>
      <p:sp>
        <p:nvSpPr>
          <p:cNvPr id="6" name="s2-range-1">
            <a:extLst xmlns:a="http://schemas.openxmlformats.org/drawingml/2006/main">
              <a:ext uri="{FF2B5EF4-FFF2-40B4-BE49-F238E27FC236}">
                <a16:creationId xmlns:a16="http://schemas.microsoft.com/office/drawing/2014/main" id="{C8374C81-DD26-45A3-A53A-F09651EF7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666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04—06</a:t>
            </a:r>
          </a:p>
        </p:txBody>
      </p:sp>
      <p:sp>
        <p:nvSpPr>
          <p:cNvPr id="7" name="s2-topic-1">
            <a:extLst xmlns:a="http://schemas.openxmlformats.org/drawingml/2006/main">
              <a:ext uri="{FF2B5EF4-FFF2-40B4-BE49-F238E27FC236}">
                <a16:creationId xmlns:a16="http://schemas.microsoft.com/office/drawing/2014/main" id="{3C7F2E95-3CBF-4779-8F64-05355165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44805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285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航运安全与服务</a:t>
            </a:r>
          </a:p>
        </p:txBody>
      </p:sp>
      <p:sp>
        <p:nvSpPr>
          <p:cNvPr id="8" name="s2-sub-1">
            <a:extLst xmlns:a="http://schemas.openxmlformats.org/drawingml/2006/main">
              <a:ext uri="{FF2B5EF4-FFF2-40B4-BE49-F238E27FC236}">
                <a16:creationId xmlns:a16="http://schemas.microsoft.com/office/drawing/2014/main" id="{6F920018-5690-4B8D-AC7C-0CE05E2F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010025"/>
            <a:ext cx="561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散货风险、港口保畅与LNG加注</a:t>
            </a:r>
          </a:p>
        </p:txBody>
      </p:sp>
      <p:sp>
        <p:nvSpPr>
          <p:cNvPr id="9" name="s2-range-2">
            <a:extLst xmlns:a="http://schemas.openxmlformats.org/drawingml/2006/main">
              <a:ext uri="{FF2B5EF4-FFF2-40B4-BE49-F238E27FC236}">
                <a16:creationId xmlns:a16="http://schemas.microsoft.com/office/drawing/2014/main" id="{EF9C0D63-9B6E-4921-B3EA-EDAAD5F9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6668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07—10</a:t>
            </a:r>
          </a:p>
        </p:txBody>
      </p:sp>
      <p:sp>
        <p:nvSpPr>
          <p:cNvPr id="10" name="s2-topic-2">
            <a:extLst xmlns:a="http://schemas.openxmlformats.org/drawingml/2006/main">
              <a:ext uri="{FF2B5EF4-FFF2-40B4-BE49-F238E27FC236}">
                <a16:creationId xmlns:a16="http://schemas.microsoft.com/office/drawing/2014/main" id="{C290E196-9ABF-4F91-83B5-91AB7FA17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686300"/>
            <a:ext cx="581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285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国际海洋治理</a:t>
            </a:r>
          </a:p>
        </p:txBody>
      </p:sp>
      <p:sp>
        <p:nvSpPr>
          <p:cNvPr id="11" name="s2-sub-2">
            <a:extLst xmlns:a="http://schemas.openxmlformats.org/drawingml/2006/main">
              <a:ext uri="{FF2B5EF4-FFF2-40B4-BE49-F238E27FC236}">
                <a16:creationId xmlns:a16="http://schemas.microsoft.com/office/drawing/2014/main" id="{87E5A2BF-B355-41F5-8F91-A573DA0F4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248275"/>
            <a:ext cx="5619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新技术评估、区域协作与治理机构</a:t>
            </a:r>
          </a:p>
        </p:txBody>
      </p:sp>
      <p:sp>
        <p:nvSpPr>
          <p:cNvPr id="12" name="s2-duration">
            <a:extLst xmlns:a="http://schemas.openxmlformats.org/drawingml/2006/main">
              <a:ext uri="{FF2B5EF4-FFF2-40B4-BE49-F238E27FC236}">
                <a16:creationId xmlns:a16="http://schemas.microsoft.com/office/drawing/2014/main" id="{52FCE2C2-6A08-4D30-A2BF-639155B7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2476500"/>
            <a:ext cx="2952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33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约8分钟</a:t>
            </a:r>
          </a:p>
          <a:p xmlns:a="http://schemas.openxmlformats.org/drawingml/2006/main">
            <a:pPr algn="l">
              <a:defRPr sz="33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33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五人共同汇报</a:t>
            </a:r>
          </a:p>
        </p:txBody>
      </p:sp>
      <p:sp>
        <p:nvSpPr>
          <p:cNvPr id="13" name="s2-footer">
            <a:extLst xmlns:a="http://schemas.openxmlformats.org/drawingml/2006/main">
              <a:ext uri="{FF2B5EF4-FFF2-40B4-BE49-F238E27FC236}">
                <a16:creationId xmlns:a16="http://schemas.microsoft.com/office/drawing/2014/main" id="{87913C47-1886-4A69-B66E-596B743A6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10096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按原报道标注的日期选取本周新闻</a:t>
            </a:r>
          </a:p>
        </p:txBody>
      </p:sp>
      <p:sp>
        <p:nvSpPr>
          <p:cNvPr id="14" name="s2-page">
            <a:extLst xmlns:a="http://schemas.openxmlformats.org/drawingml/2006/main">
              <a:ext uri="{FF2B5EF4-FFF2-40B4-BE49-F238E27FC236}">
                <a16:creationId xmlns:a16="http://schemas.microsoft.com/office/drawing/2014/main" id="{2BFC7A65-5EE5-456C-B7B8-00F9D2D56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02 / 26</a:t>
            </a:r>
          </a:p>
        </p:txBody>
      </p:sp>
    </p:spTree>
    <p:extLst>
      <p:ext uri="{BB962C8B-B14F-4D97-AF65-F5344CB8AC3E}">
        <p14:creationId xmlns:p14="http://schemas.microsoft.com/office/powerpoint/2010/main" val="720106818"/>
      </p:ext>
    </p:extLst>
  </p:cSld>
  <p:transition p14: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" presetClass="entr" presetSubtype="1" fill="hold" grpId="0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"/>
                            </p:stCondLst>
                            <p:childTnLst>
                              <p:par>
                                <p:cTn id="10" presetID="10" presetClass="entr" presetSubtype="0" fill="hold" grpId="1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0"/>
                            </p:stCondLst>
                            <p:childTnLst>
                              <p:par>
                                <p:cTn id="15" presetID="2" presetClass="entr" presetSubtype="1" fill="hold" grpId="2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370"/>
                            </p:stCondLst>
                            <p:childTnLst>
                              <p:par>
                                <p:cTn id="21" presetID="10" presetClass="entr" presetSubtype="0" fill="hold" grpId="3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40"/>
                            </p:stCondLst>
                            <p:childTnLst>
                              <p:par>
                                <p:cTn id="26" presetID="2" presetClass="entr" presetSubtype="1" fill="hold" grpId="4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40"/>
                            </p:stCondLst>
                            <p:childTnLst>
                              <p:par>
                                <p:cTn id="32" presetID="10" presetClass="entr" presetSubtype="0" fill="hold" grpId="5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1"/>
      <p:bldP spid="7" grpId="2"/>
      <p:bldP spid="8" grpId="3"/>
      <p:bldP spid="10" grpId="4"/>
      <p:bldP spid="11" grpId="5"/>
    </p:bldLst>
  </p:timing>
</p:sld>
</file>

<file path=ppt/slides/slide3.xml><?xml version="1.0" encoding="utf-8"?>
<p:sld xmlns:a="http://schemas.openxmlformats.org/drawingml/2006/main" xmlns:a16="http://schemas.microsoft.com/office/drawing/2014/main" xmlns:r="http://schemas.openxmlformats.org/officeDocument/2006/relationships" xmlns:p14="http://schemas.microsoft.com/office/powerpoint/2010/main" xmlns:p="http://schemas.openxmlformats.org/presentationml/2006/main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!!actor-field-01">
            <a:extLst xmlns:a="http://schemas.openxmlformats.org/drawingml/2006/main">
              <a:ext uri="{FF2B5EF4-FFF2-40B4-BE49-F238E27FC236}">
                <a16:creationId xmlns:a16="http://schemas.microsoft.com/office/drawing/2014/main" id="{E6CDFE44-60CA-4753-86B2-660AC4CF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48768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D32"/>
          </a:solidFill>
          <a:ln xmlns:a="http://schemas.openxmlformats.org/drawingml/2006/main" w="0">
            <a:noFill/>
          </a:ln>
        </p:spPr>
      </p:sp>
      <p:sp>
        <p:nvSpPr>
          <p:cNvPr id="2" name="!!actor-topic-01">
            <a:extLst xmlns:a="http://schemas.openxmlformats.org/drawingml/2006/main">
              <a:ext uri="{FF2B5EF4-FFF2-40B4-BE49-F238E27FC236}">
                <a16:creationId xmlns:a16="http://schemas.microsoft.com/office/drawing/2014/main" id="{3E2796E5-EF30-4938-A991-E7FDF4F7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三亚红树林保护区整治</a:t>
            </a:r>
          </a:p>
        </p:txBody>
      </p:sp>
      <p:sp>
        <p:nvSpPr>
          <p:cNvPr id="3" name="!!s3-date">
            <a:extLst xmlns:a="http://schemas.openxmlformats.org/drawingml/2006/main">
              <a:ext uri="{FF2B5EF4-FFF2-40B4-BE49-F238E27FC236}">
                <a16:creationId xmlns:a16="http://schemas.microsoft.com/office/drawing/2014/main" id="{0B1A5A78-4880-4A7D-9596-096DCA9D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657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2026-10-08   演讲者 01</a:t>
            </a:r>
          </a:p>
        </p:txBody>
      </p:sp>
      <p:sp>
        <p:nvSpPr>
          <p:cNvPr id="4" name="!!s3-title">
            <a:extLst xmlns:a="http://schemas.openxmlformats.org/drawingml/2006/main">
              <a:ext uri="{FF2B5EF4-FFF2-40B4-BE49-F238E27FC236}">
                <a16:creationId xmlns:a16="http://schemas.microsoft.com/office/drawing/2014/main" id="{F91F22DF-2A7F-4633-A4BB-BA1ED901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6238875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保护区里的</a:t>
            </a:r>
          </a:p>
          <a:p xmlns:a="http://schemas.openxmlformats.org/drawingml/2006/main">
            <a: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赶海经营被查</a:t>
            </a:r>
          </a:p>
        </p:txBody>
      </p:sp>
      <p:sp>
        <p:nvSpPr>
          <p:cNvPr id="5" name="!!s3-metric">
            <a:extLst xmlns:a="http://schemas.openxmlformats.org/drawingml/2006/main">
              <a:ext uri="{FF2B5EF4-FFF2-40B4-BE49-F238E27FC236}">
                <a16:creationId xmlns:a16="http://schemas.microsoft.com/office/drawing/2014/main" id="{C61BAB19-0C7A-4B01-9F8A-FB3CC5305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6153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5名</a:t>
            </a:r>
          </a:p>
        </p:txBody>
      </p:sp>
      <p:sp>
        <p:nvSpPr>
          <p:cNvPr id="6" name="!!s3-label">
            <a:extLst xmlns:a="http://schemas.openxmlformats.org/drawingml/2006/main">
              <a:ext uri="{FF2B5EF4-FFF2-40B4-BE49-F238E27FC236}">
                <a16:creationId xmlns:a16="http://schemas.microsoft.com/office/drawing/2014/main" id="{4BB99989-5DEF-4A21-8EEC-07DE1B455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67175"/>
            <a:ext cx="61531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俱乐部负责人接受调查</a:t>
            </a:r>
          </a:p>
        </p:txBody>
      </p:sp>
      <p:sp>
        <p:nvSpPr>
          <p:cNvPr id="7" name="!!s3-fact-0">
            <a:extLst xmlns:a="http://schemas.openxmlformats.org/drawingml/2006/main">
              <a:ext uri="{FF2B5EF4-FFF2-40B4-BE49-F238E27FC236}">
                <a16:creationId xmlns:a16="http://schemas.microsoft.com/office/drawing/2014/main" id="{BA0927A8-9A39-42A8-A989-AB49F864E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违法赶海曝光后，三亚启动联合整治</a:t>
            </a:r>
          </a:p>
        </p:txBody>
      </p:sp>
      <p:sp>
        <p:nvSpPr>
          <p:cNvPr id="8" name="!!s3-fact-1">
            <a:extLst xmlns:a="http://schemas.openxmlformats.org/drawingml/2006/main">
              <a:ext uri="{FF2B5EF4-FFF2-40B4-BE49-F238E27FC236}">
                <a16:creationId xmlns:a16="http://schemas.microsoft.com/office/drawing/2014/main" id="{4F3648A4-67D6-42DA-9BC2-C257CB28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0175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关停7家经营场所，收缴840条禁用地笼</a:t>
            </a:r>
          </a:p>
        </p:txBody>
      </p:sp>
      <p:sp>
        <p:nvSpPr>
          <p:cNvPr id="9" name="!!s3-fact-2">
            <a:extLst xmlns:a="http://schemas.openxmlformats.org/drawingml/2006/main">
              <a:ext uri="{FF2B5EF4-FFF2-40B4-BE49-F238E27FC236}">
                <a16:creationId xmlns:a16="http://schemas.microsoft.com/office/drawing/2014/main" id="{69B33E80-96A5-4439-A012-3ADC2A5B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34050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受损区域同步评估</a:t>
            </a:r>
          </a:p>
        </p:txBody>
      </p:sp>
      <p:pic>
        <p:nvPicPr>
          <p:cNvPr id="10" name="!!actor-photo-01">
            <a:extLst xmlns:a="http://schemas.openxmlformats.org/drawingml/2006/main">
              <a:ext uri="{FF2B5EF4-FFF2-40B4-BE49-F238E27FC236}">
                <a16:creationId xmlns:a16="http://schemas.microsoft.com/office/drawing/2014/main" id="{7DF8E837-6A13-40E1-9A5C-612A87C691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63a78a98d741fa"/>
          <a:stretch xmlns:a="http://schemas.openxmlformats.org/drawingml/2006/main"/>
        </p:blipFill>
        <p:spPr>
          <a:xfrm xmlns:a="http://schemas.openxmlformats.org/drawingml/2006/main">
            <a:off x="7658100" y="1908175"/>
            <a:ext cx="4191000" cy="2794000"/>
          </a:xfrm>
          <a:prstGeom xmlns:a="http://schemas.openxmlformats.org/drawingml/2006/main" prst="rect">
            <a:avLst/>
          </a:prstGeom>
        </p:spPr>
      </p:pic>
      <p:sp>
        <p:nvSpPr>
          <p:cNvPr id="11" name="!!s3-caption">
            <a:extLst xmlns:a="http://schemas.openxmlformats.org/drawingml/2006/main">
              <a:ext uri="{FF2B5EF4-FFF2-40B4-BE49-F238E27FC236}">
                <a16:creationId xmlns:a16="http://schemas.microsoft.com/office/drawing/2014/main" id="{9B40A2D0-70B2-4410-A47B-F0129AFD9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2445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原报道配图</a:t>
            </a:r>
          </a:p>
        </p:txBody>
      </p:sp>
      <p:sp>
        <p:nvSpPr>
          <p:cNvPr id="12" name="!!s3-section">
            <a:extLst xmlns:a="http://schemas.openxmlformats.org/drawingml/2006/main">
              <a:ext uri="{FF2B5EF4-FFF2-40B4-BE49-F238E27FC236}">
                <a16:creationId xmlns:a16="http://schemas.microsoft.com/office/drawing/2014/main" id="{CEC4E8B2-E6F8-4D43-BE55-2B51EBD65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7340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pPr>
            <a:r>
              <a:rPr sz="3450" b="1">
                <a:solidFill>
                  <a:srgbClr val="F3E7CD"/>
                </a:solidFill>
                <a:latin typeface="SimSun"/>
                <a:ea typeface="SimSun"/>
                <a:cs typeface="SimSun"/>
              </a:rPr>
              <a:t>01</a:t>
            </a:r>
          </a:p>
        </p:txBody>
      </p:sp>
      <p:sp>
        <p:nvSpPr>
          <p:cNvPr id="13" name="!!s3-footer">
            <a:extLst xmlns:a="http://schemas.openxmlformats.org/drawingml/2006/main">
              <a:ext uri="{FF2B5EF4-FFF2-40B4-BE49-F238E27FC236}">
                <a16:creationId xmlns:a16="http://schemas.microsoft.com/office/drawing/2014/main" id="{6554425A-4837-4400-9CAC-51D9B6CB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10096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[01] 澎湃新闻 转引三亚日报  2026-10-08</a:t>
            </a:r>
          </a:p>
        </p:txBody>
      </p:sp>
      <p:sp>
        <p:nvSpPr>
          <p:cNvPr id="14" name="!!s3-page">
            <a:extLst xmlns:a="http://schemas.openxmlformats.org/drawingml/2006/main">
              <a:ext uri="{FF2B5EF4-FFF2-40B4-BE49-F238E27FC236}">
                <a16:creationId xmlns:a16="http://schemas.microsoft.com/office/drawing/2014/main" id="{9B48DC65-94AB-4A1A-96FA-BD33E9576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03 / 26</a:t>
            </a:r>
          </a:p>
        </p:txBody>
      </p:sp>
    </p:spTree>
    <p:extLst>
      <p:ext uri="{BB962C8B-B14F-4D97-AF65-F5344CB8AC3E}">
        <p14:creationId xmlns:p14="http://schemas.microsoft.com/office/powerpoint/2010/main" val="1213644301"/>
      </p:ext>
    </p:extLst>
  </p:cSld>
  <p:transition p14: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" presetClass="entr" presetSubtype="1" accel="5000" decel="65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6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1" presetClass="entr" presetSubtype="0" accel="5000" decel="6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 zoomContents="1">
                                      <p:cBhvr>
                                        <p:cTn id="12" dur="540" fill="hold"/>
                                        <p:tgtEl>
                                          <p:spTgt spid="5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50"/>
                            </p:stCondLst>
                            <p:childTnLst>
                              <p:par>
                                <p:cTn id="15" presetID="10" presetClass="entr" presetSubtype="0" accel="5000" decel="65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accel="5000" decel="65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70"/>
                            </p:stCondLst>
                            <p:childTnLst>
                              <p:par>
                                <p:cTn id="25" presetID="10" presetClass="entr" presetSubtype="0" accel="5000" decel="65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90"/>
                            </p:stCondLst>
                            <p:childTnLst>
                              <p:par>
                                <p:cTn id="30" presetID="10" presetClass="entr" presetSubtype="0" accel="5000" decel="6500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80"/>
                            </p:stCondLst>
                            <p:childTnLst>
                              <p:par>
                                <p:cTn id="35" presetID="20" presetClass="entr" presetSubtype="2" accel="5000" decel="65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1"/>
      <p:bldP spid="6" grpId="2"/>
      <p:bldP spid="7" grpId="3"/>
      <p:bldP spid="8" grpId="4"/>
      <p:bldP spid="9" grpId="5"/>
      <p:bldP spid="11" grpId="6"/>
    </p:bldLst>
  </p:timing>
</p:sld>
</file>

<file path=ppt/slides/slide4.xml><?xml version="1.0" encoding="utf-8"?>
<p:sld xmlns:a="http://schemas.openxmlformats.org/drawingml/2006/main" xmlns:a16="http://schemas.microsoft.com/office/drawing/2014/main" xmlns:r="http://schemas.openxmlformats.org/officeDocument/2006/relationships" xmlns:p="http://schemas.openxmlformats.org/presentationml/2006/main" xmlns:p159="http://schemas.microsoft.com/office/powerpoint/2015/09/main" xmlns:mc="http://schemas.openxmlformats.org/markup-compatibility/2006" xmlns:p14="http://schemas.microsoft.com/office/powerpoint/2010/main" mc:Ignorable="p159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!!actor-field-01">
            <a:extLst xmlns:a="http://schemas.openxmlformats.org/drawingml/2006/main">
              <a:ext uri="{FF2B5EF4-FFF2-40B4-BE49-F238E27FC236}">
                <a16:creationId xmlns:a16="http://schemas.microsoft.com/office/drawing/2014/main" id="{BDCE10B3-F93A-4F5C-BA32-B78005ECA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629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D32"/>
          </a:solidFill>
          <a:ln xmlns:a="http://schemas.openxmlformats.org/drawingml/2006/main" w="0">
            <a:noFill/>
          </a:ln>
        </p:spPr>
      </p:sp>
      <p:pic>
        <p:nvPicPr>
          <p:cNvPr id="2" name="!!actor-photo-01">
            <a:extLst xmlns:a="http://schemas.openxmlformats.org/drawingml/2006/main">
              <a:ext uri="{FF2B5EF4-FFF2-40B4-BE49-F238E27FC236}">
                <a16:creationId xmlns:a16="http://schemas.microsoft.com/office/drawing/2014/main" id="{2D093AB6-6874-41D0-AEA7-2DC8D5F613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1ec85b09364ccc"/>
          <a:stretch xmlns:a="http://schemas.openxmlformats.org/drawingml/2006/main"/>
        </p:blipFill>
        <p:spPr>
          <a:xfrm xmlns:a="http://schemas.openxmlformats.org/drawingml/2006/main">
            <a:off x="381000" y="2168525"/>
            <a:ext cx="3867150" cy="2578100"/>
          </a:xfrm>
          <a:prstGeom xmlns:a="http://schemas.openxmlformats.org/drawingml/2006/main" prst="rect">
            <a:avLst/>
          </a:prstGeom>
        </p:spPr>
      </p:pic>
      <p:sp>
        <p:nvSpPr>
          <p:cNvPr id="3" name="!!s4-caption">
            <a:extLst xmlns:a="http://schemas.openxmlformats.org/drawingml/2006/main">
              <a:ext uri="{FF2B5EF4-FFF2-40B4-BE49-F238E27FC236}">
                <a16:creationId xmlns:a16="http://schemas.microsoft.com/office/drawing/2014/main" id="{713DBC2F-0621-4A3D-82F1-BFE20A248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95875"/>
            <a:ext cx="3867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原报道配图</a:t>
            </a:r>
          </a:p>
        </p:txBody>
      </p:sp>
      <p:sp>
        <p:nvSpPr>
          <p:cNvPr id="4" name="!!s4-section">
            <a:extLst xmlns:a="http://schemas.openxmlformats.org/drawingml/2006/main">
              <a:ext uri="{FF2B5EF4-FFF2-40B4-BE49-F238E27FC236}">
                <a16:creationId xmlns:a16="http://schemas.microsoft.com/office/drawing/2014/main" id="{944F8173-20D6-4D69-8C1A-359652CC8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4825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40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540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pPr>
            <a:r>
              <a:rPr sz="5400" b="1">
                <a:solidFill>
                  <a:srgbClr val="F3E7CD"/>
                </a:solidFill>
                <a:latin typeface="SimSun"/>
                <a:ea typeface="SimSun"/>
                <a:cs typeface="SimSun"/>
              </a:rPr>
              <a:t>01</a:t>
            </a:r>
          </a:p>
        </p:txBody>
      </p:sp>
      <p:sp>
        <p:nvSpPr>
          <p:cNvPr id="5" name="!!actor-topic-01">
            <a:extLst xmlns:a="http://schemas.openxmlformats.org/drawingml/2006/main">
              <a:ext uri="{FF2B5EF4-FFF2-40B4-BE49-F238E27FC236}">
                <a16:creationId xmlns:a16="http://schemas.microsoft.com/office/drawing/2014/main" id="{36AD7427-96FB-41A6-A73D-183A6EC5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66725"/>
            <a:ext cx="638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三亚红树林保护区整治</a:t>
            </a:r>
          </a:p>
        </p:txBody>
      </p:sp>
      <p:sp>
        <p:nvSpPr>
          <p:cNvPr id="6" name="!!s4-tag">
            <a:extLst xmlns:a="http://schemas.openxmlformats.org/drawingml/2006/main">
              <a:ext uri="{FF2B5EF4-FFF2-40B4-BE49-F238E27FC236}">
                <a16:creationId xmlns:a16="http://schemas.microsoft.com/office/drawing/2014/main" id="{D70B5179-3CC1-4310-848F-D6EADAE9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114425"/>
            <a:ext cx="595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法治观察</a:t>
            </a:r>
          </a:p>
        </p:txBody>
      </p:sp>
      <p:sp>
        <p:nvSpPr>
          <p:cNvPr id="7" name="!!s4-question">
            <a:extLst xmlns:a="http://schemas.openxmlformats.org/drawingml/2006/main">
              <a:ext uri="{FF2B5EF4-FFF2-40B4-BE49-F238E27FC236}">
                <a16:creationId xmlns:a16="http://schemas.microsoft.com/office/drawing/2014/main" id="{2E8EA844-97D0-46D5-A8D9-20AC06E50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685925"/>
            <a:ext cx="6334125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生态旅游的边界</a:t>
            </a:r>
          </a:p>
          <a:p xmlns:a="http://schemas.openxmlformats.org/drawingml/2006/main">
            <a: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由什么决定？</a:t>
            </a:r>
          </a:p>
        </p:txBody>
      </p:sp>
      <p:sp>
        <p:nvSpPr>
          <p:cNvPr id="8" name="!!s4-rule">
            <a:extLst xmlns:a="http://schemas.openxmlformats.org/drawingml/2006/main">
              <a:ext uri="{FF2B5EF4-FFF2-40B4-BE49-F238E27FC236}">
                <a16:creationId xmlns:a16="http://schemas.microsoft.com/office/drawing/2014/main" id="{E197FF2A-0CB4-40D4-8DEA-C54220862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14700"/>
            <a:ext cx="1066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D32"/>
          </a:solidFill>
          <a:ln xmlns:a="http://schemas.openxmlformats.org/drawingml/2006/main" w="0">
            <a:noFill/>
          </a:ln>
        </p:spPr>
      </p:sp>
      <p:sp>
        <p:nvSpPr>
          <p:cNvPr id="9" name="!!s4-analysis-0">
            <a:extLst xmlns:a="http://schemas.openxmlformats.org/drawingml/2006/main">
              <a:ext uri="{FF2B5EF4-FFF2-40B4-BE49-F238E27FC236}">
                <a16:creationId xmlns:a16="http://schemas.microsoft.com/office/drawing/2014/main" id="{FD505761-ADA0-45E7-A34A-FFEF20AD7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33800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经营活动应符合保护区规则</a:t>
            </a:r>
          </a:p>
        </p:txBody>
      </p:sp>
      <p:sp>
        <p:nvSpPr>
          <p:cNvPr id="10" name="!!s4-analysis-1">
            <a:extLst xmlns:a="http://schemas.openxmlformats.org/drawingml/2006/main">
              <a:ext uri="{FF2B5EF4-FFF2-40B4-BE49-F238E27FC236}">
                <a16:creationId xmlns:a16="http://schemas.microsoft.com/office/drawing/2014/main" id="{431148C2-5E0B-47FB-A56D-E38DD9960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505325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接受调查不等于责任已认定</a:t>
            </a:r>
          </a:p>
        </p:txBody>
      </p:sp>
      <p:sp>
        <p:nvSpPr>
          <p:cNvPr id="11" name="!!s4-analysis-2">
            <a:extLst xmlns:a="http://schemas.openxmlformats.org/drawingml/2006/main">
              <a:ext uri="{FF2B5EF4-FFF2-40B4-BE49-F238E27FC236}">
                <a16:creationId xmlns:a16="http://schemas.microsoft.com/office/drawing/2014/main" id="{5C8A44C7-384C-4E78-A348-965C6A3D1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276850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生态恢复需要持续监测</a:t>
            </a:r>
          </a:p>
        </p:txBody>
      </p:sp>
      <p:sp>
        <p:nvSpPr>
          <p:cNvPr id="12" name="!!s4-footer">
            <a:extLst xmlns:a="http://schemas.openxmlformats.org/drawingml/2006/main">
              <a:ext uri="{FF2B5EF4-FFF2-40B4-BE49-F238E27FC236}">
                <a16:creationId xmlns:a16="http://schemas.microsoft.com/office/drawing/2014/main" id="{946F0AE9-3A20-4E29-8210-58764BF6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467475"/>
            <a:ext cx="38671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2026年10月6日至12日</a:t>
            </a:r>
          </a:p>
        </p:txBody>
      </p:sp>
      <p:sp>
        <p:nvSpPr>
          <p:cNvPr id="13" name="!!s4-footer-paper">
            <a:extLst xmlns:a="http://schemas.openxmlformats.org/drawingml/2006/main">
              <a:ext uri="{FF2B5EF4-FFF2-40B4-BE49-F238E27FC236}">
                <a16:creationId xmlns:a16="http://schemas.microsoft.com/office/drawing/2014/main" id="{D0BBF8E5-6A53-4C0D-B753-84CE10B53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6467475"/>
            <a:ext cx="571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本组法治观察  事实来源见前页</a:t>
            </a:r>
          </a:p>
        </p:txBody>
      </p:sp>
      <p:sp>
        <p:nvSpPr>
          <p:cNvPr id="14" name="!!s4-page-paper">
            <a:extLst xmlns:a="http://schemas.openxmlformats.org/drawingml/2006/main">
              <a:ext uri="{FF2B5EF4-FFF2-40B4-BE49-F238E27FC236}">
                <a16:creationId xmlns:a16="http://schemas.microsoft.com/office/drawing/2014/main" id="{61114C11-1CAB-4B29-94B2-57F4B688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04 / 26</a:t>
            </a:r>
          </a:p>
        </p:txBody>
      </p:sp>
    </p:spTree>
    <p:extLst>
      <p:ext uri="{BB962C8B-B14F-4D97-AF65-F5344CB8AC3E}">
        <p14:creationId xmlns:p14="http://schemas.microsoft.com/office/powerpoint/2010/main" val="838287782"/>
      </p:ext>
    </p:extLst>
  </p:cSld>
  <mc:AlternateContent>
    <mc:Choice Requires="p159">
      <p:transition xmlns:p159="http://schemas.microsoft.com/office/powerpoint/2015/09/main" p14:dur="11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90"/>
                            </p:stCondLst>
                            <p:childTnLst>
                              <p:par>
                                <p:cTn id="3" presetID="10" presetClass="entr" presetSubtype="0" fill="hold" grpId="0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"/>
                            </p:stCondLst>
                            <p:childTnLst>
                              <p:par>
                                <p:cTn id="9" presetID="2" presetClass="entr" presetSubtype="1" fill="hold" grpId="1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30"/>
                            </p:stCondLst>
                            <p:childTnLst>
                              <p:par>
                                <p:cTn id="15" presetID="20" presetClass="entr" presetSubtype="2" fill="hold" grpId="2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fill="hold" grpId="3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80"/>
                            </p:stCondLst>
                            <p:childTnLst>
                              <p:par>
                                <p:cTn id="25" presetID="10" presetClass="entr" presetSubtype="0" fill="hold" grpId="4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610"/>
                            </p:stCondLst>
                            <p:childTnLst>
                              <p:par>
                                <p:cTn id="30" presetID="10" presetClass="entr" presetSubtype="0" fill="hold" grpId="5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1"/>
      <p:bldP spid="8" grpId="2"/>
      <p:bldP spid="9" grpId="3"/>
      <p:bldP spid="10" grpId="4"/>
      <p:bldP spid="11" grpId="5"/>
    </p:bldLst>
  </p:timing>
</p:sld>
</file>

<file path=ppt/slides/slide5.xml><?xml version="1.0" encoding="utf-8"?>
<p:sld xmlns:a="http://schemas.openxmlformats.org/drawingml/2006/main" xmlns:a16="http://schemas.microsoft.com/office/drawing/2014/main" xmlns:r="http://schemas.openxmlformats.org/officeDocument/2006/relationships" xmlns:p14="http://schemas.microsoft.com/office/powerpoint/2010/main" xmlns:p="http://schemas.openxmlformats.org/presentationml/2006/main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!!actor-field-02">
            <a:extLst xmlns:a="http://schemas.openxmlformats.org/drawingml/2006/main">
              <a:ext uri="{FF2B5EF4-FFF2-40B4-BE49-F238E27FC236}">
                <a16:creationId xmlns:a16="http://schemas.microsoft.com/office/drawing/2014/main" id="{C02D3FEF-3EA9-415A-A16B-DA9F78A10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48768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D32"/>
          </a:solidFill>
          <a:ln xmlns:a="http://schemas.openxmlformats.org/drawingml/2006/main" w="0">
            <a:noFill/>
          </a:ln>
        </p:spPr>
      </p:sp>
      <p:sp>
        <p:nvSpPr>
          <p:cNvPr id="2" name="!!actor-topic-02">
            <a:extLst xmlns:a="http://schemas.openxmlformats.org/drawingml/2006/main">
              <a:ext uri="{FF2B5EF4-FFF2-40B4-BE49-F238E27FC236}">
                <a16:creationId xmlns:a16="http://schemas.microsoft.com/office/drawing/2014/main" id="{CFCAC952-8EDE-4FC5-88C7-8D63D6953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连江无居民海岛保护</a:t>
            </a:r>
          </a:p>
        </p:txBody>
      </p:sp>
      <p:sp>
        <p:nvSpPr>
          <p:cNvPr id="3" name="!!s5-date">
            <a:extLst xmlns:a="http://schemas.openxmlformats.org/drawingml/2006/main">
              <a:ext uri="{FF2B5EF4-FFF2-40B4-BE49-F238E27FC236}">
                <a16:creationId xmlns:a16="http://schemas.microsoft.com/office/drawing/2014/main" id="{FCE34858-C683-49E4-BB53-7917C3333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657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2026-10-09   演讲者 01</a:t>
            </a:r>
          </a:p>
        </p:txBody>
      </p:sp>
      <p:sp>
        <p:nvSpPr>
          <p:cNvPr id="4" name="!!s5-title">
            <a:extLst xmlns:a="http://schemas.openxmlformats.org/drawingml/2006/main">
              <a:ext uri="{FF2B5EF4-FFF2-40B4-BE49-F238E27FC236}">
                <a16:creationId xmlns:a16="http://schemas.microsoft.com/office/drawing/2014/main" id="{BF6DFE7B-E4F4-4E79-96F2-DEE1D484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6238875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无人定居的海岛</a:t>
            </a:r>
          </a:p>
          <a:p xmlns:a="http://schemas.openxmlformats.org/drawingml/2006/main">
            <a: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也有监管责任</a:t>
            </a:r>
          </a:p>
        </p:txBody>
      </p:sp>
      <p:sp>
        <p:nvSpPr>
          <p:cNvPr id="5" name="!!s5-metric">
            <a:extLst xmlns:a="http://schemas.openxmlformats.org/drawingml/2006/main">
              <a:ext uri="{FF2B5EF4-FFF2-40B4-BE49-F238E27FC236}">
                <a16:creationId xmlns:a16="http://schemas.microsoft.com/office/drawing/2014/main" id="{A130B844-095C-4BD9-B696-983CE9E94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6153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211座</a:t>
            </a:r>
          </a:p>
        </p:txBody>
      </p:sp>
      <p:sp>
        <p:nvSpPr>
          <p:cNvPr id="6" name="!!s5-label">
            <a:extLst xmlns:a="http://schemas.openxmlformats.org/drawingml/2006/main">
              <a:ext uri="{FF2B5EF4-FFF2-40B4-BE49-F238E27FC236}">
                <a16:creationId xmlns:a16="http://schemas.microsoft.com/office/drawing/2014/main" id="{EBC960D5-53E4-49DF-84B0-250543D88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67175"/>
            <a:ext cx="61531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连江县无居民海岛</a:t>
            </a:r>
          </a:p>
        </p:txBody>
      </p:sp>
      <p:sp>
        <p:nvSpPr>
          <p:cNvPr id="7" name="!!s5-fact-0">
            <a:extLst xmlns:a="http://schemas.openxmlformats.org/drawingml/2006/main">
              <a:ext uri="{FF2B5EF4-FFF2-40B4-BE49-F238E27FC236}">
                <a16:creationId xmlns:a16="http://schemas.microsoft.com/office/drawing/2014/main" id="{CB541384-CB4A-4CE8-A11D-702882D86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检察机关推动海岛保护协作</a:t>
            </a:r>
          </a:p>
        </p:txBody>
      </p:sp>
      <p:sp>
        <p:nvSpPr>
          <p:cNvPr id="8" name="!!s5-fact-1">
            <a:extLst xmlns:a="http://schemas.openxmlformats.org/drawingml/2006/main">
              <a:ext uri="{FF2B5EF4-FFF2-40B4-BE49-F238E27FC236}">
                <a16:creationId xmlns:a16="http://schemas.microsoft.com/office/drawing/2014/main" id="{693CF16A-5082-4FC8-B172-AEA923F2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0175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无人机与实地勘察发现问题</a:t>
            </a:r>
          </a:p>
        </p:txBody>
      </p:sp>
      <p:sp>
        <p:nvSpPr>
          <p:cNvPr id="9" name="!!s5-fact-2">
            <a:extLst xmlns:a="http://schemas.openxmlformats.org/drawingml/2006/main">
              <a:ext uri="{FF2B5EF4-FFF2-40B4-BE49-F238E27FC236}">
                <a16:creationId xmlns:a16="http://schemas.microsoft.com/office/drawing/2014/main" id="{F289309B-46E6-4F5B-894F-1390B0AF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34050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检察建议、联合巡岛、整改回访</a:t>
            </a:r>
          </a:p>
        </p:txBody>
      </p:sp>
      <p:pic>
        <p:nvPicPr>
          <p:cNvPr id="10" name="!!actor-photo-02">
            <a:extLst xmlns:a="http://schemas.openxmlformats.org/drawingml/2006/main">
              <a:ext uri="{FF2B5EF4-FFF2-40B4-BE49-F238E27FC236}">
                <a16:creationId xmlns:a16="http://schemas.microsoft.com/office/drawing/2014/main" id="{1EAB4E97-AE73-4B5A-B4C4-B9F1E8994F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30d4c696244709"/>
          <a:stretch xmlns:a="http://schemas.openxmlformats.org/drawingml/2006/main"/>
        </p:blipFill>
        <p:spPr>
          <a:xfrm xmlns:a="http://schemas.openxmlformats.org/drawingml/2006/main">
            <a:off x="7658100" y="1733550"/>
            <a:ext cx="4191000" cy="3143250"/>
          </a:xfrm>
          <a:prstGeom xmlns:a="http://schemas.openxmlformats.org/drawingml/2006/main" prst="rect">
            <a:avLst/>
          </a:prstGeom>
        </p:spPr>
      </p:pic>
      <p:sp>
        <p:nvSpPr>
          <p:cNvPr id="11" name="!!s5-caption">
            <a:extLst xmlns:a="http://schemas.openxmlformats.org/drawingml/2006/main">
              <a:ext uri="{FF2B5EF4-FFF2-40B4-BE49-F238E27FC236}">
                <a16:creationId xmlns:a16="http://schemas.microsoft.com/office/drawing/2014/main" id="{3D5F8F82-ACB2-4A27-8587-45D2EB3AD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2445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原报道配图</a:t>
            </a:r>
          </a:p>
        </p:txBody>
      </p:sp>
      <p:sp>
        <p:nvSpPr>
          <p:cNvPr id="12" name="!!s5-section">
            <a:extLst xmlns:a="http://schemas.openxmlformats.org/drawingml/2006/main">
              <a:ext uri="{FF2B5EF4-FFF2-40B4-BE49-F238E27FC236}">
                <a16:creationId xmlns:a16="http://schemas.microsoft.com/office/drawing/2014/main" id="{75375693-A9A0-4C7C-AB4A-88CD316A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7340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pPr>
            <a:r>
              <a:rPr sz="3450" b="1">
                <a:solidFill>
                  <a:srgbClr val="F3E7CD"/>
                </a:solidFill>
                <a:latin typeface="SimSun"/>
                <a:ea typeface="SimSun"/>
                <a:cs typeface="SimSun"/>
              </a:rPr>
              <a:t>02</a:t>
            </a:r>
          </a:p>
        </p:txBody>
      </p:sp>
      <p:sp>
        <p:nvSpPr>
          <p:cNvPr id="13" name="!!s5-footer">
            <a:extLst xmlns:a="http://schemas.openxmlformats.org/drawingml/2006/main">
              <a:ext uri="{FF2B5EF4-FFF2-40B4-BE49-F238E27FC236}">
                <a16:creationId xmlns:a16="http://schemas.microsoft.com/office/drawing/2014/main" id="{5C89423F-93C1-4E26-8E3C-6FA4376E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10096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[02] 福州新闻网  2026-10-09</a:t>
            </a:r>
          </a:p>
        </p:txBody>
      </p:sp>
      <p:sp>
        <p:nvSpPr>
          <p:cNvPr id="14" name="!!s5-page">
            <a:extLst xmlns:a="http://schemas.openxmlformats.org/drawingml/2006/main">
              <a:ext uri="{FF2B5EF4-FFF2-40B4-BE49-F238E27FC236}">
                <a16:creationId xmlns:a16="http://schemas.microsoft.com/office/drawing/2014/main" id="{6ABA1858-033C-4234-8E75-F72509557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05 / 26</a:t>
            </a:r>
          </a:p>
        </p:txBody>
      </p:sp>
    </p:spTree>
    <p:extLst>
      <p:ext uri="{BB962C8B-B14F-4D97-AF65-F5344CB8AC3E}">
        <p14:creationId xmlns:p14="http://schemas.microsoft.com/office/powerpoint/2010/main" val="1160274808"/>
      </p:ext>
    </p:extLst>
  </p:cSld>
  <p:transition p14: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" presetClass="entr" presetSubtype="1" accel="5000" decel="65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6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1" presetClass="entr" presetSubtype="0" accel="5000" decel="6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 zoomContents="1">
                                      <p:cBhvr>
                                        <p:cTn id="12" dur="540" fill="hold"/>
                                        <p:tgtEl>
                                          <p:spTgt spid="5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50"/>
                            </p:stCondLst>
                            <p:childTnLst>
                              <p:par>
                                <p:cTn id="15" presetID="10" presetClass="entr" presetSubtype="0" accel="5000" decel="65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accel="5000" decel="65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70"/>
                            </p:stCondLst>
                            <p:childTnLst>
                              <p:par>
                                <p:cTn id="25" presetID="10" presetClass="entr" presetSubtype="0" accel="5000" decel="65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90"/>
                            </p:stCondLst>
                            <p:childTnLst>
                              <p:par>
                                <p:cTn id="30" presetID="10" presetClass="entr" presetSubtype="0" accel="5000" decel="6500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80"/>
                            </p:stCondLst>
                            <p:childTnLst>
                              <p:par>
                                <p:cTn id="35" presetID="20" presetClass="entr" presetSubtype="2" accel="5000" decel="65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1"/>
      <p:bldP spid="6" grpId="2"/>
      <p:bldP spid="7" grpId="3"/>
      <p:bldP spid="8" grpId="4"/>
      <p:bldP spid="9" grpId="5"/>
      <p:bldP spid="11" grpId="6"/>
    </p:bldLst>
  </p:timing>
</p:sld>
</file>

<file path=ppt/slides/slide6.xml><?xml version="1.0" encoding="utf-8"?>
<p:sld xmlns:a="http://schemas.openxmlformats.org/drawingml/2006/main" xmlns:a16="http://schemas.microsoft.com/office/drawing/2014/main" xmlns:r="http://schemas.openxmlformats.org/officeDocument/2006/relationships" xmlns:p="http://schemas.openxmlformats.org/presentationml/2006/main" xmlns:p159="http://schemas.microsoft.com/office/powerpoint/2015/09/main" xmlns:mc="http://schemas.openxmlformats.org/markup-compatibility/2006" xmlns:p14="http://schemas.microsoft.com/office/powerpoint/2010/main" mc:Ignorable="p159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!!actor-field-02">
            <a:extLst xmlns:a="http://schemas.openxmlformats.org/drawingml/2006/main">
              <a:ext uri="{FF2B5EF4-FFF2-40B4-BE49-F238E27FC236}">
                <a16:creationId xmlns:a16="http://schemas.microsoft.com/office/drawing/2014/main" id="{507D0C3D-EF27-422B-840A-B7E2A0E79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629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D32"/>
          </a:solidFill>
          <a:ln xmlns:a="http://schemas.openxmlformats.org/drawingml/2006/main" w="0">
            <a:noFill/>
          </a:ln>
        </p:spPr>
      </p:sp>
      <p:pic>
        <p:nvPicPr>
          <p:cNvPr id="2" name="!!actor-photo-02">
            <a:extLst xmlns:a="http://schemas.openxmlformats.org/drawingml/2006/main">
              <a:ext uri="{FF2B5EF4-FFF2-40B4-BE49-F238E27FC236}">
                <a16:creationId xmlns:a16="http://schemas.microsoft.com/office/drawing/2014/main" id="{928FF540-D2C1-47E3-BADE-27EB6B6B2DE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c71f1f0635493d"/>
          <a:stretch xmlns:a="http://schemas.openxmlformats.org/drawingml/2006/main"/>
        </p:blipFill>
        <p:spPr>
          <a:xfrm xmlns:a="http://schemas.openxmlformats.org/drawingml/2006/main">
            <a:off x="381000" y="2007394"/>
            <a:ext cx="3867150" cy="2900363"/>
          </a:xfrm>
          <a:prstGeom xmlns:a="http://schemas.openxmlformats.org/drawingml/2006/main" prst="rect">
            <a:avLst/>
          </a:prstGeom>
        </p:spPr>
      </p:pic>
      <p:sp>
        <p:nvSpPr>
          <p:cNvPr id="3" name="!!s6-caption">
            <a:extLst xmlns:a="http://schemas.openxmlformats.org/drawingml/2006/main">
              <a:ext uri="{FF2B5EF4-FFF2-40B4-BE49-F238E27FC236}">
                <a16:creationId xmlns:a16="http://schemas.microsoft.com/office/drawing/2014/main" id="{561D279E-0D05-4EEC-B565-C96B13DF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95875"/>
            <a:ext cx="3867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原报道配图</a:t>
            </a:r>
          </a:p>
        </p:txBody>
      </p:sp>
      <p:sp>
        <p:nvSpPr>
          <p:cNvPr id="4" name="!!s6-section">
            <a:extLst xmlns:a="http://schemas.openxmlformats.org/drawingml/2006/main">
              <a:ext uri="{FF2B5EF4-FFF2-40B4-BE49-F238E27FC236}">
                <a16:creationId xmlns:a16="http://schemas.microsoft.com/office/drawing/2014/main" id="{989A9F7E-BC27-4155-A401-977CFA1EA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4825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40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540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pPr>
            <a:r>
              <a:rPr sz="5400" b="1">
                <a:solidFill>
                  <a:srgbClr val="F3E7CD"/>
                </a:solidFill>
                <a:latin typeface="SimSun"/>
                <a:ea typeface="SimSun"/>
                <a:cs typeface="SimSun"/>
              </a:rPr>
              <a:t>02</a:t>
            </a:r>
          </a:p>
        </p:txBody>
      </p:sp>
      <p:sp>
        <p:nvSpPr>
          <p:cNvPr id="5" name="!!actor-topic-02">
            <a:extLst xmlns:a="http://schemas.openxmlformats.org/drawingml/2006/main">
              <a:ext uri="{FF2B5EF4-FFF2-40B4-BE49-F238E27FC236}">
                <a16:creationId xmlns:a16="http://schemas.microsoft.com/office/drawing/2014/main" id="{9FFBCAD7-8575-4795-A98E-740C9EA38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66725"/>
            <a:ext cx="638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连江无居民海岛保护</a:t>
            </a:r>
          </a:p>
        </p:txBody>
      </p:sp>
      <p:sp>
        <p:nvSpPr>
          <p:cNvPr id="6" name="!!s6-tag">
            <a:extLst xmlns:a="http://schemas.openxmlformats.org/drawingml/2006/main">
              <a:ext uri="{FF2B5EF4-FFF2-40B4-BE49-F238E27FC236}">
                <a16:creationId xmlns:a16="http://schemas.microsoft.com/office/drawing/2014/main" id="{AC48101E-ED2E-4DB3-A68F-F4BADE99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114425"/>
            <a:ext cx="595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法治观察</a:t>
            </a:r>
          </a:p>
        </p:txBody>
      </p:sp>
      <p:sp>
        <p:nvSpPr>
          <p:cNvPr id="7" name="!!s6-question">
            <a:extLst xmlns:a="http://schemas.openxmlformats.org/drawingml/2006/main">
              <a:ext uri="{FF2B5EF4-FFF2-40B4-BE49-F238E27FC236}">
                <a16:creationId xmlns:a16="http://schemas.microsoft.com/office/drawing/2014/main" id="{FFD6ABCB-7DF5-4938-9741-DDFD55B00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685925"/>
            <a:ext cx="6334125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无人居住的海岛</a:t>
            </a:r>
          </a:p>
          <a:p xmlns:a="http://schemas.openxmlformats.org/drawingml/2006/main">
            <a: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谁来守护？</a:t>
            </a:r>
          </a:p>
        </p:txBody>
      </p:sp>
      <p:sp>
        <p:nvSpPr>
          <p:cNvPr id="8" name="!!s6-rule">
            <a:extLst xmlns:a="http://schemas.openxmlformats.org/drawingml/2006/main">
              <a:ext uri="{FF2B5EF4-FFF2-40B4-BE49-F238E27FC236}">
                <a16:creationId xmlns:a16="http://schemas.microsoft.com/office/drawing/2014/main" id="{6AB8F46F-3D76-4E65-95A6-DD818CB67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14700"/>
            <a:ext cx="1066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D32"/>
          </a:solidFill>
          <a:ln xmlns:a="http://schemas.openxmlformats.org/drawingml/2006/main" w="0">
            <a:noFill/>
          </a:ln>
        </p:spPr>
      </p:sp>
      <p:sp>
        <p:nvSpPr>
          <p:cNvPr id="9" name="!!s6-analysis-0">
            <a:extLst xmlns:a="http://schemas.openxmlformats.org/drawingml/2006/main">
              <a:ext uri="{FF2B5EF4-FFF2-40B4-BE49-F238E27FC236}">
                <a16:creationId xmlns:a16="http://schemas.microsoft.com/office/drawing/2014/main" id="{4273ACF7-325F-40BB-94E4-722A86837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33800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无居民海岛利用仍需依法审批</a:t>
            </a:r>
          </a:p>
        </p:txBody>
      </p:sp>
      <p:sp>
        <p:nvSpPr>
          <p:cNvPr id="10" name="!!s6-analysis-1">
            <a:extLst xmlns:a="http://schemas.openxmlformats.org/drawingml/2006/main">
              <a:ext uri="{FF2B5EF4-FFF2-40B4-BE49-F238E27FC236}">
                <a16:creationId xmlns:a16="http://schemas.microsoft.com/office/drawing/2014/main" id="{58250DF6-15E9-4FBD-A023-5B16F354A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505325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检察监督推动主管部门履职</a:t>
            </a:r>
          </a:p>
        </p:txBody>
      </p:sp>
      <p:sp>
        <p:nvSpPr>
          <p:cNvPr id="11" name="!!s6-analysis-2">
            <a:extLst xmlns:a="http://schemas.openxmlformats.org/drawingml/2006/main">
              <a:ext uri="{FF2B5EF4-FFF2-40B4-BE49-F238E27FC236}">
                <a16:creationId xmlns:a16="http://schemas.microsoft.com/office/drawing/2014/main" id="{A6D132CE-3319-4DE6-9367-F0992A4F5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276850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问题处置后还要核验整改</a:t>
            </a:r>
          </a:p>
        </p:txBody>
      </p:sp>
      <p:sp>
        <p:nvSpPr>
          <p:cNvPr id="12" name="!!s6-footer">
            <a:extLst xmlns:a="http://schemas.openxmlformats.org/drawingml/2006/main">
              <a:ext uri="{FF2B5EF4-FFF2-40B4-BE49-F238E27FC236}">
                <a16:creationId xmlns:a16="http://schemas.microsoft.com/office/drawing/2014/main" id="{7289C1CA-EF9C-40F6-8BEE-17651D5C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467475"/>
            <a:ext cx="38671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2026年10月6日至12日</a:t>
            </a:r>
          </a:p>
        </p:txBody>
      </p:sp>
      <p:sp>
        <p:nvSpPr>
          <p:cNvPr id="13" name="!!s6-footer-paper">
            <a:extLst xmlns:a="http://schemas.openxmlformats.org/drawingml/2006/main">
              <a:ext uri="{FF2B5EF4-FFF2-40B4-BE49-F238E27FC236}">
                <a16:creationId xmlns:a16="http://schemas.microsoft.com/office/drawing/2014/main" id="{8497A6C4-56D0-4ECC-8DDA-E1916CDFC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6467475"/>
            <a:ext cx="571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本组法治观察  事实来源见前页</a:t>
            </a:r>
          </a:p>
        </p:txBody>
      </p:sp>
      <p:sp>
        <p:nvSpPr>
          <p:cNvPr id="14" name="!!s6-page-paper">
            <a:extLst xmlns:a="http://schemas.openxmlformats.org/drawingml/2006/main">
              <a:ext uri="{FF2B5EF4-FFF2-40B4-BE49-F238E27FC236}">
                <a16:creationId xmlns:a16="http://schemas.microsoft.com/office/drawing/2014/main" id="{CA0EF812-1A41-446D-A190-5454E64D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06 / 26</a:t>
            </a:r>
          </a:p>
        </p:txBody>
      </p:sp>
    </p:spTree>
    <p:extLst>
      <p:ext uri="{BB962C8B-B14F-4D97-AF65-F5344CB8AC3E}">
        <p14:creationId xmlns:p14="http://schemas.microsoft.com/office/powerpoint/2010/main" val="1845602100"/>
      </p:ext>
    </p:extLst>
  </p:cSld>
  <mc:AlternateContent>
    <mc:Choice Requires="p159">
      <p:transition xmlns:p159="http://schemas.microsoft.com/office/powerpoint/2015/09/main" p14:dur="11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90"/>
                            </p:stCondLst>
                            <p:childTnLst>
                              <p:par>
                                <p:cTn id="3" presetID="10" presetClass="entr" presetSubtype="0" fill="hold" grpId="0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"/>
                            </p:stCondLst>
                            <p:childTnLst>
                              <p:par>
                                <p:cTn id="9" presetID="2" presetClass="entr" presetSubtype="1" fill="hold" grpId="1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30"/>
                            </p:stCondLst>
                            <p:childTnLst>
                              <p:par>
                                <p:cTn id="15" presetID="20" presetClass="entr" presetSubtype="2" fill="hold" grpId="2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fill="hold" grpId="3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80"/>
                            </p:stCondLst>
                            <p:childTnLst>
                              <p:par>
                                <p:cTn id="25" presetID="10" presetClass="entr" presetSubtype="0" fill="hold" grpId="4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610"/>
                            </p:stCondLst>
                            <p:childTnLst>
                              <p:par>
                                <p:cTn id="30" presetID="10" presetClass="entr" presetSubtype="0" fill="hold" grpId="5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1"/>
      <p:bldP spid="8" grpId="2"/>
      <p:bldP spid="9" grpId="3"/>
      <p:bldP spid="10" grpId="4"/>
      <p:bldP spid="11" grpId="5"/>
    </p:bldLst>
  </p:timing>
</p:sld>
</file>

<file path=ppt/slides/slide7.xml><?xml version="1.0" encoding="utf-8"?>
<p:sld xmlns:a="http://schemas.openxmlformats.org/drawingml/2006/main" xmlns:a16="http://schemas.microsoft.com/office/drawing/2014/main" xmlns:r="http://schemas.openxmlformats.org/officeDocument/2006/relationships" xmlns:p14="http://schemas.microsoft.com/office/powerpoint/2010/main" xmlns:p="http://schemas.openxmlformats.org/presentationml/2006/main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!!actor-field-03">
            <a:extLst xmlns:a="http://schemas.openxmlformats.org/drawingml/2006/main">
              <a:ext uri="{FF2B5EF4-FFF2-40B4-BE49-F238E27FC236}">
                <a16:creationId xmlns:a16="http://schemas.microsoft.com/office/drawing/2014/main" id="{4598EA7F-F1B9-489E-8F43-40EF03580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48768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D32"/>
          </a:solidFill>
          <a:ln xmlns:a="http://schemas.openxmlformats.org/drawingml/2006/main" w="0">
            <a:noFill/>
          </a:ln>
        </p:spPr>
      </p:sp>
      <p:sp>
        <p:nvSpPr>
          <p:cNvPr id="2" name="!!actor-topic-03">
            <a:extLst xmlns:a="http://schemas.openxmlformats.org/drawingml/2006/main">
              <a:ext uri="{FF2B5EF4-FFF2-40B4-BE49-F238E27FC236}">
                <a16:creationId xmlns:a16="http://schemas.microsoft.com/office/drawing/2014/main" id="{C59477C8-E4AC-472E-A9D1-96612CB8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宁德海洋生态修复</a:t>
            </a:r>
          </a:p>
        </p:txBody>
      </p:sp>
      <p:sp>
        <p:nvSpPr>
          <p:cNvPr id="3" name="!!s7-date">
            <a:extLst xmlns:a="http://schemas.openxmlformats.org/drawingml/2006/main">
              <a:ext uri="{FF2B5EF4-FFF2-40B4-BE49-F238E27FC236}">
                <a16:creationId xmlns:a16="http://schemas.microsoft.com/office/drawing/2014/main" id="{A119F107-6849-4C4E-8C1C-E7792F040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657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2026-10-10   演讲者 02</a:t>
            </a:r>
          </a:p>
        </p:txBody>
      </p:sp>
      <p:sp>
        <p:nvSpPr>
          <p:cNvPr id="4" name="!!s7-title">
            <a:extLst xmlns:a="http://schemas.openxmlformats.org/drawingml/2006/main">
              <a:ext uri="{FF2B5EF4-FFF2-40B4-BE49-F238E27FC236}">
                <a16:creationId xmlns:a16="http://schemas.microsoft.com/office/drawing/2014/main" id="{9B330426-1146-44FF-A51F-30F0D3BF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6238875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青岐湾启动</a:t>
            </a:r>
          </a:p>
          <a:p xmlns:a="http://schemas.openxmlformats.org/drawingml/2006/main">
            <a: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红树林种植</a:t>
            </a:r>
          </a:p>
        </p:txBody>
      </p:sp>
      <p:sp>
        <p:nvSpPr>
          <p:cNvPr id="5" name="!!s7-metric">
            <a:extLst xmlns:a="http://schemas.openxmlformats.org/drawingml/2006/main">
              <a:ext uri="{FF2B5EF4-FFF2-40B4-BE49-F238E27FC236}">
                <a16:creationId xmlns:a16="http://schemas.microsoft.com/office/drawing/2014/main" id="{9C505263-CC39-43A2-9641-123B5FD2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6153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6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56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6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58.14公顷</a:t>
            </a:r>
          </a:p>
        </p:txBody>
      </p:sp>
      <p:sp>
        <p:nvSpPr>
          <p:cNvPr id="6" name="!!s7-label">
            <a:extLst xmlns:a="http://schemas.openxmlformats.org/drawingml/2006/main">
              <a:ext uri="{FF2B5EF4-FFF2-40B4-BE49-F238E27FC236}">
                <a16:creationId xmlns:a16="http://schemas.microsoft.com/office/drawing/2014/main" id="{93D55DCF-4E23-46D1-A2ED-92A7703E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67175"/>
            <a:ext cx="61531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项目设计营造红树林面积</a:t>
            </a:r>
          </a:p>
        </p:txBody>
      </p:sp>
      <p:sp>
        <p:nvSpPr>
          <p:cNvPr id="7" name="!!s7-fact-0">
            <a:extLst xmlns:a="http://schemas.openxmlformats.org/drawingml/2006/main">
              <a:ext uri="{FF2B5EF4-FFF2-40B4-BE49-F238E27FC236}">
                <a16:creationId xmlns:a16="http://schemas.microsoft.com/office/drawing/2014/main" id="{A2BD34AD-4792-482A-9363-6A4A624BC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青岐湾近日启动红树林种植</a:t>
            </a:r>
          </a:p>
        </p:txBody>
      </p:sp>
      <p:sp>
        <p:nvSpPr>
          <p:cNvPr id="8" name="!!s7-fact-1">
            <a:extLst xmlns:a="http://schemas.openxmlformats.org/drawingml/2006/main">
              <a:ext uri="{FF2B5EF4-FFF2-40B4-BE49-F238E27FC236}">
                <a16:creationId xmlns:a16="http://schemas.microsoft.com/office/drawing/2014/main" id="{81DFB1D6-1949-4819-A3C3-4B782F56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0175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微地形改造与潮沟疏浚同步推进</a:t>
            </a:r>
          </a:p>
        </p:txBody>
      </p:sp>
      <p:sp>
        <p:nvSpPr>
          <p:cNvPr id="9" name="!!s7-fact-2">
            <a:extLst xmlns:a="http://schemas.openxmlformats.org/drawingml/2006/main">
              <a:ext uri="{FF2B5EF4-FFF2-40B4-BE49-F238E27FC236}">
                <a16:creationId xmlns:a16="http://schemas.microsoft.com/office/drawing/2014/main" id="{8AD49A52-10EA-4597-9BEB-0145F4C09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34050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设计目标不等于已完成面积</a:t>
            </a:r>
          </a:p>
        </p:txBody>
      </p:sp>
      <p:pic>
        <p:nvPicPr>
          <p:cNvPr id="10" name="!!actor-photo-03">
            <a:extLst xmlns:a="http://schemas.openxmlformats.org/drawingml/2006/main">
              <a:ext uri="{FF2B5EF4-FFF2-40B4-BE49-F238E27FC236}">
                <a16:creationId xmlns:a16="http://schemas.microsoft.com/office/drawing/2014/main" id="{AF220240-3D2E-47D7-A092-C889E7B763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ade6e2a4804f7c"/>
          <a:stretch xmlns:a="http://schemas.openxmlformats.org/drawingml/2006/main"/>
        </p:blipFill>
        <p:spPr>
          <a:xfrm xmlns:a="http://schemas.openxmlformats.org/drawingml/2006/main">
            <a:off x="7697046" y="1676400"/>
            <a:ext cx="4113109" cy="3257550"/>
          </a:xfrm>
          <a:prstGeom xmlns:a="http://schemas.openxmlformats.org/drawingml/2006/main" prst="rect">
            <a:avLst/>
          </a:prstGeom>
        </p:spPr>
      </p:pic>
      <p:sp>
        <p:nvSpPr>
          <p:cNvPr id="11" name="!!s7-caption">
            <a:extLst xmlns:a="http://schemas.openxmlformats.org/drawingml/2006/main">
              <a:ext uri="{FF2B5EF4-FFF2-40B4-BE49-F238E27FC236}">
                <a16:creationId xmlns:a16="http://schemas.microsoft.com/office/drawing/2014/main" id="{EE0B600A-F789-4A87-8351-256EA3EF0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2445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项目效果图  原报道配图</a:t>
            </a:r>
          </a:p>
        </p:txBody>
      </p:sp>
      <p:sp>
        <p:nvSpPr>
          <p:cNvPr id="12" name="!!s7-section">
            <a:extLst xmlns:a="http://schemas.openxmlformats.org/drawingml/2006/main">
              <a:ext uri="{FF2B5EF4-FFF2-40B4-BE49-F238E27FC236}">
                <a16:creationId xmlns:a16="http://schemas.microsoft.com/office/drawing/2014/main" id="{EFE3189E-C069-45C5-8CB6-9307F403B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7340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pPr>
            <a:r>
              <a:rPr sz="3450" b="1">
                <a:solidFill>
                  <a:srgbClr val="F3E7CD"/>
                </a:solidFill>
                <a:latin typeface="SimSun"/>
                <a:ea typeface="SimSun"/>
                <a:cs typeface="SimSun"/>
              </a:rPr>
              <a:t>03</a:t>
            </a:r>
          </a:p>
        </p:txBody>
      </p:sp>
      <p:sp>
        <p:nvSpPr>
          <p:cNvPr id="13" name="!!s7-footer">
            <a:extLst xmlns:a="http://schemas.openxmlformats.org/drawingml/2006/main">
              <a:ext uri="{FF2B5EF4-FFF2-40B4-BE49-F238E27FC236}">
                <a16:creationId xmlns:a16="http://schemas.microsoft.com/office/drawing/2014/main" id="{05810400-5975-4E5B-8533-5129220F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10096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[03] 中国水运网 新浪财经转载  2026-10-10</a:t>
            </a:r>
          </a:p>
        </p:txBody>
      </p:sp>
      <p:sp>
        <p:nvSpPr>
          <p:cNvPr id="14" name="!!s7-page">
            <a:extLst xmlns:a="http://schemas.openxmlformats.org/drawingml/2006/main">
              <a:ext uri="{FF2B5EF4-FFF2-40B4-BE49-F238E27FC236}">
                <a16:creationId xmlns:a16="http://schemas.microsoft.com/office/drawing/2014/main" id="{604A962B-690C-4605-91E7-17B571C37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07 / 26</a:t>
            </a:r>
          </a:p>
        </p:txBody>
      </p:sp>
    </p:spTree>
    <p:extLst>
      <p:ext uri="{BB962C8B-B14F-4D97-AF65-F5344CB8AC3E}">
        <p14:creationId xmlns:p14="http://schemas.microsoft.com/office/powerpoint/2010/main" val="226626125"/>
      </p:ext>
    </p:extLst>
  </p:cSld>
  <p:transition p14: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" presetClass="entr" presetSubtype="1" accel="5000" decel="65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6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1" presetClass="entr" presetSubtype="0" accel="5000" decel="6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 zoomContents="1">
                                      <p:cBhvr>
                                        <p:cTn id="12" dur="540" fill="hold"/>
                                        <p:tgtEl>
                                          <p:spTgt spid="5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50"/>
                            </p:stCondLst>
                            <p:childTnLst>
                              <p:par>
                                <p:cTn id="15" presetID="10" presetClass="entr" presetSubtype="0" accel="5000" decel="65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accel="5000" decel="65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70"/>
                            </p:stCondLst>
                            <p:childTnLst>
                              <p:par>
                                <p:cTn id="25" presetID="10" presetClass="entr" presetSubtype="0" accel="5000" decel="65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90"/>
                            </p:stCondLst>
                            <p:childTnLst>
                              <p:par>
                                <p:cTn id="30" presetID="10" presetClass="entr" presetSubtype="0" accel="5000" decel="6500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80"/>
                            </p:stCondLst>
                            <p:childTnLst>
                              <p:par>
                                <p:cTn id="35" presetID="20" presetClass="entr" presetSubtype="2" accel="5000" decel="65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1"/>
      <p:bldP spid="6" grpId="2"/>
      <p:bldP spid="7" grpId="3"/>
      <p:bldP spid="8" grpId="4"/>
      <p:bldP spid="9" grpId="5"/>
      <p:bldP spid="11" grpId="6"/>
    </p:bldLst>
  </p:timing>
</p:sld>
</file>

<file path=ppt/slides/slide8.xml><?xml version="1.0" encoding="utf-8"?>
<p:sld xmlns:a="http://schemas.openxmlformats.org/drawingml/2006/main" xmlns:a16="http://schemas.microsoft.com/office/drawing/2014/main" xmlns:r="http://schemas.openxmlformats.org/officeDocument/2006/relationships" xmlns:p="http://schemas.openxmlformats.org/presentationml/2006/main" xmlns:p159="http://schemas.microsoft.com/office/powerpoint/2015/09/main" xmlns:mc="http://schemas.openxmlformats.org/markup-compatibility/2006" xmlns:p14="http://schemas.microsoft.com/office/powerpoint/2010/main" mc:Ignorable="p159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!!actor-field-03">
            <a:extLst xmlns:a="http://schemas.openxmlformats.org/drawingml/2006/main">
              <a:ext uri="{FF2B5EF4-FFF2-40B4-BE49-F238E27FC236}">
                <a16:creationId xmlns:a16="http://schemas.microsoft.com/office/drawing/2014/main" id="{AFEAFAF7-B239-4E66-8356-08A609E1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629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D32"/>
          </a:solidFill>
          <a:ln xmlns:a="http://schemas.openxmlformats.org/drawingml/2006/main" w="0">
            <a:noFill/>
          </a:ln>
        </p:spPr>
      </p:sp>
      <p:pic>
        <p:nvPicPr>
          <p:cNvPr id="2" name="!!actor-photo-03">
            <a:extLst xmlns:a="http://schemas.openxmlformats.org/drawingml/2006/main">
              <a:ext uri="{FF2B5EF4-FFF2-40B4-BE49-F238E27FC236}">
                <a16:creationId xmlns:a16="http://schemas.microsoft.com/office/drawing/2014/main" id="{D97482B3-FAC6-4B6E-B9D3-73BD6AFE55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9f5ec70ab84fe0"/>
          <a:stretch xmlns:a="http://schemas.openxmlformats.org/drawingml/2006/main"/>
        </p:blipFill>
        <p:spPr>
          <a:xfrm xmlns:a="http://schemas.openxmlformats.org/drawingml/2006/main">
            <a:off x="462473" y="1990725"/>
            <a:ext cx="3704203" cy="2933700"/>
          </a:xfrm>
          <a:prstGeom xmlns:a="http://schemas.openxmlformats.org/drawingml/2006/main" prst="rect">
            <a:avLst/>
          </a:prstGeom>
        </p:spPr>
      </p:pic>
      <p:sp>
        <p:nvSpPr>
          <p:cNvPr id="3" name="!!s8-caption">
            <a:extLst xmlns:a="http://schemas.openxmlformats.org/drawingml/2006/main">
              <a:ext uri="{FF2B5EF4-FFF2-40B4-BE49-F238E27FC236}">
                <a16:creationId xmlns:a16="http://schemas.microsoft.com/office/drawing/2014/main" id="{A5AB2C35-924F-4651-9588-C18E4B692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95875"/>
            <a:ext cx="3867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项目效果图  原报道配图</a:t>
            </a:r>
          </a:p>
        </p:txBody>
      </p:sp>
      <p:sp>
        <p:nvSpPr>
          <p:cNvPr id="4" name="!!s8-section">
            <a:extLst xmlns:a="http://schemas.openxmlformats.org/drawingml/2006/main">
              <a:ext uri="{FF2B5EF4-FFF2-40B4-BE49-F238E27FC236}">
                <a16:creationId xmlns:a16="http://schemas.microsoft.com/office/drawing/2014/main" id="{0093B2AF-7DFE-4256-8049-67F8F87CF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4825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40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540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pPr>
            <a:r>
              <a:rPr sz="5400" b="1">
                <a:solidFill>
                  <a:srgbClr val="F3E7CD"/>
                </a:solidFill>
                <a:latin typeface="SimSun"/>
                <a:ea typeface="SimSun"/>
                <a:cs typeface="SimSun"/>
              </a:rPr>
              <a:t>03</a:t>
            </a:r>
          </a:p>
        </p:txBody>
      </p:sp>
      <p:sp>
        <p:nvSpPr>
          <p:cNvPr id="5" name="!!actor-topic-03">
            <a:extLst xmlns:a="http://schemas.openxmlformats.org/drawingml/2006/main">
              <a:ext uri="{FF2B5EF4-FFF2-40B4-BE49-F238E27FC236}">
                <a16:creationId xmlns:a16="http://schemas.microsoft.com/office/drawing/2014/main" id="{4561395D-EAF0-415E-AC27-24811FCED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66725"/>
            <a:ext cx="638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宁德海洋生态修复</a:t>
            </a:r>
          </a:p>
        </p:txBody>
      </p:sp>
      <p:sp>
        <p:nvSpPr>
          <p:cNvPr id="6" name="!!s8-tag">
            <a:extLst xmlns:a="http://schemas.openxmlformats.org/drawingml/2006/main">
              <a:ext uri="{FF2B5EF4-FFF2-40B4-BE49-F238E27FC236}">
                <a16:creationId xmlns:a16="http://schemas.microsoft.com/office/drawing/2014/main" id="{C13A42B1-6DB7-4DCB-9924-AC90083DA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114425"/>
            <a:ext cx="595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法治观察</a:t>
            </a:r>
          </a:p>
        </p:txBody>
      </p:sp>
      <p:sp>
        <p:nvSpPr>
          <p:cNvPr id="7" name="!!s8-question">
            <a:extLst xmlns:a="http://schemas.openxmlformats.org/drawingml/2006/main">
              <a:ext uri="{FF2B5EF4-FFF2-40B4-BE49-F238E27FC236}">
                <a16:creationId xmlns:a16="http://schemas.microsoft.com/office/drawing/2014/main" id="{ECA340A7-D2CF-415F-85F5-377FC68F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685925"/>
            <a:ext cx="6334125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种下幼苗之后</a:t>
            </a:r>
          </a:p>
          <a:p xmlns:a="http://schemas.openxmlformats.org/drawingml/2006/main">
            <a: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怎样证明修复有效？</a:t>
            </a:r>
          </a:p>
        </p:txBody>
      </p:sp>
      <p:sp>
        <p:nvSpPr>
          <p:cNvPr id="8" name="!!s8-rule">
            <a:extLst xmlns:a="http://schemas.openxmlformats.org/drawingml/2006/main">
              <a:ext uri="{FF2B5EF4-FFF2-40B4-BE49-F238E27FC236}">
                <a16:creationId xmlns:a16="http://schemas.microsoft.com/office/drawing/2014/main" id="{A08439F0-6A85-40BF-8456-B92C2249B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14700"/>
            <a:ext cx="1066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D32"/>
          </a:solidFill>
          <a:ln xmlns:a="http://schemas.openxmlformats.org/drawingml/2006/main" w="0">
            <a:noFill/>
          </a:ln>
        </p:spPr>
      </p:sp>
      <p:sp>
        <p:nvSpPr>
          <p:cNvPr id="9" name="!!s8-analysis-0">
            <a:extLst xmlns:a="http://schemas.openxmlformats.org/drawingml/2006/main">
              <a:ext uri="{FF2B5EF4-FFF2-40B4-BE49-F238E27FC236}">
                <a16:creationId xmlns:a16="http://schemas.microsoft.com/office/drawing/2014/main" id="{0EFAADEF-91B0-47B5-B29E-E4B821819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33800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设计与实际完成面积分别核验</a:t>
            </a:r>
          </a:p>
        </p:txBody>
      </p:sp>
      <p:sp>
        <p:nvSpPr>
          <p:cNvPr id="10" name="!!s8-analysis-1">
            <a:extLst xmlns:a="http://schemas.openxmlformats.org/drawingml/2006/main">
              <a:ext uri="{FF2B5EF4-FFF2-40B4-BE49-F238E27FC236}">
                <a16:creationId xmlns:a16="http://schemas.microsoft.com/office/drawing/2014/main" id="{6CB36D5C-25BE-43E1-BD60-B932C0E5C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505325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潮汐循环影响生境恢复</a:t>
            </a:r>
          </a:p>
        </p:txBody>
      </p:sp>
      <p:sp>
        <p:nvSpPr>
          <p:cNvPr id="11" name="!!s8-analysis-2">
            <a:extLst xmlns:a="http://schemas.openxmlformats.org/drawingml/2006/main">
              <a:ext uri="{FF2B5EF4-FFF2-40B4-BE49-F238E27FC236}">
                <a16:creationId xmlns:a16="http://schemas.microsoft.com/office/drawing/2014/main" id="{CFEBA45E-DB34-4C4F-833D-FC41D8498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276850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验收与养护需要可测指标</a:t>
            </a:r>
          </a:p>
        </p:txBody>
      </p:sp>
      <p:sp>
        <p:nvSpPr>
          <p:cNvPr id="12" name="!!s8-footer">
            <a:extLst xmlns:a="http://schemas.openxmlformats.org/drawingml/2006/main">
              <a:ext uri="{FF2B5EF4-FFF2-40B4-BE49-F238E27FC236}">
                <a16:creationId xmlns:a16="http://schemas.microsoft.com/office/drawing/2014/main" id="{4BB5C64C-4D0E-4626-A35A-AD9480EB1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467475"/>
            <a:ext cx="38671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2026年10月6日至12日</a:t>
            </a:r>
          </a:p>
        </p:txBody>
      </p:sp>
      <p:sp>
        <p:nvSpPr>
          <p:cNvPr id="13" name="!!s8-footer-paper">
            <a:extLst xmlns:a="http://schemas.openxmlformats.org/drawingml/2006/main">
              <a:ext uri="{FF2B5EF4-FFF2-40B4-BE49-F238E27FC236}">
                <a16:creationId xmlns:a16="http://schemas.microsoft.com/office/drawing/2014/main" id="{B580A59F-10DD-4F37-8579-16ACDA483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6467475"/>
            <a:ext cx="571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本组法治观察  事实来源见前页</a:t>
            </a:r>
          </a:p>
        </p:txBody>
      </p:sp>
      <p:sp>
        <p:nvSpPr>
          <p:cNvPr id="14" name="!!s8-page-paper">
            <a:extLst xmlns:a="http://schemas.openxmlformats.org/drawingml/2006/main">
              <a:ext uri="{FF2B5EF4-FFF2-40B4-BE49-F238E27FC236}">
                <a16:creationId xmlns:a16="http://schemas.microsoft.com/office/drawing/2014/main" id="{73104B43-6EB3-4E23-8E82-89280AB79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08 / 26</a:t>
            </a:r>
          </a:p>
        </p:txBody>
      </p:sp>
    </p:spTree>
    <p:extLst>
      <p:ext uri="{BB962C8B-B14F-4D97-AF65-F5344CB8AC3E}">
        <p14:creationId xmlns:p14="http://schemas.microsoft.com/office/powerpoint/2010/main" val="1606457207"/>
      </p:ext>
    </p:extLst>
  </p:cSld>
  <mc:AlternateContent>
    <mc:Choice Requires="p159">
      <p:transition xmlns:p159="http://schemas.microsoft.com/office/powerpoint/2015/09/main" p14:dur="11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90"/>
                            </p:stCondLst>
                            <p:childTnLst>
                              <p:par>
                                <p:cTn id="3" presetID="10" presetClass="entr" presetSubtype="0" accel="5000" decel="65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"/>
                            </p:stCondLst>
                            <p:childTnLst>
                              <p:par>
                                <p:cTn id="9" presetID="2" presetClass="entr" presetSubtype="1" accel="5000" decel="6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30"/>
                            </p:stCondLst>
                            <p:childTnLst>
                              <p:par>
                                <p:cTn id="15" presetID="20" presetClass="entr" presetSubtype="2" accel="5000" decel="65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accel="5000" decel="65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80"/>
                            </p:stCondLst>
                            <p:childTnLst>
                              <p:par>
                                <p:cTn id="25" presetID="10" presetClass="entr" presetSubtype="0" accel="5000" decel="65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610"/>
                            </p:stCondLst>
                            <p:childTnLst>
                              <p:par>
                                <p:cTn id="30" presetID="10" presetClass="entr" presetSubtype="0" accel="5000" decel="6500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1"/>
      <p:bldP spid="8" grpId="2"/>
      <p:bldP spid="9" grpId="3"/>
      <p:bldP spid="10" grpId="4"/>
      <p:bldP spid="11" grpId="5"/>
    </p:bldLst>
  </p:timing>
</p:sld>
</file>

<file path=ppt/slides/slide9.xml><?xml version="1.0" encoding="utf-8"?>
<p:sld xmlns:a="http://schemas.openxmlformats.org/drawingml/2006/main" xmlns:a16="http://schemas.microsoft.com/office/drawing/2014/main" xmlns:r="http://schemas.openxmlformats.org/officeDocument/2006/relationships" xmlns:p14="http://schemas.microsoft.com/office/powerpoint/2010/main" xmlns:p="http://schemas.openxmlformats.org/presentationml/2006/main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!!actor-field-04">
            <a:extLst xmlns:a="http://schemas.openxmlformats.org/drawingml/2006/main">
              <a:ext uri="{FF2B5EF4-FFF2-40B4-BE49-F238E27FC236}">
                <a16:creationId xmlns:a16="http://schemas.microsoft.com/office/drawing/2014/main" id="{B29FDB59-9AC2-4286-AE72-0D926DCD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48768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056"/>
          </a:solidFill>
          <a:ln xmlns:a="http://schemas.openxmlformats.org/drawingml/2006/main" w="0">
            <a:noFill/>
          </a:ln>
        </p:spPr>
      </p:sp>
      <p:sp>
        <p:nvSpPr>
          <p:cNvPr id="2" name="!!actor-topic-04">
            <a:extLst xmlns:a="http://schemas.openxmlformats.org/drawingml/2006/main">
              <a:ext uri="{FF2B5EF4-FFF2-40B4-BE49-F238E27FC236}">
                <a16:creationId xmlns:a16="http://schemas.microsoft.com/office/drawing/2014/main" id="{F3AB8FA9-4D5C-4185-97A8-7A468C0EF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天津固体散装货物监管</a:t>
            </a:r>
          </a:p>
        </p:txBody>
      </p:sp>
      <p:sp>
        <p:nvSpPr>
          <p:cNvPr id="3" name="!!s9-date">
            <a:extLst xmlns:a="http://schemas.openxmlformats.org/drawingml/2006/main">
              <a:ext uri="{FF2B5EF4-FFF2-40B4-BE49-F238E27FC236}">
                <a16:creationId xmlns:a16="http://schemas.microsoft.com/office/drawing/2014/main" id="{22D72B47-2391-48CA-BFEF-6D0FFD3F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657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2026-10-07   演讲者 02</a:t>
            </a:r>
          </a:p>
        </p:txBody>
      </p:sp>
      <p:sp>
        <p:nvSpPr>
          <p:cNvPr id="4" name="!!s9-title">
            <a:extLst xmlns:a="http://schemas.openxmlformats.org/drawingml/2006/main">
              <a:ext uri="{FF2B5EF4-FFF2-40B4-BE49-F238E27FC236}">
                <a16:creationId xmlns:a16="http://schemas.microsoft.com/office/drawing/2014/main" id="{3F6622F7-C031-438C-86D0-BC7B3EDA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6238875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散装货物的水分</a:t>
            </a:r>
          </a:p>
          <a:p xmlns:a="http://schemas.openxmlformats.org/drawingml/2006/main">
            <a: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也影响航行安全</a:t>
            </a:r>
          </a:p>
        </p:txBody>
      </p:sp>
      <p:sp>
        <p:nvSpPr>
          <p:cNvPr id="5" name="!!s9-metric">
            <a:extLst xmlns:a="http://schemas.openxmlformats.org/drawingml/2006/main">
              <a:ext uri="{FF2B5EF4-FFF2-40B4-BE49-F238E27FC236}">
                <a16:creationId xmlns:a16="http://schemas.microsoft.com/office/drawing/2014/main" id="{A43233FE-709C-42B9-BD60-3A078847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6153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A组</a:t>
            </a:r>
          </a:p>
        </p:txBody>
      </p:sp>
      <p:sp>
        <p:nvSpPr>
          <p:cNvPr id="6" name="!!s9-label">
            <a:extLst xmlns:a="http://schemas.openxmlformats.org/drawingml/2006/main">
              <a:ext uri="{FF2B5EF4-FFF2-40B4-BE49-F238E27FC236}">
                <a16:creationId xmlns:a16="http://schemas.microsoft.com/office/drawing/2014/main" id="{5D143705-A63A-4D05-B171-4F7DFCF4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67175"/>
            <a:ext cx="61531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须重点核查水分风险的固体散货</a:t>
            </a:r>
          </a:p>
        </p:txBody>
      </p:sp>
      <p:sp>
        <p:nvSpPr>
          <p:cNvPr id="7" name="!!s9-fact-0">
            <a:extLst xmlns:a="http://schemas.openxmlformats.org/drawingml/2006/main">
              <a:ext uri="{FF2B5EF4-FFF2-40B4-BE49-F238E27FC236}">
                <a16:creationId xmlns:a16="http://schemas.microsoft.com/office/drawing/2014/main" id="{E78D5B35-2172-49F9-9E04-D33A9F4DA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天津海事开展固体散货监管</a:t>
            </a:r>
          </a:p>
        </p:txBody>
      </p:sp>
      <p:sp>
        <p:nvSpPr>
          <p:cNvPr id="8" name="!!s9-fact-1">
            <a:extLst xmlns:a="http://schemas.openxmlformats.org/drawingml/2006/main">
              <a:ext uri="{FF2B5EF4-FFF2-40B4-BE49-F238E27FC236}">
                <a16:creationId xmlns:a16="http://schemas.microsoft.com/office/drawing/2014/main" id="{17AA19B8-9A27-4848-803B-9FB0899F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0175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核查水分报告、适运水分极限和稳性</a:t>
            </a:r>
          </a:p>
        </p:txBody>
      </p:sp>
      <p:sp>
        <p:nvSpPr>
          <p:cNvPr id="9" name="!!s9-fact-2">
            <a:extLst xmlns:a="http://schemas.openxmlformats.org/drawingml/2006/main">
              <a:ext uri="{FF2B5EF4-FFF2-40B4-BE49-F238E27FC236}">
                <a16:creationId xmlns:a16="http://schemas.microsoft.com/office/drawing/2014/main" id="{74260CDD-A8D4-4244-8C88-E3D90C939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34050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隐患整改后复查销号</a:t>
            </a:r>
          </a:p>
        </p:txBody>
      </p:sp>
      <p:pic>
        <p:nvPicPr>
          <p:cNvPr id="10" name="!!actor-photo-04">
            <a:extLst xmlns:a="http://schemas.openxmlformats.org/drawingml/2006/main">
              <a:ext uri="{FF2B5EF4-FFF2-40B4-BE49-F238E27FC236}">
                <a16:creationId xmlns:a16="http://schemas.microsoft.com/office/drawing/2014/main" id="{2B57EEA3-F0D3-4BB8-ADB4-9219C01D15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fb2beac24e4f60"/>
          <a:stretch xmlns:a="http://schemas.openxmlformats.org/drawingml/2006/main"/>
        </p:blipFill>
        <p:spPr>
          <a:xfrm xmlns:a="http://schemas.openxmlformats.org/drawingml/2006/main">
            <a:off x="7658100" y="1908175"/>
            <a:ext cx="4191000" cy="2794000"/>
          </a:xfrm>
          <a:prstGeom xmlns:a="http://schemas.openxmlformats.org/drawingml/2006/main" prst="rect">
            <a:avLst/>
          </a:prstGeom>
        </p:spPr>
      </p:pic>
      <p:sp>
        <p:nvSpPr>
          <p:cNvPr id="11" name="!!s9-caption">
            <a:extLst xmlns:a="http://schemas.openxmlformats.org/drawingml/2006/main">
              <a:ext uri="{FF2B5EF4-FFF2-40B4-BE49-F238E27FC236}">
                <a16:creationId xmlns:a16="http://schemas.microsoft.com/office/drawing/2014/main" id="{643FD662-0886-42C2-A2B9-64F72023B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2445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原报道配图</a:t>
            </a:r>
          </a:p>
        </p:txBody>
      </p:sp>
      <p:sp>
        <p:nvSpPr>
          <p:cNvPr id="12" name="!!s9-section">
            <a:extLst xmlns:a="http://schemas.openxmlformats.org/drawingml/2006/main">
              <a:ext uri="{FF2B5EF4-FFF2-40B4-BE49-F238E27FC236}">
                <a16:creationId xmlns:a16="http://schemas.microsoft.com/office/drawing/2014/main" id="{3144B894-613A-49E2-87C0-6B5B7069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7340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pPr>
            <a:r>
              <a:rPr sz="3450" b="1">
                <a:solidFill>
                  <a:srgbClr val="F3E7CD"/>
                </a:solidFill>
                <a:latin typeface="SimSun"/>
                <a:ea typeface="SimSun"/>
                <a:cs typeface="SimSun"/>
              </a:rPr>
              <a:t>04</a:t>
            </a:r>
          </a:p>
        </p:txBody>
      </p:sp>
      <p:sp>
        <p:nvSpPr>
          <p:cNvPr id="13" name="!!s9-footer">
            <a:extLst xmlns:a="http://schemas.openxmlformats.org/drawingml/2006/main">
              <a:ext uri="{FF2B5EF4-FFF2-40B4-BE49-F238E27FC236}">
                <a16:creationId xmlns:a16="http://schemas.microsoft.com/office/drawing/2014/main" id="{A303207B-6F43-48CE-A06E-6140B6A1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10096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[04] 中国交通报 中国交通新闻网  2026-10-07</a:t>
            </a:r>
          </a:p>
        </p:txBody>
      </p:sp>
      <p:sp>
        <p:nvSpPr>
          <p:cNvPr id="14" name="!!s9-page">
            <a:extLst xmlns:a="http://schemas.openxmlformats.org/drawingml/2006/main">
              <a:ext uri="{FF2B5EF4-FFF2-40B4-BE49-F238E27FC236}">
                <a16:creationId xmlns:a16="http://schemas.microsoft.com/office/drawing/2014/main" id="{77C36A32-CEE6-42D8-A55D-7FFD13E15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09 / 26</a:t>
            </a:r>
          </a:p>
        </p:txBody>
      </p:sp>
    </p:spTree>
    <p:extLst>
      <p:ext uri="{BB962C8B-B14F-4D97-AF65-F5344CB8AC3E}">
        <p14:creationId xmlns:p14="http://schemas.microsoft.com/office/powerpoint/2010/main" val="1831736957"/>
      </p:ext>
    </p:extLst>
  </p:cSld>
  <p:transition p14: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" presetClass="entr" presetSubtype="1" accel="5000" decel="65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6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1" presetClass="entr" presetSubtype="0" accel="5000" decel="6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 zoomContents="1">
                                      <p:cBhvr>
                                        <p:cTn id="12" dur="540" fill="hold"/>
                                        <p:tgtEl>
                                          <p:spTgt spid="5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50"/>
                            </p:stCondLst>
                            <p:childTnLst>
                              <p:par>
                                <p:cTn id="15" presetID="10" presetClass="entr" presetSubtype="0" accel="5000" decel="65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accel="5000" decel="65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70"/>
                            </p:stCondLst>
                            <p:childTnLst>
                              <p:par>
                                <p:cTn id="25" presetID="10" presetClass="entr" presetSubtype="0" accel="5000" decel="65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90"/>
                            </p:stCondLst>
                            <p:childTnLst>
                              <p:par>
                                <p:cTn id="30" presetID="10" presetClass="entr" presetSubtype="0" accel="5000" decel="6500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80"/>
                            </p:stCondLst>
                            <p:childTnLst>
                              <p:par>
                                <p:cTn id="35" presetID="20" presetClass="entr" presetSubtype="2" accel="5000" decel="65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1"/>
      <p:bldP spid="6" grpId="2"/>
      <p:bldP spid="7" grpId="3"/>
      <p:bldP spid="8" grpId="4"/>
      <p:bldP spid="9" grpId="5"/>
      <p:bldP spid="11" grpId="6"/>
    </p:bldLst>
  </p:timing>
</p:sld>
</file>

<file path=ppt/slides/slide10.xml><?xml version="1.0" encoding="utf-8"?>
<p:sld xmlns:a="http://schemas.openxmlformats.org/drawingml/2006/main" xmlns:a16="http://schemas.microsoft.com/office/drawing/2014/main" xmlns:r="http://schemas.openxmlformats.org/officeDocument/2006/relationships" xmlns:p="http://schemas.openxmlformats.org/presentationml/2006/main" xmlns:p159="http://schemas.microsoft.com/office/powerpoint/2015/09/main" xmlns:mc="http://schemas.openxmlformats.org/markup-compatibility/2006" xmlns:p14="http://schemas.microsoft.com/office/powerpoint/2010/main" mc:Ignorable="p159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!!actor-field-04">
            <a:extLst xmlns:a="http://schemas.openxmlformats.org/drawingml/2006/main">
              <a:ext uri="{FF2B5EF4-FFF2-40B4-BE49-F238E27FC236}">
                <a16:creationId xmlns:a16="http://schemas.microsoft.com/office/drawing/2014/main" id="{D04D7356-3B56-4365-86DD-1FF63204E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629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056"/>
          </a:solidFill>
          <a:ln xmlns:a="http://schemas.openxmlformats.org/drawingml/2006/main" w="0">
            <a:noFill/>
          </a:ln>
        </p:spPr>
      </p:sp>
      <p:pic>
        <p:nvPicPr>
          <p:cNvPr id="2" name="!!actor-photo-04">
            <a:extLst xmlns:a="http://schemas.openxmlformats.org/drawingml/2006/main">
              <a:ext uri="{FF2B5EF4-FFF2-40B4-BE49-F238E27FC236}">
                <a16:creationId xmlns:a16="http://schemas.microsoft.com/office/drawing/2014/main" id="{7619DE3D-FADD-4C37-B900-E1746A339D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b15c093b448b1"/>
          <a:stretch xmlns:a="http://schemas.openxmlformats.org/drawingml/2006/main"/>
        </p:blipFill>
        <p:spPr>
          <a:xfrm xmlns:a="http://schemas.openxmlformats.org/drawingml/2006/main">
            <a:off x="381000" y="2168525"/>
            <a:ext cx="3867150" cy="2578100"/>
          </a:xfrm>
          <a:prstGeom xmlns:a="http://schemas.openxmlformats.org/drawingml/2006/main" prst="rect">
            <a:avLst/>
          </a:prstGeom>
        </p:spPr>
      </p:pic>
      <p:sp>
        <p:nvSpPr>
          <p:cNvPr id="3" name="!!s10-caption">
            <a:extLst xmlns:a="http://schemas.openxmlformats.org/drawingml/2006/main">
              <a:ext uri="{FF2B5EF4-FFF2-40B4-BE49-F238E27FC236}">
                <a16:creationId xmlns:a16="http://schemas.microsoft.com/office/drawing/2014/main" id="{322C816A-0299-4F44-BFA1-CD3CFF7C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95875"/>
            <a:ext cx="3867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原报道配图</a:t>
            </a:r>
          </a:p>
        </p:txBody>
      </p:sp>
      <p:sp>
        <p:nvSpPr>
          <p:cNvPr id="4" name="!!s10-section">
            <a:extLst xmlns:a="http://schemas.openxmlformats.org/drawingml/2006/main">
              <a:ext uri="{FF2B5EF4-FFF2-40B4-BE49-F238E27FC236}">
                <a16:creationId xmlns:a16="http://schemas.microsoft.com/office/drawing/2014/main" id="{BC3B4652-6805-41CE-83CA-785D6E06C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4825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40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540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pPr>
            <a:r>
              <a:rPr sz="5400" b="1">
                <a:solidFill>
                  <a:srgbClr val="F3E7CD"/>
                </a:solidFill>
                <a:latin typeface="SimSun"/>
                <a:ea typeface="SimSun"/>
                <a:cs typeface="SimSun"/>
              </a:rPr>
              <a:t>04</a:t>
            </a:r>
          </a:p>
        </p:txBody>
      </p:sp>
      <p:sp>
        <p:nvSpPr>
          <p:cNvPr id="5" name="!!actor-topic-04">
            <a:extLst xmlns:a="http://schemas.openxmlformats.org/drawingml/2006/main">
              <a:ext uri="{FF2B5EF4-FFF2-40B4-BE49-F238E27FC236}">
                <a16:creationId xmlns:a16="http://schemas.microsoft.com/office/drawing/2014/main" id="{DB6830BD-01BE-459C-9E77-0DF1C794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66725"/>
            <a:ext cx="638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天津固体散装货物监管</a:t>
            </a:r>
          </a:p>
        </p:txBody>
      </p:sp>
      <p:sp>
        <p:nvSpPr>
          <p:cNvPr id="6" name="!!s10-tag">
            <a:extLst xmlns:a="http://schemas.openxmlformats.org/drawingml/2006/main">
              <a:ext uri="{FF2B5EF4-FFF2-40B4-BE49-F238E27FC236}">
                <a16:creationId xmlns:a16="http://schemas.microsoft.com/office/drawing/2014/main" id="{6F2176D5-3EE2-424D-9EDB-BDA380AE7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114425"/>
            <a:ext cx="595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法治观察</a:t>
            </a:r>
          </a:p>
        </p:txBody>
      </p:sp>
      <p:sp>
        <p:nvSpPr>
          <p:cNvPr id="7" name="!!s10-question">
            <a:extLst xmlns:a="http://schemas.openxmlformats.org/drawingml/2006/main">
              <a:ext uri="{FF2B5EF4-FFF2-40B4-BE49-F238E27FC236}">
                <a16:creationId xmlns:a16="http://schemas.microsoft.com/office/drawing/2014/main" id="{E718429C-E6E9-4557-A9CA-23D1DAFB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685925"/>
            <a:ext cx="6334125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看起来干燥的货物</a:t>
            </a:r>
          </a:p>
          <a:p xmlns:a="http://schemas.openxmlformats.org/drawingml/2006/main">
            <a: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也可能危及船舶？</a:t>
            </a:r>
          </a:p>
        </p:txBody>
      </p:sp>
      <p:sp>
        <p:nvSpPr>
          <p:cNvPr id="8" name="!!s10-rule">
            <a:extLst xmlns:a="http://schemas.openxmlformats.org/drawingml/2006/main">
              <a:ext uri="{FF2B5EF4-FFF2-40B4-BE49-F238E27FC236}">
                <a16:creationId xmlns:a16="http://schemas.microsoft.com/office/drawing/2014/main" id="{BBE8E5A6-7208-4DCB-A30E-D6A21A61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14700"/>
            <a:ext cx="1066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D32"/>
          </a:solidFill>
          <a:ln xmlns:a="http://schemas.openxmlformats.org/drawingml/2006/main" w="0">
            <a:noFill/>
          </a:ln>
        </p:spPr>
      </p:sp>
      <p:sp>
        <p:nvSpPr>
          <p:cNvPr id="9" name="!!s10-analysis-0">
            <a:extLst xmlns:a="http://schemas.openxmlformats.org/drawingml/2006/main">
              <a:ext uri="{FF2B5EF4-FFF2-40B4-BE49-F238E27FC236}">
                <a16:creationId xmlns:a16="http://schemas.microsoft.com/office/drawing/2014/main" id="{2E50C5E0-B09B-401E-A98E-CAA52033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33800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流态化与货物位移可能危及稳性</a:t>
            </a:r>
          </a:p>
        </p:txBody>
      </p:sp>
      <p:sp>
        <p:nvSpPr>
          <p:cNvPr id="10" name="!!s10-analysis-1">
            <a:extLst xmlns:a="http://schemas.openxmlformats.org/drawingml/2006/main">
              <a:ext uri="{FF2B5EF4-FFF2-40B4-BE49-F238E27FC236}">
                <a16:creationId xmlns:a16="http://schemas.microsoft.com/office/drawing/2014/main" id="{0A81C32F-0C77-443B-ABC0-FF38F6447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505325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船岸作业责任应可追溯</a:t>
            </a:r>
          </a:p>
        </p:txBody>
      </p:sp>
      <p:sp>
        <p:nvSpPr>
          <p:cNvPr id="11" name="!!s10-analysis-2">
            <a:extLst xmlns:a="http://schemas.openxmlformats.org/drawingml/2006/main">
              <a:ext uri="{FF2B5EF4-FFF2-40B4-BE49-F238E27FC236}">
                <a16:creationId xmlns:a16="http://schemas.microsoft.com/office/drawing/2014/main" id="{D0AE57F6-ABE5-478F-80DA-1BC0CB22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276850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检测单证须符合实际货况</a:t>
            </a:r>
          </a:p>
        </p:txBody>
      </p:sp>
      <p:sp>
        <p:nvSpPr>
          <p:cNvPr id="12" name="!!s10-footer">
            <a:extLst xmlns:a="http://schemas.openxmlformats.org/drawingml/2006/main">
              <a:ext uri="{FF2B5EF4-FFF2-40B4-BE49-F238E27FC236}">
                <a16:creationId xmlns:a16="http://schemas.microsoft.com/office/drawing/2014/main" id="{7FAA3193-5884-47B9-B947-BC51E4EA2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467475"/>
            <a:ext cx="38671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2026年10月6日至12日</a:t>
            </a:r>
          </a:p>
        </p:txBody>
      </p:sp>
      <p:sp>
        <p:nvSpPr>
          <p:cNvPr id="13" name="!!s10-footer-paper">
            <a:extLst xmlns:a="http://schemas.openxmlformats.org/drawingml/2006/main">
              <a:ext uri="{FF2B5EF4-FFF2-40B4-BE49-F238E27FC236}">
                <a16:creationId xmlns:a16="http://schemas.microsoft.com/office/drawing/2014/main" id="{14040904-ECB6-4804-814A-A15953EC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6467475"/>
            <a:ext cx="571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本组法治观察  事实来源见前页</a:t>
            </a:r>
          </a:p>
        </p:txBody>
      </p:sp>
      <p:sp>
        <p:nvSpPr>
          <p:cNvPr id="14" name="!!s10-page-paper">
            <a:extLst xmlns:a="http://schemas.openxmlformats.org/drawingml/2006/main">
              <a:ext uri="{FF2B5EF4-FFF2-40B4-BE49-F238E27FC236}">
                <a16:creationId xmlns:a16="http://schemas.microsoft.com/office/drawing/2014/main" id="{84E7A085-EA42-42E7-9E25-67FB0259A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10 / 26</a:t>
            </a:r>
          </a:p>
        </p:txBody>
      </p:sp>
    </p:spTree>
    <p:extLst>
      <p:ext uri="{BB962C8B-B14F-4D97-AF65-F5344CB8AC3E}">
        <p14:creationId xmlns:p14="http://schemas.microsoft.com/office/powerpoint/2010/main" val="1954769291"/>
      </p:ext>
    </p:extLst>
  </p:cSld>
  <mc:AlternateContent>
    <mc:Choice Requires="p159">
      <p:transition xmlns:p159="http://schemas.microsoft.com/office/powerpoint/2015/09/main" p14:dur="11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90"/>
                            </p:stCondLst>
                            <p:childTnLst>
                              <p:par>
                                <p:cTn id="3" presetID="10" presetClass="entr" presetSubtype="0" fill="hold" grpId="0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"/>
                            </p:stCondLst>
                            <p:childTnLst>
                              <p:par>
                                <p:cTn id="9" presetID="2" presetClass="entr" presetSubtype="1" fill="hold" grpId="1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30"/>
                            </p:stCondLst>
                            <p:childTnLst>
                              <p:par>
                                <p:cTn id="15" presetID="20" presetClass="entr" presetSubtype="2" fill="hold" grpId="2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fill="hold" grpId="3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80"/>
                            </p:stCondLst>
                            <p:childTnLst>
                              <p:par>
                                <p:cTn id="25" presetID="10" presetClass="entr" presetSubtype="0" fill="hold" grpId="4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610"/>
                            </p:stCondLst>
                            <p:childTnLst>
                              <p:par>
                                <p:cTn id="30" presetID="10" presetClass="entr" presetSubtype="0" fill="hold" grpId="5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1"/>
      <p:bldP spid="8" grpId="2"/>
      <p:bldP spid="9" grpId="3"/>
      <p:bldP spid="10" grpId="4"/>
      <p:bldP spid="11" grpId="5"/>
    </p:bldLst>
  </p:timing>
</p:sld>
</file>

<file path=ppt/slides/slide11.xml><?xml version="1.0" encoding="utf-8"?>
<p:sld xmlns:a="http://schemas.openxmlformats.org/drawingml/2006/main" xmlns:a16="http://schemas.microsoft.com/office/drawing/2014/main" xmlns:r="http://schemas.openxmlformats.org/officeDocument/2006/relationships" xmlns:p14="http://schemas.microsoft.com/office/powerpoint/2010/main" xmlns:p="http://schemas.openxmlformats.org/presentationml/2006/main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!!actor-field-05">
            <a:extLst xmlns:a="http://schemas.openxmlformats.org/drawingml/2006/main">
              <a:ext uri="{FF2B5EF4-FFF2-40B4-BE49-F238E27FC236}">
                <a16:creationId xmlns:a16="http://schemas.microsoft.com/office/drawing/2014/main" id="{F9D991C5-26C8-4848-A21D-CFABB9707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48768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056"/>
          </a:solidFill>
          <a:ln xmlns:a="http://schemas.openxmlformats.org/drawingml/2006/main" w="0">
            <a:noFill/>
          </a:ln>
        </p:spPr>
      </p:sp>
      <p:sp>
        <p:nvSpPr>
          <p:cNvPr id="2" name="!!actor-topic-05">
            <a:extLst xmlns:a="http://schemas.openxmlformats.org/drawingml/2006/main">
              <a:ext uri="{FF2B5EF4-FFF2-40B4-BE49-F238E27FC236}">
                <a16:creationId xmlns:a16="http://schemas.microsoft.com/office/drawing/2014/main" id="{794FA00E-2AF0-42EE-951F-C7D707867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潮州港民生物资保畅</a:t>
            </a:r>
          </a:p>
        </p:txBody>
      </p:sp>
      <p:sp>
        <p:nvSpPr>
          <p:cNvPr id="3" name="!!s11-date">
            <a:extLst xmlns:a="http://schemas.openxmlformats.org/drawingml/2006/main">
              <a:ext uri="{FF2B5EF4-FFF2-40B4-BE49-F238E27FC236}">
                <a16:creationId xmlns:a16="http://schemas.microsoft.com/office/drawing/2014/main" id="{7CA4828E-0C19-4780-A630-71F89B02C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657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2026-10-09   演讲者 03</a:t>
            </a:r>
          </a:p>
        </p:txBody>
      </p:sp>
      <p:sp>
        <p:nvSpPr>
          <p:cNvPr id="4" name="!!s11-title">
            <a:extLst xmlns:a="http://schemas.openxmlformats.org/drawingml/2006/main">
              <a:ext uri="{FF2B5EF4-FFF2-40B4-BE49-F238E27FC236}">
                <a16:creationId xmlns:a16="http://schemas.microsoft.com/office/drawing/2014/main" id="{61BB8C64-F03E-450C-9A4F-D50DA68E1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6238875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国庆运输保障</a:t>
            </a:r>
          </a:p>
          <a:p xmlns:a="http://schemas.openxmlformats.org/drawingml/2006/main">
            <a: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落到通航秩序</a:t>
            </a:r>
          </a:p>
        </p:txBody>
      </p:sp>
      <p:sp>
        <p:nvSpPr>
          <p:cNvPr id="5" name="!!s11-metric">
            <a:extLst xmlns:a="http://schemas.openxmlformats.org/drawingml/2006/main">
              <a:ext uri="{FF2B5EF4-FFF2-40B4-BE49-F238E27FC236}">
                <a16:creationId xmlns:a16="http://schemas.microsoft.com/office/drawing/2014/main" id="{E1150983-46E0-4A66-8668-7D3BDD843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6153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40万吨</a:t>
            </a:r>
          </a:p>
        </p:txBody>
      </p:sp>
      <p:sp>
        <p:nvSpPr>
          <p:cNvPr id="6" name="!!s11-label">
            <a:extLst xmlns:a="http://schemas.openxmlformats.org/drawingml/2006/main">
              <a:ext uri="{FF2B5EF4-FFF2-40B4-BE49-F238E27FC236}">
                <a16:creationId xmlns:a16="http://schemas.microsoft.com/office/drawing/2014/main" id="{4BBBC6AC-7AF5-41B3-94AC-48A5ACA24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67175"/>
            <a:ext cx="61531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国庆期间重点民生物资运输量</a:t>
            </a:r>
          </a:p>
        </p:txBody>
      </p:sp>
      <p:sp>
        <p:nvSpPr>
          <p:cNvPr id="7" name="!!s11-fact-0">
            <a:extLst xmlns:a="http://schemas.openxmlformats.org/drawingml/2006/main">
              <a:ext uri="{FF2B5EF4-FFF2-40B4-BE49-F238E27FC236}">
                <a16:creationId xmlns:a16="http://schemas.microsoft.com/office/drawing/2014/main" id="{B949DDBC-9344-44CB-ACB1-E061CA86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国庆期间船舶进出149艘次</a:t>
            </a:r>
          </a:p>
        </p:txBody>
      </p:sp>
      <p:sp>
        <p:nvSpPr>
          <p:cNvPr id="8" name="!!s11-fact-1">
            <a:extLst xmlns:a="http://schemas.openxmlformats.org/drawingml/2006/main">
              <a:ext uri="{FF2B5EF4-FFF2-40B4-BE49-F238E27FC236}">
                <a16:creationId xmlns:a16="http://schemas.microsoft.com/office/drawing/2014/main" id="{85BDCE02-8F22-44BE-8CE9-37FE872BF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0175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重点物资靠离泊与装卸优先</a:t>
            </a:r>
          </a:p>
        </p:txBody>
      </p:sp>
      <p:sp>
        <p:nvSpPr>
          <p:cNvPr id="9" name="!!s11-fact-2">
            <a:extLst xmlns:a="http://schemas.openxmlformats.org/drawingml/2006/main">
              <a:ext uri="{FF2B5EF4-FFF2-40B4-BE49-F238E27FC236}">
                <a16:creationId xmlns:a16="http://schemas.microsoft.com/office/drawing/2014/main" id="{58464516-6CC3-4074-8F42-C5ADC297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34050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商渔混合港联合巡查</a:t>
            </a:r>
          </a:p>
        </p:txBody>
      </p:sp>
      <p:pic>
        <p:nvPicPr>
          <p:cNvPr id="10" name="!!actor-photo-05">
            <a:extLst xmlns:a="http://schemas.openxmlformats.org/drawingml/2006/main">
              <a:ext uri="{FF2B5EF4-FFF2-40B4-BE49-F238E27FC236}">
                <a16:creationId xmlns:a16="http://schemas.microsoft.com/office/drawing/2014/main" id="{788DB1AC-503B-4719-9109-7A34245775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c2bd04ce28422b"/>
          <a:stretch xmlns:a="http://schemas.openxmlformats.org/drawingml/2006/main"/>
        </p:blipFill>
        <p:spPr>
          <a:xfrm xmlns:a="http://schemas.openxmlformats.org/drawingml/2006/main">
            <a:off x="7658100" y="1733831"/>
            <a:ext cx="4191000" cy="3142689"/>
          </a:xfrm>
          <a:prstGeom xmlns:a="http://schemas.openxmlformats.org/drawingml/2006/main" prst="rect">
            <a:avLst/>
          </a:prstGeom>
        </p:spPr>
      </p:pic>
      <p:sp>
        <p:nvSpPr>
          <p:cNvPr id="11" name="!!s11-caption">
            <a:extLst xmlns:a="http://schemas.openxmlformats.org/drawingml/2006/main">
              <a:ext uri="{FF2B5EF4-FFF2-40B4-BE49-F238E27FC236}">
                <a16:creationId xmlns:a16="http://schemas.microsoft.com/office/drawing/2014/main" id="{F09371D6-B167-4861-8C33-E35F816BC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2445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原报道配图</a:t>
            </a:r>
          </a:p>
        </p:txBody>
      </p:sp>
      <p:sp>
        <p:nvSpPr>
          <p:cNvPr id="12" name="!!s11-section">
            <a:extLst xmlns:a="http://schemas.openxmlformats.org/drawingml/2006/main">
              <a:ext uri="{FF2B5EF4-FFF2-40B4-BE49-F238E27FC236}">
                <a16:creationId xmlns:a16="http://schemas.microsoft.com/office/drawing/2014/main" id="{EF69B781-36B3-4C23-887E-F9662C04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7340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pPr>
            <a:r>
              <a:rPr sz="3450" b="1">
                <a:solidFill>
                  <a:srgbClr val="F3E7CD"/>
                </a:solidFill>
                <a:latin typeface="SimSun"/>
                <a:ea typeface="SimSun"/>
                <a:cs typeface="SimSun"/>
              </a:rPr>
              <a:t>05</a:t>
            </a:r>
          </a:p>
        </p:txBody>
      </p:sp>
      <p:sp>
        <p:nvSpPr>
          <p:cNvPr id="13" name="!!s11-footer">
            <a:extLst xmlns:a="http://schemas.openxmlformats.org/drawingml/2006/main">
              <a:ext uri="{FF2B5EF4-FFF2-40B4-BE49-F238E27FC236}">
                <a16:creationId xmlns:a16="http://schemas.microsoft.com/office/drawing/2014/main" id="{4F27E0C5-90A4-4F92-8319-DC388E984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10096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[05] 羊城派 21经济网转载  2026-10-09</a:t>
            </a:r>
          </a:p>
        </p:txBody>
      </p:sp>
      <p:sp>
        <p:nvSpPr>
          <p:cNvPr id="14" name="!!s11-page">
            <a:extLst xmlns:a="http://schemas.openxmlformats.org/drawingml/2006/main">
              <a:ext uri="{FF2B5EF4-FFF2-40B4-BE49-F238E27FC236}">
                <a16:creationId xmlns:a16="http://schemas.microsoft.com/office/drawing/2014/main" id="{07143ECB-01E9-463F-ABD6-5CBF58FB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11 / 26</a:t>
            </a:r>
          </a:p>
        </p:txBody>
      </p:sp>
    </p:spTree>
    <p:extLst>
      <p:ext uri="{BB962C8B-B14F-4D97-AF65-F5344CB8AC3E}">
        <p14:creationId xmlns:p14="http://schemas.microsoft.com/office/powerpoint/2010/main" val="1665262581"/>
      </p:ext>
    </p:extLst>
  </p:cSld>
  <p:transition p14: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" presetClass="entr" presetSubtype="1" accel="5000" decel="65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6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1" presetClass="entr" presetSubtype="0" accel="5000" decel="6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 zoomContents="1">
                                      <p:cBhvr>
                                        <p:cTn id="12" dur="540" fill="hold"/>
                                        <p:tgtEl>
                                          <p:spTgt spid="5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50"/>
                            </p:stCondLst>
                            <p:childTnLst>
                              <p:par>
                                <p:cTn id="15" presetID="10" presetClass="entr" presetSubtype="0" accel="5000" decel="65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accel="5000" decel="65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70"/>
                            </p:stCondLst>
                            <p:childTnLst>
                              <p:par>
                                <p:cTn id="25" presetID="10" presetClass="entr" presetSubtype="0" accel="5000" decel="65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90"/>
                            </p:stCondLst>
                            <p:childTnLst>
                              <p:par>
                                <p:cTn id="30" presetID="10" presetClass="entr" presetSubtype="0" accel="5000" decel="6500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80"/>
                            </p:stCondLst>
                            <p:childTnLst>
                              <p:par>
                                <p:cTn id="35" presetID="20" presetClass="entr" presetSubtype="2" accel="5000" decel="65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1"/>
      <p:bldP spid="6" grpId="2"/>
      <p:bldP spid="7" grpId="3"/>
      <p:bldP spid="8" grpId="4"/>
      <p:bldP spid="9" grpId="5"/>
      <p:bldP spid="11" grpId="6"/>
    </p:bldLst>
  </p:timing>
</p:sld>
</file>

<file path=ppt/slides/slide12.xml><?xml version="1.0" encoding="utf-8"?>
<p:sld xmlns:a="http://schemas.openxmlformats.org/drawingml/2006/main" xmlns:a16="http://schemas.microsoft.com/office/drawing/2014/main" xmlns:r="http://schemas.openxmlformats.org/officeDocument/2006/relationships" xmlns:p="http://schemas.openxmlformats.org/presentationml/2006/main" xmlns:p159="http://schemas.microsoft.com/office/powerpoint/2015/09/main" xmlns:mc="http://schemas.openxmlformats.org/markup-compatibility/2006" xmlns:p14="http://schemas.microsoft.com/office/powerpoint/2010/main" mc:Ignorable="p159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!!actor-field-05">
            <a:extLst xmlns:a="http://schemas.openxmlformats.org/drawingml/2006/main">
              <a:ext uri="{FF2B5EF4-FFF2-40B4-BE49-F238E27FC236}">
                <a16:creationId xmlns:a16="http://schemas.microsoft.com/office/drawing/2014/main" id="{2B19007C-346E-4A20-9385-9A4C67C3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629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056"/>
          </a:solidFill>
          <a:ln xmlns:a="http://schemas.openxmlformats.org/drawingml/2006/main" w="0">
            <a:noFill/>
          </a:ln>
        </p:spPr>
      </p:sp>
      <p:pic>
        <p:nvPicPr>
          <p:cNvPr id="2" name="!!actor-photo-05">
            <a:extLst xmlns:a="http://schemas.openxmlformats.org/drawingml/2006/main">
              <a:ext uri="{FF2B5EF4-FFF2-40B4-BE49-F238E27FC236}">
                <a16:creationId xmlns:a16="http://schemas.microsoft.com/office/drawing/2014/main" id="{61F40BE5-F2F7-4D12-AA41-24A8028F22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654fe85a9146b3"/>
          <a:stretch xmlns:a="http://schemas.openxmlformats.org/drawingml/2006/main"/>
        </p:blipFill>
        <p:spPr>
          <a:xfrm xmlns:a="http://schemas.openxmlformats.org/drawingml/2006/main">
            <a:off x="381000" y="2007653"/>
            <a:ext cx="3867150" cy="2899845"/>
          </a:xfrm>
          <a:prstGeom xmlns:a="http://schemas.openxmlformats.org/drawingml/2006/main" prst="rect">
            <a:avLst/>
          </a:prstGeom>
        </p:spPr>
      </p:pic>
      <p:sp>
        <p:nvSpPr>
          <p:cNvPr id="3" name="!!s12-caption">
            <a:extLst xmlns:a="http://schemas.openxmlformats.org/drawingml/2006/main">
              <a:ext uri="{FF2B5EF4-FFF2-40B4-BE49-F238E27FC236}">
                <a16:creationId xmlns:a16="http://schemas.microsoft.com/office/drawing/2014/main" id="{F349B0F6-DAAA-41C0-B6CF-0ECAA9F1B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95875"/>
            <a:ext cx="3867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原报道配图</a:t>
            </a:r>
          </a:p>
        </p:txBody>
      </p:sp>
      <p:sp>
        <p:nvSpPr>
          <p:cNvPr id="4" name="!!s12-section">
            <a:extLst xmlns:a="http://schemas.openxmlformats.org/drawingml/2006/main">
              <a:ext uri="{FF2B5EF4-FFF2-40B4-BE49-F238E27FC236}">
                <a16:creationId xmlns:a16="http://schemas.microsoft.com/office/drawing/2014/main" id="{5EF97FB0-4C6E-4664-8FF6-3E10BB54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4825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40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540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pPr>
            <a:r>
              <a:rPr sz="5400" b="1">
                <a:solidFill>
                  <a:srgbClr val="F3E7CD"/>
                </a:solidFill>
                <a:latin typeface="SimSun"/>
                <a:ea typeface="SimSun"/>
                <a:cs typeface="SimSun"/>
              </a:rPr>
              <a:t>05</a:t>
            </a:r>
          </a:p>
        </p:txBody>
      </p:sp>
      <p:sp>
        <p:nvSpPr>
          <p:cNvPr id="5" name="!!actor-topic-05">
            <a:extLst xmlns:a="http://schemas.openxmlformats.org/drawingml/2006/main">
              <a:ext uri="{FF2B5EF4-FFF2-40B4-BE49-F238E27FC236}">
                <a16:creationId xmlns:a16="http://schemas.microsoft.com/office/drawing/2014/main" id="{110A9B56-046A-4707-9D3D-DC47517C6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66725"/>
            <a:ext cx="638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潮州港民生物资保畅</a:t>
            </a:r>
          </a:p>
        </p:txBody>
      </p:sp>
      <p:sp>
        <p:nvSpPr>
          <p:cNvPr id="6" name="!!s12-tag">
            <a:extLst xmlns:a="http://schemas.openxmlformats.org/drawingml/2006/main">
              <a:ext uri="{FF2B5EF4-FFF2-40B4-BE49-F238E27FC236}">
                <a16:creationId xmlns:a16="http://schemas.microsoft.com/office/drawing/2014/main" id="{74A256F2-DC26-4508-949B-375C0A2C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114425"/>
            <a:ext cx="595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法治观察</a:t>
            </a:r>
          </a:p>
        </p:txBody>
      </p:sp>
      <p:sp>
        <p:nvSpPr>
          <p:cNvPr id="7" name="!!s12-question">
            <a:extLst xmlns:a="http://schemas.openxmlformats.org/drawingml/2006/main">
              <a:ext uri="{FF2B5EF4-FFF2-40B4-BE49-F238E27FC236}">
                <a16:creationId xmlns:a16="http://schemas.microsoft.com/office/drawing/2014/main" id="{A685418F-4296-4C32-AB3C-8027564A1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685925"/>
            <a:ext cx="6334125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保通保畅与安全</a:t>
            </a:r>
          </a:p>
          <a:p xmlns:a="http://schemas.openxmlformats.org/drawingml/2006/main">
            <a: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怎样同时实现？</a:t>
            </a:r>
          </a:p>
        </p:txBody>
      </p:sp>
      <p:sp>
        <p:nvSpPr>
          <p:cNvPr id="8" name="!!s12-rule">
            <a:extLst xmlns:a="http://schemas.openxmlformats.org/drawingml/2006/main">
              <a:ext uri="{FF2B5EF4-FFF2-40B4-BE49-F238E27FC236}">
                <a16:creationId xmlns:a16="http://schemas.microsoft.com/office/drawing/2014/main" id="{03A9C785-9C0C-4701-A7F9-6ABEDC74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14700"/>
            <a:ext cx="1066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D32"/>
          </a:solidFill>
          <a:ln xmlns:a="http://schemas.openxmlformats.org/drawingml/2006/main" w="0">
            <a:noFill/>
          </a:ln>
        </p:spPr>
      </p:sp>
      <p:sp>
        <p:nvSpPr>
          <p:cNvPr id="9" name="!!s12-analysis-0">
            <a:extLst xmlns:a="http://schemas.openxmlformats.org/drawingml/2006/main">
              <a:ext uri="{FF2B5EF4-FFF2-40B4-BE49-F238E27FC236}">
                <a16:creationId xmlns:a16="http://schemas.microsoft.com/office/drawing/2014/main" id="{D9260A6F-B0ED-4993-95BA-C13A053F2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33800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便利化应满足通航安全条件</a:t>
            </a:r>
          </a:p>
        </p:txBody>
      </p:sp>
      <p:sp>
        <p:nvSpPr>
          <p:cNvPr id="10" name="!!s12-analysis-1">
            <a:extLst xmlns:a="http://schemas.openxmlformats.org/drawingml/2006/main">
              <a:ext uri="{FF2B5EF4-FFF2-40B4-BE49-F238E27FC236}">
                <a16:creationId xmlns:a16="http://schemas.microsoft.com/office/drawing/2014/main" id="{B29026E6-1776-44BE-9680-91A402EF6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505325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商船渔船交汇需要清晰秩序</a:t>
            </a:r>
          </a:p>
        </p:txBody>
      </p:sp>
      <p:sp>
        <p:nvSpPr>
          <p:cNvPr id="11" name="!!s12-analysis-2">
            <a:extLst xmlns:a="http://schemas.openxmlformats.org/drawingml/2006/main">
              <a:ext uri="{FF2B5EF4-FFF2-40B4-BE49-F238E27FC236}">
                <a16:creationId xmlns:a16="http://schemas.microsoft.com/office/drawing/2014/main" id="{7CD99E11-0677-43F6-8BCC-5112D80B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276850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联合巡查及时识别风险</a:t>
            </a:r>
          </a:p>
        </p:txBody>
      </p:sp>
      <p:sp>
        <p:nvSpPr>
          <p:cNvPr id="12" name="!!s12-footer">
            <a:extLst xmlns:a="http://schemas.openxmlformats.org/drawingml/2006/main">
              <a:ext uri="{FF2B5EF4-FFF2-40B4-BE49-F238E27FC236}">
                <a16:creationId xmlns:a16="http://schemas.microsoft.com/office/drawing/2014/main" id="{B893A052-486A-4C7A-86F0-C5975904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467475"/>
            <a:ext cx="38671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2026年10月6日至12日</a:t>
            </a:r>
          </a:p>
        </p:txBody>
      </p:sp>
      <p:sp>
        <p:nvSpPr>
          <p:cNvPr id="13" name="!!s12-footer-paper">
            <a:extLst xmlns:a="http://schemas.openxmlformats.org/drawingml/2006/main">
              <a:ext uri="{FF2B5EF4-FFF2-40B4-BE49-F238E27FC236}">
                <a16:creationId xmlns:a16="http://schemas.microsoft.com/office/drawing/2014/main" id="{37A73B15-D5F5-48B1-B560-625C12DE1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6467475"/>
            <a:ext cx="571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本组法治观察  事实来源见前页</a:t>
            </a:r>
          </a:p>
        </p:txBody>
      </p:sp>
      <p:sp>
        <p:nvSpPr>
          <p:cNvPr id="14" name="!!s12-page-paper">
            <a:extLst xmlns:a="http://schemas.openxmlformats.org/drawingml/2006/main">
              <a:ext uri="{FF2B5EF4-FFF2-40B4-BE49-F238E27FC236}">
                <a16:creationId xmlns:a16="http://schemas.microsoft.com/office/drawing/2014/main" id="{1B6CD7AD-5898-463F-980F-D9AE9C55E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12 / 26</a:t>
            </a:r>
          </a:p>
        </p:txBody>
      </p:sp>
    </p:spTree>
    <p:extLst>
      <p:ext uri="{BB962C8B-B14F-4D97-AF65-F5344CB8AC3E}">
        <p14:creationId xmlns:p14="http://schemas.microsoft.com/office/powerpoint/2010/main" val="1878629615"/>
      </p:ext>
    </p:extLst>
  </p:cSld>
  <mc:AlternateContent>
    <mc:Choice Requires="p159">
      <p:transition xmlns:p159="http://schemas.microsoft.com/office/powerpoint/2015/09/main" p14:dur="11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90"/>
                            </p:stCondLst>
                            <p:childTnLst>
                              <p:par>
                                <p:cTn id="3" presetID="10" presetClass="entr" presetSubtype="0" fill="hold" grpId="0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"/>
                            </p:stCondLst>
                            <p:childTnLst>
                              <p:par>
                                <p:cTn id="9" presetID="2" presetClass="entr" presetSubtype="1" fill="hold" grpId="1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30"/>
                            </p:stCondLst>
                            <p:childTnLst>
                              <p:par>
                                <p:cTn id="15" presetID="20" presetClass="entr" presetSubtype="2" fill="hold" grpId="2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fill="hold" grpId="3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80"/>
                            </p:stCondLst>
                            <p:childTnLst>
                              <p:par>
                                <p:cTn id="25" presetID="10" presetClass="entr" presetSubtype="0" fill="hold" grpId="4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610"/>
                            </p:stCondLst>
                            <p:childTnLst>
                              <p:par>
                                <p:cTn id="30" presetID="10" presetClass="entr" presetSubtype="0" fill="hold" grpId="5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1"/>
      <p:bldP spid="8" grpId="2"/>
      <p:bldP spid="9" grpId="3"/>
      <p:bldP spid="10" grpId="4"/>
      <p:bldP spid="11" grpId="5"/>
    </p:bldLst>
  </p:timing>
</p:sld>
</file>

<file path=ppt/slides/slide13.xml><?xml version="1.0" encoding="utf-8"?>
<p:sld xmlns:a="http://schemas.openxmlformats.org/drawingml/2006/main" xmlns:a16="http://schemas.microsoft.com/office/drawing/2014/main" xmlns:r="http://schemas.openxmlformats.org/officeDocument/2006/relationships" xmlns:p14="http://schemas.microsoft.com/office/powerpoint/2010/main" xmlns:p="http://schemas.openxmlformats.org/presentationml/2006/main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!!actor-field-06">
            <a:extLst xmlns:a="http://schemas.openxmlformats.org/drawingml/2006/main">
              <a:ext uri="{FF2B5EF4-FFF2-40B4-BE49-F238E27FC236}">
                <a16:creationId xmlns:a16="http://schemas.microsoft.com/office/drawing/2014/main" id="{589549ED-EFCC-4643-8FF5-CA7CDEE2D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48768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056"/>
          </a:solidFill>
          <a:ln xmlns:a="http://schemas.openxmlformats.org/drawingml/2006/main" w="0">
            <a:noFill/>
          </a:ln>
        </p:spPr>
      </p:sp>
      <p:sp>
        <p:nvSpPr>
          <p:cNvPr id="2" name="!!actor-topic-06">
            <a:extLst xmlns:a="http://schemas.openxmlformats.org/drawingml/2006/main">
              <a:ext uri="{FF2B5EF4-FFF2-40B4-BE49-F238E27FC236}">
                <a16:creationId xmlns:a16="http://schemas.microsoft.com/office/drawing/2014/main" id="{532E58F1-A7D2-420D-AAA6-96CE234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金塘港区LNG加注</a:t>
            </a:r>
          </a:p>
        </p:txBody>
      </p:sp>
      <p:sp>
        <p:nvSpPr>
          <p:cNvPr id="3" name="!!s13-date">
            <a:extLst xmlns:a="http://schemas.openxmlformats.org/drawingml/2006/main">
              <a:ext uri="{FF2B5EF4-FFF2-40B4-BE49-F238E27FC236}">
                <a16:creationId xmlns:a16="http://schemas.microsoft.com/office/drawing/2014/main" id="{D6C8D547-F1EA-4E53-ABF9-E9C01308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657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2026-10-06   演讲者 03</a:t>
            </a:r>
          </a:p>
        </p:txBody>
      </p:sp>
      <p:sp>
        <p:nvSpPr>
          <p:cNvPr id="4" name="!!s13-title">
            <a:extLst xmlns:a="http://schemas.openxmlformats.org/drawingml/2006/main">
              <a:ext uri="{FF2B5EF4-FFF2-40B4-BE49-F238E27FC236}">
                <a16:creationId xmlns:a16="http://schemas.microsoft.com/office/drawing/2014/main" id="{9A62538F-814E-4FA8-AD04-A46A668F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6238875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宁波提气</a:t>
            </a:r>
          </a:p>
          <a:p xmlns:a="http://schemas.openxmlformats.org/drawingml/2006/main">
            <a: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舟山完成加注</a:t>
            </a:r>
          </a:p>
        </p:txBody>
      </p:sp>
      <p:sp>
        <p:nvSpPr>
          <p:cNvPr id="5" name="!!s13-metric">
            <a:extLst xmlns:a="http://schemas.openxmlformats.org/drawingml/2006/main">
              <a:ext uri="{FF2B5EF4-FFF2-40B4-BE49-F238E27FC236}">
                <a16:creationId xmlns:a16="http://schemas.microsoft.com/office/drawing/2014/main" id="{D17BF815-0DB7-47BB-811C-00AC791A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6153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5100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约4000m³</a:t>
            </a:r>
          </a:p>
        </p:txBody>
      </p:sp>
      <p:sp>
        <p:nvSpPr>
          <p:cNvPr id="6" name="!!s13-label">
            <a:extLst xmlns:a="http://schemas.openxmlformats.org/drawingml/2006/main">
              <a:ext uri="{FF2B5EF4-FFF2-40B4-BE49-F238E27FC236}">
                <a16:creationId xmlns:a16="http://schemas.microsoft.com/office/drawing/2014/main" id="{A6EA12D9-6958-47D8-82A5-FC0B551E2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67175"/>
            <a:ext cx="61531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报道所述保税LNG加注量</a:t>
            </a:r>
          </a:p>
        </p:txBody>
      </p:sp>
      <p:sp>
        <p:nvSpPr>
          <p:cNvPr id="7" name="!!s13-fact-0">
            <a:extLst xmlns:a="http://schemas.openxmlformats.org/drawingml/2006/main">
              <a:ext uri="{FF2B5EF4-FFF2-40B4-BE49-F238E27FC236}">
                <a16:creationId xmlns:a16="http://schemas.microsoft.com/office/drawing/2014/main" id="{EF345BA0-EBE7-40EE-BB60-D03A3CFC7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金塘首次开展该项LNG加注业务</a:t>
            </a:r>
          </a:p>
        </p:txBody>
      </p:sp>
      <p:sp>
        <p:nvSpPr>
          <p:cNvPr id="8" name="!!s13-fact-1">
            <a:extLst xmlns:a="http://schemas.openxmlformats.org/drawingml/2006/main">
              <a:ext uri="{FF2B5EF4-FFF2-40B4-BE49-F238E27FC236}">
                <a16:creationId xmlns:a16="http://schemas.microsoft.com/office/drawing/2014/main" id="{5623ECD0-ACC9-4D45-B852-E7836C209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0175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海洋石油302轮为达飞帕米尔轮加注</a:t>
            </a:r>
          </a:p>
        </p:txBody>
      </p:sp>
      <p:sp>
        <p:nvSpPr>
          <p:cNvPr id="9" name="!!s13-fact-2">
            <a:extLst xmlns:a="http://schemas.openxmlformats.org/drawingml/2006/main">
              <a:ext uri="{FF2B5EF4-FFF2-40B4-BE49-F238E27FC236}">
                <a16:creationId xmlns:a16="http://schemas.microsoft.com/office/drawing/2014/main" id="{AEAC295D-BED4-42A2-AFD2-5618BC64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34050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宁波提气，舟山加注</a:t>
            </a:r>
          </a:p>
        </p:txBody>
      </p:sp>
      <p:pic>
        <p:nvPicPr>
          <p:cNvPr id="10" name="!!actor-photo-06">
            <a:extLst xmlns:a="http://schemas.openxmlformats.org/drawingml/2006/main">
              <a:ext uri="{FF2B5EF4-FFF2-40B4-BE49-F238E27FC236}">
                <a16:creationId xmlns:a16="http://schemas.microsoft.com/office/drawing/2014/main" id="{004444C6-91E0-4C75-8326-037FF4020A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79ad3025bc4c31"/>
          <a:stretch xmlns:a="http://schemas.openxmlformats.org/drawingml/2006/main"/>
        </p:blipFill>
        <p:spPr>
          <a:xfrm xmlns:a="http://schemas.openxmlformats.org/drawingml/2006/main">
            <a:off x="7658100" y="1733550"/>
            <a:ext cx="4191000" cy="3143250"/>
          </a:xfrm>
          <a:prstGeom xmlns:a="http://schemas.openxmlformats.org/drawingml/2006/main" prst="rect">
            <a:avLst/>
          </a:prstGeom>
        </p:spPr>
      </p:pic>
      <p:sp>
        <p:nvSpPr>
          <p:cNvPr id="11" name="!!s13-caption">
            <a:extLst xmlns:a="http://schemas.openxmlformats.org/drawingml/2006/main">
              <a:ext uri="{FF2B5EF4-FFF2-40B4-BE49-F238E27FC236}">
                <a16:creationId xmlns:a16="http://schemas.microsoft.com/office/drawing/2014/main" id="{743F1D8D-54C9-432D-9100-D11D67046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2445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原报道配图</a:t>
            </a:r>
          </a:p>
        </p:txBody>
      </p:sp>
      <p:sp>
        <p:nvSpPr>
          <p:cNvPr id="12" name="!!s13-section">
            <a:extLst xmlns:a="http://schemas.openxmlformats.org/drawingml/2006/main">
              <a:ext uri="{FF2B5EF4-FFF2-40B4-BE49-F238E27FC236}">
                <a16:creationId xmlns:a16="http://schemas.microsoft.com/office/drawing/2014/main" id="{D6C687BD-5E82-4240-B3C5-441F00B0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7340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pPr>
            <a:r>
              <a:rPr sz="3450" b="1">
                <a:solidFill>
                  <a:srgbClr val="F3E7CD"/>
                </a:solidFill>
                <a:latin typeface="SimSun"/>
                <a:ea typeface="SimSun"/>
                <a:cs typeface="SimSun"/>
              </a:rPr>
              <a:t>06</a:t>
            </a:r>
          </a:p>
        </p:txBody>
      </p:sp>
      <p:sp>
        <p:nvSpPr>
          <p:cNvPr id="13" name="!!s13-footer">
            <a:extLst xmlns:a="http://schemas.openxmlformats.org/drawingml/2006/main">
              <a:ext uri="{FF2B5EF4-FFF2-40B4-BE49-F238E27FC236}">
                <a16:creationId xmlns:a16="http://schemas.microsoft.com/office/drawing/2014/main" id="{F71EDC29-E966-4843-9F8C-AEB11A5A6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10096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[06] 中国交通报 中国交通新闻网  2026-10-06</a:t>
            </a:r>
          </a:p>
        </p:txBody>
      </p:sp>
      <p:sp>
        <p:nvSpPr>
          <p:cNvPr id="14" name="!!s13-page">
            <a:extLst xmlns:a="http://schemas.openxmlformats.org/drawingml/2006/main">
              <a:ext uri="{FF2B5EF4-FFF2-40B4-BE49-F238E27FC236}">
                <a16:creationId xmlns:a16="http://schemas.microsoft.com/office/drawing/2014/main" id="{73A7479A-4AF9-4A41-BDB1-222E65A2D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13 / 26</a:t>
            </a:r>
          </a:p>
        </p:txBody>
      </p:sp>
    </p:spTree>
    <p:extLst>
      <p:ext uri="{BB962C8B-B14F-4D97-AF65-F5344CB8AC3E}">
        <p14:creationId xmlns:p14="http://schemas.microsoft.com/office/powerpoint/2010/main" val="1902188538"/>
      </p:ext>
    </p:extLst>
  </p:cSld>
  <p:transition p14: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" presetClass="entr" presetSubtype="1" accel="5000" decel="65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6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1" presetClass="entr" presetSubtype="0" accel="5000" decel="6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 zoomContents="1">
                                      <p:cBhvr>
                                        <p:cTn id="12" dur="540" fill="hold"/>
                                        <p:tgtEl>
                                          <p:spTgt spid="5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50"/>
                            </p:stCondLst>
                            <p:childTnLst>
                              <p:par>
                                <p:cTn id="15" presetID="10" presetClass="entr" presetSubtype="0" accel="5000" decel="65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accel="5000" decel="65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70"/>
                            </p:stCondLst>
                            <p:childTnLst>
                              <p:par>
                                <p:cTn id="25" presetID="10" presetClass="entr" presetSubtype="0" accel="5000" decel="65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90"/>
                            </p:stCondLst>
                            <p:childTnLst>
                              <p:par>
                                <p:cTn id="30" presetID="10" presetClass="entr" presetSubtype="0" accel="5000" decel="6500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80"/>
                            </p:stCondLst>
                            <p:childTnLst>
                              <p:par>
                                <p:cTn id="35" presetID="20" presetClass="entr" presetSubtype="2" accel="5000" decel="65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1"/>
      <p:bldP spid="6" grpId="2"/>
      <p:bldP spid="7" grpId="3"/>
      <p:bldP spid="8" grpId="4"/>
      <p:bldP spid="9" grpId="5"/>
      <p:bldP spid="11" grpId="6"/>
    </p:bldLst>
  </p:timing>
</p:sld>
</file>

<file path=ppt/slides/slide14.xml><?xml version="1.0" encoding="utf-8"?>
<p:sld xmlns:a="http://schemas.openxmlformats.org/drawingml/2006/main" xmlns:a16="http://schemas.microsoft.com/office/drawing/2014/main" xmlns:r="http://schemas.openxmlformats.org/officeDocument/2006/relationships" xmlns:p="http://schemas.openxmlformats.org/presentationml/2006/main" xmlns:p159="http://schemas.microsoft.com/office/powerpoint/2015/09/main" xmlns:mc="http://schemas.openxmlformats.org/markup-compatibility/2006" xmlns:p14="http://schemas.microsoft.com/office/powerpoint/2010/main" mc:Ignorable="p159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!!actor-field-06">
            <a:extLst xmlns:a="http://schemas.openxmlformats.org/drawingml/2006/main">
              <a:ext uri="{FF2B5EF4-FFF2-40B4-BE49-F238E27FC236}">
                <a16:creationId xmlns:a16="http://schemas.microsoft.com/office/drawing/2014/main" id="{FB53D6D6-5B93-48F3-93AD-3D6CB4C0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629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056"/>
          </a:solidFill>
          <a:ln xmlns:a="http://schemas.openxmlformats.org/drawingml/2006/main" w="0">
            <a:noFill/>
          </a:ln>
        </p:spPr>
      </p:sp>
      <p:pic>
        <p:nvPicPr>
          <p:cNvPr id="2" name="!!actor-photo-06">
            <a:extLst xmlns:a="http://schemas.openxmlformats.org/drawingml/2006/main">
              <a:ext uri="{FF2B5EF4-FFF2-40B4-BE49-F238E27FC236}">
                <a16:creationId xmlns:a16="http://schemas.microsoft.com/office/drawing/2014/main" id="{3C526555-45F5-4705-B58B-830FD3DD15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ce5d74c9574f63"/>
          <a:stretch xmlns:a="http://schemas.openxmlformats.org/drawingml/2006/main"/>
        </p:blipFill>
        <p:spPr>
          <a:xfrm xmlns:a="http://schemas.openxmlformats.org/drawingml/2006/main">
            <a:off x="381000" y="2007394"/>
            <a:ext cx="3867150" cy="2900363"/>
          </a:xfrm>
          <a:prstGeom xmlns:a="http://schemas.openxmlformats.org/drawingml/2006/main" prst="rect">
            <a:avLst/>
          </a:prstGeom>
        </p:spPr>
      </p:pic>
      <p:sp>
        <p:nvSpPr>
          <p:cNvPr id="3" name="!!s14-caption">
            <a:extLst xmlns:a="http://schemas.openxmlformats.org/drawingml/2006/main">
              <a:ext uri="{FF2B5EF4-FFF2-40B4-BE49-F238E27FC236}">
                <a16:creationId xmlns:a16="http://schemas.microsoft.com/office/drawing/2014/main" id="{AAD1C261-2F65-4CDE-802E-DCB6E2ABA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95875"/>
            <a:ext cx="3867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原报道配图</a:t>
            </a:r>
          </a:p>
        </p:txBody>
      </p:sp>
      <p:sp>
        <p:nvSpPr>
          <p:cNvPr id="4" name="!!s14-section">
            <a:extLst xmlns:a="http://schemas.openxmlformats.org/drawingml/2006/main">
              <a:ext uri="{FF2B5EF4-FFF2-40B4-BE49-F238E27FC236}">
                <a16:creationId xmlns:a16="http://schemas.microsoft.com/office/drawing/2014/main" id="{2C11BC61-22C1-412F-A79E-79A287DF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4825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40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5400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pPr>
            <a:r>
              <a:rPr sz="5400" b="1">
                <a:solidFill>
                  <a:srgbClr val="F3E7CD"/>
                </a:solidFill>
                <a:latin typeface="SimSun"/>
                <a:ea typeface="SimSun"/>
                <a:cs typeface="SimSun"/>
              </a:rPr>
              <a:t>06</a:t>
            </a:r>
          </a:p>
        </p:txBody>
      </p:sp>
      <p:sp>
        <p:nvSpPr>
          <p:cNvPr id="5" name="!!actor-topic-06">
            <a:extLst xmlns:a="http://schemas.openxmlformats.org/drawingml/2006/main">
              <a:ext uri="{FF2B5EF4-FFF2-40B4-BE49-F238E27FC236}">
                <a16:creationId xmlns:a16="http://schemas.microsoft.com/office/drawing/2014/main" id="{BF0D72A9-A471-430E-A865-2E6FC3FB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66725"/>
            <a:ext cx="638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金塘港区LNG加注</a:t>
            </a:r>
          </a:p>
        </p:txBody>
      </p:sp>
      <p:sp>
        <p:nvSpPr>
          <p:cNvPr id="6" name="!!s14-tag">
            <a:extLst xmlns:a="http://schemas.openxmlformats.org/drawingml/2006/main">
              <a:ext uri="{FF2B5EF4-FFF2-40B4-BE49-F238E27FC236}">
                <a16:creationId xmlns:a16="http://schemas.microsoft.com/office/drawing/2014/main" id="{EDBD0592-4DC2-4F72-9B97-29E01C20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114425"/>
            <a:ext cx="595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法治观察</a:t>
            </a:r>
          </a:p>
        </p:txBody>
      </p:sp>
      <p:sp>
        <p:nvSpPr>
          <p:cNvPr id="7" name="!!s14-question">
            <a:extLst xmlns:a="http://schemas.openxmlformats.org/drawingml/2006/main">
              <a:ext uri="{FF2B5EF4-FFF2-40B4-BE49-F238E27FC236}">
                <a16:creationId xmlns:a16="http://schemas.microsoft.com/office/drawing/2014/main" id="{F5836526-7208-4155-9E6F-BAEE55B39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685925"/>
            <a:ext cx="6334125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绿色燃料服务</a:t>
            </a:r>
          </a:p>
          <a:p xmlns:a="http://schemas.openxmlformats.org/drawingml/2006/main">
            <a: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需要哪些规则配合？</a:t>
            </a:r>
          </a:p>
        </p:txBody>
      </p:sp>
      <p:sp>
        <p:nvSpPr>
          <p:cNvPr id="8" name="!!s14-rule">
            <a:extLst xmlns:a="http://schemas.openxmlformats.org/drawingml/2006/main">
              <a:ext uri="{FF2B5EF4-FFF2-40B4-BE49-F238E27FC236}">
                <a16:creationId xmlns:a16="http://schemas.microsoft.com/office/drawing/2014/main" id="{A3645059-9B3A-4635-B775-E2E02C455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14700"/>
            <a:ext cx="1066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D32"/>
          </a:solidFill>
          <a:ln xmlns:a="http://schemas.openxmlformats.org/drawingml/2006/main" w="0">
            <a:noFill/>
          </a:ln>
        </p:spPr>
      </p:sp>
      <p:sp>
        <p:nvSpPr>
          <p:cNvPr id="9" name="!!s14-analysis-0">
            <a:extLst xmlns:a="http://schemas.openxmlformats.org/drawingml/2006/main">
              <a:ext uri="{FF2B5EF4-FFF2-40B4-BE49-F238E27FC236}">
                <a16:creationId xmlns:a16="http://schemas.microsoft.com/office/drawing/2014/main" id="{5925FD42-2FB1-4713-A547-A0C0A1B88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33800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通关、加注与通航程序需衔接</a:t>
            </a:r>
          </a:p>
        </p:txBody>
      </p:sp>
      <p:sp>
        <p:nvSpPr>
          <p:cNvPr id="10" name="!!s14-analysis-1">
            <a:extLst xmlns:a="http://schemas.openxmlformats.org/drawingml/2006/main">
              <a:ext uri="{FF2B5EF4-FFF2-40B4-BE49-F238E27FC236}">
                <a16:creationId xmlns:a16="http://schemas.microsoft.com/office/drawing/2014/main" id="{6411E9AC-9352-4887-AA8F-B1CCD79BD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505325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危险作业应落实安全标准</a:t>
            </a:r>
          </a:p>
        </p:txBody>
      </p:sp>
      <p:sp>
        <p:nvSpPr>
          <p:cNvPr id="11" name="!!s14-analysis-2">
            <a:extLst xmlns:a="http://schemas.openxmlformats.org/drawingml/2006/main">
              <a:ext uri="{FF2B5EF4-FFF2-40B4-BE49-F238E27FC236}">
                <a16:creationId xmlns:a16="http://schemas.microsoft.com/office/drawing/2014/main" id="{78F9CDEC-5F1D-42F1-9E26-2B7C4B0A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276850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气候效益须评估全生命周期</a:t>
            </a:r>
          </a:p>
        </p:txBody>
      </p:sp>
      <p:sp>
        <p:nvSpPr>
          <p:cNvPr id="12" name="!!s14-footer">
            <a:extLst xmlns:a="http://schemas.openxmlformats.org/drawingml/2006/main">
              <a:ext uri="{FF2B5EF4-FFF2-40B4-BE49-F238E27FC236}">
                <a16:creationId xmlns:a16="http://schemas.microsoft.com/office/drawing/2014/main" id="{10D39D58-F635-4F21-B1C8-CE9F50FEA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467475"/>
            <a:ext cx="38671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2026年10月6日至12日</a:t>
            </a:r>
          </a:p>
        </p:txBody>
      </p:sp>
      <p:sp>
        <p:nvSpPr>
          <p:cNvPr id="13" name="!!s14-footer-paper">
            <a:extLst xmlns:a="http://schemas.openxmlformats.org/drawingml/2006/main">
              <a:ext uri="{FF2B5EF4-FFF2-40B4-BE49-F238E27FC236}">
                <a16:creationId xmlns:a16="http://schemas.microsoft.com/office/drawing/2014/main" id="{8BBFD696-969C-4885-831F-299E73B19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6467475"/>
            <a:ext cx="571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本组法治观察  事实来源见前页</a:t>
            </a:r>
          </a:p>
        </p:txBody>
      </p:sp>
      <p:sp>
        <p:nvSpPr>
          <p:cNvPr id="14" name="!!s14-page-paper">
            <a:extLst xmlns:a="http://schemas.openxmlformats.org/drawingml/2006/main">
              <a:ext uri="{FF2B5EF4-FFF2-40B4-BE49-F238E27FC236}">
                <a16:creationId xmlns:a16="http://schemas.microsoft.com/office/drawing/2014/main" id="{EC28A2D0-6127-471A-883F-9EB8AA1E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14 / 26</a:t>
            </a:r>
          </a:p>
        </p:txBody>
      </p:sp>
    </p:spTree>
    <p:extLst>
      <p:ext uri="{BB962C8B-B14F-4D97-AF65-F5344CB8AC3E}">
        <p14:creationId xmlns:p14="http://schemas.microsoft.com/office/powerpoint/2010/main" val="1400939417"/>
      </p:ext>
    </p:extLst>
  </p:cSld>
  <mc:AlternateContent>
    <mc:Choice Requires="p159">
      <p:transition xmlns:p159="http://schemas.microsoft.com/office/powerpoint/2015/09/main" p14:dur="11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90"/>
                            </p:stCondLst>
                            <p:childTnLst>
                              <p:par>
                                <p:cTn id="3" presetID="10" presetClass="entr" presetSubtype="0" fill="hold" grpId="0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"/>
                            </p:stCondLst>
                            <p:childTnLst>
                              <p:par>
                                <p:cTn id="9" presetID="2" presetClass="entr" presetSubtype="1" fill="hold" grpId="1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30"/>
                            </p:stCondLst>
                            <p:childTnLst>
                              <p:par>
                                <p:cTn id="15" presetID="20" presetClass="entr" presetSubtype="2" fill="hold" grpId="2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fill="hold" grpId="3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80"/>
                            </p:stCondLst>
                            <p:childTnLst>
                              <p:par>
                                <p:cTn id="25" presetID="10" presetClass="entr" presetSubtype="0" fill="hold" grpId="4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610"/>
                            </p:stCondLst>
                            <p:childTnLst>
                              <p:par>
                                <p:cTn id="30" presetID="10" presetClass="entr" presetSubtype="0" fill="hold" grpId="5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1"/>
      <p:bldP spid="8" grpId="2"/>
      <p:bldP spid="9" grpId="3"/>
      <p:bldP spid="10" grpId="4"/>
      <p:bldP spid="11" grpId="5"/>
    </p:bldLst>
  </p:timing>
</p:sld>
</file>

<file path=ppt/slides/slide15.xml><?xml version="1.0" encoding="utf-8"?>
<p:sld xmlns:a="http://schemas.openxmlformats.org/drawingml/2006/main" xmlns:a16="http://schemas.microsoft.com/office/drawing/2014/main" xmlns:r="http://schemas.openxmlformats.org/officeDocument/2006/relationships" xmlns:p14="http://schemas.microsoft.com/office/powerpoint/2010/main" xmlns:p="http://schemas.openxmlformats.org/presentationml/2006/main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!!actor-field-07">
            <a:extLst xmlns:a="http://schemas.openxmlformats.org/drawingml/2006/main">
              <a:ext uri="{FF2B5EF4-FFF2-40B4-BE49-F238E27FC236}">
                <a16:creationId xmlns:a16="http://schemas.microsoft.com/office/drawing/2014/main" id="{CF7C4722-DBD0-4C03-A72C-4AD655A8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48768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C47"/>
          </a:solidFill>
          <a:ln xmlns:a="http://schemas.openxmlformats.org/drawingml/2006/main" w="0">
            <a:noFill/>
          </a:ln>
        </p:spPr>
      </p:sp>
      <p:sp>
        <p:nvSpPr>
          <p:cNvPr id="2" name="!!actor-topic-07">
            <a:extLst xmlns:a="http://schemas.openxmlformats.org/drawingml/2006/main">
              <a:ext uri="{FF2B5EF4-FFF2-40B4-BE49-F238E27FC236}">
                <a16:creationId xmlns:a16="http://schemas.microsoft.com/office/drawing/2014/main" id="{DAB4826D-D927-45BF-A9CB-A8E53DEE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海洋地球工程研究框架</a:t>
            </a:r>
          </a:p>
        </p:txBody>
      </p:sp>
      <p:sp>
        <p:nvSpPr>
          <p:cNvPr id="3" name="!!s15-date">
            <a:extLst xmlns:a="http://schemas.openxmlformats.org/drawingml/2006/main">
              <a:ext uri="{FF2B5EF4-FFF2-40B4-BE49-F238E27FC236}">
                <a16:creationId xmlns:a16="http://schemas.microsoft.com/office/drawing/2014/main" id="{533BBE05-9EC4-47B9-B5CA-235D961A1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657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2026-10-09   演讲者 04</a:t>
            </a:r>
          </a:p>
        </p:txBody>
      </p:sp>
      <p:sp>
        <p:nvSpPr>
          <p:cNvPr id="4" name="!!s15-title">
            <a:extLst xmlns:a="http://schemas.openxmlformats.org/drawingml/2006/main">
              <a:ext uri="{FF2B5EF4-FFF2-40B4-BE49-F238E27FC236}">
                <a16:creationId xmlns:a16="http://schemas.microsoft.com/office/drawing/2014/main" id="{F35CC20E-A94F-453C-A40E-A4C4694AE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6238875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IMO为海洋研究</a:t>
            </a:r>
          </a:p>
          <a:p xmlns:a="http://schemas.openxmlformats.org/drawingml/2006/main">
            <a: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提出评估工具</a:t>
            </a:r>
          </a:p>
        </p:txBody>
      </p:sp>
      <p:sp>
        <p:nvSpPr>
          <p:cNvPr id="5" name="!!s15-metric">
            <a:extLst xmlns:a="http://schemas.openxmlformats.org/drawingml/2006/main">
              <a:ext uri="{FF2B5EF4-FFF2-40B4-BE49-F238E27FC236}">
                <a16:creationId xmlns:a16="http://schemas.microsoft.com/office/drawing/2014/main" id="{3547C52A-543F-41F0-88C9-E24EABA8C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6153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3类</a:t>
            </a:r>
          </a:p>
        </p:txBody>
      </p:sp>
      <p:sp>
        <p:nvSpPr>
          <p:cNvPr id="6" name="!!s15-label">
            <a:extLst xmlns:a="http://schemas.openxmlformats.org/drawingml/2006/main">
              <a:ext uri="{FF2B5EF4-FFF2-40B4-BE49-F238E27FC236}">
                <a16:creationId xmlns:a16="http://schemas.microsoft.com/office/drawing/2014/main" id="{A2CC2CF8-D870-423D-AA65-4968A8AA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67175"/>
            <a:ext cx="61531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海洋地球工程研究方法</a:t>
            </a:r>
          </a:p>
        </p:txBody>
      </p:sp>
      <p:sp>
        <p:nvSpPr>
          <p:cNvPr id="7" name="!!s15-fact-0">
            <a:extLst xmlns:a="http://schemas.openxmlformats.org/drawingml/2006/main">
              <a:ext uri="{FF2B5EF4-FFF2-40B4-BE49-F238E27FC236}">
                <a16:creationId xmlns:a16="http://schemas.microsoft.com/office/drawing/2014/main" id="{CBAFC6D0-0B3C-447A-87CA-8AE21EEFD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缔约方会议于10月5至9日举行</a:t>
            </a:r>
          </a:p>
        </p:txBody>
      </p:sp>
      <p:sp>
        <p:nvSpPr>
          <p:cNvPr id="8" name="!!s15-fact-1">
            <a:extLst xmlns:a="http://schemas.openxmlformats.org/drawingml/2006/main">
              <a:ext uri="{FF2B5EF4-FFF2-40B4-BE49-F238E27FC236}">
                <a16:creationId xmlns:a16="http://schemas.microsoft.com/office/drawing/2014/main" id="{8AEB4FB0-6035-4E1B-8A8A-673AE571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0175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涉及施肥、增碱、生物质沉降研究</a:t>
            </a:r>
          </a:p>
        </p:txBody>
      </p:sp>
      <p:sp>
        <p:nvSpPr>
          <p:cNvPr id="9" name="!!s15-fact-2">
            <a:extLst xmlns:a="http://schemas.openxmlformats.org/drawingml/2006/main">
              <a:ext uri="{FF2B5EF4-FFF2-40B4-BE49-F238E27FC236}">
                <a16:creationId xmlns:a16="http://schemas.microsoft.com/office/drawing/2014/main" id="{ADD0AB13-0B28-4843-A81C-1F7C95909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34050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要求评估、协商、监测和透明报告</a:t>
            </a:r>
          </a:p>
        </p:txBody>
      </p:sp>
      <p:pic>
        <p:nvPicPr>
          <p:cNvPr id="10" name="!!actor-photo-07">
            <a:extLst xmlns:a="http://schemas.openxmlformats.org/drawingml/2006/main">
              <a:ext uri="{FF2B5EF4-FFF2-40B4-BE49-F238E27FC236}">
                <a16:creationId xmlns:a16="http://schemas.microsoft.com/office/drawing/2014/main" id="{9DABABE9-9EF9-4471-9AB3-F9A7F3847A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02278f53be431a"/>
          <a:stretch xmlns:a="http://schemas.openxmlformats.org/drawingml/2006/main"/>
        </p:blipFill>
        <p:spPr>
          <a:xfrm xmlns:a="http://schemas.openxmlformats.org/drawingml/2006/main">
            <a:off x="7658100" y="2292350"/>
            <a:ext cx="4191000" cy="2025650"/>
          </a:xfrm>
          <a:prstGeom xmlns:a="http://schemas.openxmlformats.org/drawingml/2006/main" prst="rect">
            <a:avLst/>
          </a:prstGeom>
        </p:spPr>
      </p:pic>
      <p:sp>
        <p:nvSpPr>
          <p:cNvPr id="11" name="!!s15-caption">
            <a:extLst xmlns:a="http://schemas.openxmlformats.org/drawingml/2006/main">
              <a:ext uri="{FF2B5EF4-FFF2-40B4-BE49-F238E27FC236}">
                <a16:creationId xmlns:a16="http://schemas.microsoft.com/office/drawing/2014/main" id="{C77BB4AF-23C3-413A-9B54-DFB078BA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2445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原报道配图</a:t>
            </a:r>
          </a:p>
        </p:txBody>
      </p:sp>
      <p:sp>
        <p:nvSpPr>
          <p:cNvPr id="12" name="!!s15-section">
            <a:extLst xmlns:a="http://schemas.openxmlformats.org/drawingml/2006/main">
              <a:ext uri="{FF2B5EF4-FFF2-40B4-BE49-F238E27FC236}">
                <a16:creationId xmlns:a16="http://schemas.microsoft.com/office/drawing/2014/main" id="{698B89EB-A8D4-41DF-8270-215FC1920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7340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345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07</a:t>
            </a:r>
          </a:p>
        </p:txBody>
      </p:sp>
      <p:sp>
        <p:nvSpPr>
          <p:cNvPr id="13" name="!!s15-footer">
            <a:extLst xmlns:a="http://schemas.openxmlformats.org/drawingml/2006/main">
              <a:ext uri="{FF2B5EF4-FFF2-40B4-BE49-F238E27FC236}">
                <a16:creationId xmlns:a16="http://schemas.microsoft.com/office/drawing/2014/main" id="{2F4E91DE-2F82-45C1-803A-D309F8EC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10096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[07] 国际海事组织 IMO  2026-10-09</a:t>
            </a:r>
          </a:p>
        </p:txBody>
      </p:sp>
      <p:sp>
        <p:nvSpPr>
          <p:cNvPr id="14" name="!!s15-page">
            <a:extLst xmlns:a="http://schemas.openxmlformats.org/drawingml/2006/main">
              <a:ext uri="{FF2B5EF4-FFF2-40B4-BE49-F238E27FC236}">
                <a16:creationId xmlns:a16="http://schemas.microsoft.com/office/drawing/2014/main" id="{370EDAE5-60E5-4D69-B8AA-37E02CC8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15 / 26</a:t>
            </a:r>
          </a:p>
        </p:txBody>
      </p:sp>
    </p:spTree>
    <p:extLst>
      <p:ext uri="{BB962C8B-B14F-4D97-AF65-F5344CB8AC3E}">
        <p14:creationId xmlns:p14="http://schemas.microsoft.com/office/powerpoint/2010/main" val="327506274"/>
      </p:ext>
    </p:extLst>
  </p:cSld>
  <p:transition p14: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" presetClass="entr" presetSubtype="1" accel="5000" decel="65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6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1" presetClass="entr" presetSubtype="0" accel="5000" decel="6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 zoomContents="1">
                                      <p:cBhvr>
                                        <p:cTn id="12" dur="540" fill="hold"/>
                                        <p:tgtEl>
                                          <p:spTgt spid="5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50"/>
                            </p:stCondLst>
                            <p:childTnLst>
                              <p:par>
                                <p:cTn id="15" presetID="10" presetClass="entr" presetSubtype="0" accel="5000" decel="65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accel="5000" decel="65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70"/>
                            </p:stCondLst>
                            <p:childTnLst>
                              <p:par>
                                <p:cTn id="25" presetID="10" presetClass="entr" presetSubtype="0" accel="5000" decel="65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90"/>
                            </p:stCondLst>
                            <p:childTnLst>
                              <p:par>
                                <p:cTn id="30" presetID="10" presetClass="entr" presetSubtype="0" accel="5000" decel="6500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80"/>
                            </p:stCondLst>
                            <p:childTnLst>
                              <p:par>
                                <p:cTn id="35" presetID="20" presetClass="entr" presetSubtype="2" accel="5000" decel="65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1"/>
      <p:bldP spid="6" grpId="2"/>
      <p:bldP spid="7" grpId="3"/>
      <p:bldP spid="8" grpId="4"/>
      <p:bldP spid="9" grpId="5"/>
      <p:bldP spid="11" grpId="6"/>
    </p:bldLst>
  </p:timing>
</p:sld>
</file>

<file path=ppt/slides/slide16.xml><?xml version="1.0" encoding="utf-8"?>
<p:sld xmlns:a="http://schemas.openxmlformats.org/drawingml/2006/main" xmlns:a16="http://schemas.microsoft.com/office/drawing/2014/main" xmlns:r="http://schemas.openxmlformats.org/officeDocument/2006/relationships" xmlns:p="http://schemas.openxmlformats.org/presentationml/2006/main" xmlns:p159="http://schemas.microsoft.com/office/powerpoint/2015/09/main" xmlns:mc="http://schemas.openxmlformats.org/markup-compatibility/2006" xmlns:p14="http://schemas.microsoft.com/office/powerpoint/2010/main" mc:Ignorable="p159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!!actor-field-07">
            <a:extLst xmlns:a="http://schemas.openxmlformats.org/drawingml/2006/main">
              <a:ext uri="{FF2B5EF4-FFF2-40B4-BE49-F238E27FC236}">
                <a16:creationId xmlns:a16="http://schemas.microsoft.com/office/drawing/2014/main" id="{B2F8B333-8AF7-4EEA-BB98-DC2224FC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629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C47"/>
          </a:solidFill>
          <a:ln xmlns:a="http://schemas.openxmlformats.org/drawingml/2006/main" w="0">
            <a:noFill/>
          </a:ln>
        </p:spPr>
      </p:sp>
      <p:pic>
        <p:nvPicPr>
          <p:cNvPr id="2" name="!!actor-photo-07">
            <a:extLst xmlns:a="http://schemas.openxmlformats.org/drawingml/2006/main">
              <a:ext uri="{FF2B5EF4-FFF2-40B4-BE49-F238E27FC236}">
                <a16:creationId xmlns:a16="http://schemas.microsoft.com/office/drawing/2014/main" id="{71C7DE05-5CE2-4E0C-93E3-66E4720B67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7782b3e5594f20"/>
          <a:stretch xmlns:a="http://schemas.openxmlformats.org/drawingml/2006/main"/>
        </p:blipFill>
        <p:spPr>
          <a:xfrm xmlns:a="http://schemas.openxmlformats.org/drawingml/2006/main">
            <a:off x="381000" y="2523014"/>
            <a:ext cx="3867150" cy="1869122"/>
          </a:xfrm>
          <a:prstGeom xmlns:a="http://schemas.openxmlformats.org/drawingml/2006/main" prst="rect">
            <a:avLst/>
          </a:prstGeom>
        </p:spPr>
      </p:pic>
      <p:sp>
        <p:nvSpPr>
          <p:cNvPr id="3" name="!!s16-caption">
            <a:extLst xmlns:a="http://schemas.openxmlformats.org/drawingml/2006/main">
              <a:ext uri="{FF2B5EF4-FFF2-40B4-BE49-F238E27FC236}">
                <a16:creationId xmlns:a16="http://schemas.microsoft.com/office/drawing/2014/main" id="{78F0CAF1-A194-45E7-B148-A20733D8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95875"/>
            <a:ext cx="3867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原报道配图</a:t>
            </a:r>
          </a:p>
        </p:txBody>
      </p:sp>
      <p:sp>
        <p:nvSpPr>
          <p:cNvPr id="4" name="!!s16-section">
            <a:extLst xmlns:a="http://schemas.openxmlformats.org/drawingml/2006/main">
              <a:ext uri="{FF2B5EF4-FFF2-40B4-BE49-F238E27FC236}">
                <a16:creationId xmlns:a16="http://schemas.microsoft.com/office/drawing/2014/main" id="{44260EBC-530D-4D57-8F8A-E861953BA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4825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4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54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54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07</a:t>
            </a:r>
          </a:p>
        </p:txBody>
      </p:sp>
      <p:sp>
        <p:nvSpPr>
          <p:cNvPr id="5" name="!!actor-topic-07">
            <a:extLst xmlns:a="http://schemas.openxmlformats.org/drawingml/2006/main">
              <a:ext uri="{FF2B5EF4-FFF2-40B4-BE49-F238E27FC236}">
                <a16:creationId xmlns:a16="http://schemas.microsoft.com/office/drawing/2014/main" id="{8AF583CA-D05F-4C2A-B156-A3A7C2E4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66725"/>
            <a:ext cx="638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海洋地球工程研究框架</a:t>
            </a:r>
          </a:p>
        </p:txBody>
      </p:sp>
      <p:sp>
        <p:nvSpPr>
          <p:cNvPr id="6" name="!!s16-tag">
            <a:extLst xmlns:a="http://schemas.openxmlformats.org/drawingml/2006/main">
              <a:ext uri="{FF2B5EF4-FFF2-40B4-BE49-F238E27FC236}">
                <a16:creationId xmlns:a16="http://schemas.microsoft.com/office/drawing/2014/main" id="{22805D67-42D5-4FA5-8473-11ADB86A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114425"/>
            <a:ext cx="595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法治观察</a:t>
            </a:r>
          </a:p>
        </p:txBody>
      </p:sp>
      <p:sp>
        <p:nvSpPr>
          <p:cNvPr id="7" name="!!s16-question">
            <a:extLst xmlns:a="http://schemas.openxmlformats.org/drawingml/2006/main">
              <a:ext uri="{FF2B5EF4-FFF2-40B4-BE49-F238E27FC236}">
                <a16:creationId xmlns:a16="http://schemas.microsoft.com/office/drawing/2014/main" id="{05DD94C7-DDCF-4B93-92E2-81B31B5AD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685925"/>
            <a:ext cx="6334125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吸收更多碳之前</a:t>
            </a:r>
          </a:p>
          <a:p xmlns:a="http://schemas.openxmlformats.org/drawingml/2006/main">
            <a: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怎样守住生态底线？</a:t>
            </a:r>
          </a:p>
        </p:txBody>
      </p:sp>
      <p:sp>
        <p:nvSpPr>
          <p:cNvPr id="8" name="!!s16-rule">
            <a:extLst xmlns:a="http://schemas.openxmlformats.org/drawingml/2006/main">
              <a:ext uri="{FF2B5EF4-FFF2-40B4-BE49-F238E27FC236}">
                <a16:creationId xmlns:a16="http://schemas.microsoft.com/office/drawing/2014/main" id="{67A32AB6-5101-4CC4-8C40-F4672F2B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14700"/>
            <a:ext cx="1066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D32"/>
          </a:solidFill>
          <a:ln xmlns:a="http://schemas.openxmlformats.org/drawingml/2006/main" w="0">
            <a:noFill/>
          </a:ln>
        </p:spPr>
      </p:sp>
      <p:sp>
        <p:nvSpPr>
          <p:cNvPr id="9" name="!!s16-analysis-0">
            <a:extLst xmlns:a="http://schemas.openxmlformats.org/drawingml/2006/main">
              <a:ext uri="{FF2B5EF4-FFF2-40B4-BE49-F238E27FC236}">
                <a16:creationId xmlns:a16="http://schemas.microsoft.com/office/drawing/2014/main" id="{FFBA3D5F-25E1-4AF9-9673-393335CF9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33800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研究活动应逐案审查</a:t>
            </a:r>
          </a:p>
        </p:txBody>
      </p:sp>
      <p:sp>
        <p:nvSpPr>
          <p:cNvPr id="10" name="!!s16-analysis-1">
            <a:extLst xmlns:a="http://schemas.openxmlformats.org/drawingml/2006/main">
              <a:ext uri="{FF2B5EF4-FFF2-40B4-BE49-F238E27FC236}">
                <a16:creationId xmlns:a16="http://schemas.microsoft.com/office/drawing/2014/main" id="{8935133B-B9A0-497D-8A66-EF1ACB34E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505325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研究框架不等于商业化许可</a:t>
            </a:r>
          </a:p>
        </p:txBody>
      </p:sp>
      <p:sp>
        <p:nvSpPr>
          <p:cNvPr id="11" name="!!s16-analysis-2">
            <a:extLst xmlns:a="http://schemas.openxmlformats.org/drawingml/2006/main">
              <a:ext uri="{FF2B5EF4-FFF2-40B4-BE49-F238E27FC236}">
                <a16:creationId xmlns:a16="http://schemas.microsoft.com/office/drawing/2014/main" id="{FB291DF2-8563-411E-832F-F68D5D55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276850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生态风险需要持续监督</a:t>
            </a:r>
          </a:p>
        </p:txBody>
      </p:sp>
      <p:sp>
        <p:nvSpPr>
          <p:cNvPr id="12" name="!!s16-footer">
            <a:extLst xmlns:a="http://schemas.openxmlformats.org/drawingml/2006/main">
              <a:ext uri="{FF2B5EF4-FFF2-40B4-BE49-F238E27FC236}">
                <a16:creationId xmlns:a16="http://schemas.microsoft.com/office/drawing/2014/main" id="{F585BA79-3B6E-4F54-AB45-BE63582B9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467475"/>
            <a:ext cx="38671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2026年10月6日至12日</a:t>
            </a:r>
          </a:p>
        </p:txBody>
      </p:sp>
      <p:sp>
        <p:nvSpPr>
          <p:cNvPr id="13" name="!!s16-footer-paper">
            <a:extLst xmlns:a="http://schemas.openxmlformats.org/drawingml/2006/main">
              <a:ext uri="{FF2B5EF4-FFF2-40B4-BE49-F238E27FC236}">
                <a16:creationId xmlns:a16="http://schemas.microsoft.com/office/drawing/2014/main" id="{06E693E7-EBF5-4F24-9E6B-853B048E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6467475"/>
            <a:ext cx="571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本组法治观察  事实来源见前页</a:t>
            </a:r>
          </a:p>
        </p:txBody>
      </p:sp>
      <p:sp>
        <p:nvSpPr>
          <p:cNvPr id="14" name="!!s16-page-paper">
            <a:extLst xmlns:a="http://schemas.openxmlformats.org/drawingml/2006/main">
              <a:ext uri="{FF2B5EF4-FFF2-40B4-BE49-F238E27FC236}">
                <a16:creationId xmlns:a16="http://schemas.microsoft.com/office/drawing/2014/main" id="{18B495CA-D179-4D35-BCC1-2C444999D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16 / 26</a:t>
            </a:r>
          </a:p>
        </p:txBody>
      </p:sp>
    </p:spTree>
    <p:extLst>
      <p:ext uri="{BB962C8B-B14F-4D97-AF65-F5344CB8AC3E}">
        <p14:creationId xmlns:p14="http://schemas.microsoft.com/office/powerpoint/2010/main" val="1808474439"/>
      </p:ext>
    </p:extLst>
  </p:cSld>
  <mc:AlternateContent>
    <mc:Choice Requires="p159">
      <p:transition xmlns:p159="http://schemas.microsoft.com/office/powerpoint/2015/09/main" p14:dur="11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90"/>
                            </p:stCondLst>
                            <p:childTnLst>
                              <p:par>
                                <p:cTn id="3" presetID="10" presetClass="entr" presetSubtype="0" fill="hold" grpId="0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"/>
                            </p:stCondLst>
                            <p:childTnLst>
                              <p:par>
                                <p:cTn id="9" presetID="2" presetClass="entr" presetSubtype="1" fill="hold" grpId="1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30"/>
                            </p:stCondLst>
                            <p:childTnLst>
                              <p:par>
                                <p:cTn id="15" presetID="20" presetClass="entr" presetSubtype="2" fill="hold" grpId="2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fill="hold" grpId="3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80"/>
                            </p:stCondLst>
                            <p:childTnLst>
                              <p:par>
                                <p:cTn id="25" presetID="10" presetClass="entr" presetSubtype="0" fill="hold" grpId="4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610"/>
                            </p:stCondLst>
                            <p:childTnLst>
                              <p:par>
                                <p:cTn id="30" presetID="10" presetClass="entr" presetSubtype="0" fill="hold" grpId="5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1"/>
      <p:bldP spid="8" grpId="2"/>
      <p:bldP spid="9" grpId="3"/>
      <p:bldP spid="10" grpId="4"/>
      <p:bldP spid="11" grpId="5"/>
    </p:bldLst>
  </p:timing>
</p:sld>
</file>

<file path=ppt/slides/slide17.xml><?xml version="1.0" encoding="utf-8"?>
<p:sld xmlns:a="http://schemas.openxmlformats.org/drawingml/2006/main" xmlns:a16="http://schemas.microsoft.com/office/drawing/2014/main" xmlns:r="http://schemas.openxmlformats.org/officeDocument/2006/relationships" xmlns:p14="http://schemas.microsoft.com/office/powerpoint/2010/main" xmlns:p="http://schemas.openxmlformats.org/presentationml/2006/main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!!actor-field-08">
            <a:extLst xmlns:a="http://schemas.openxmlformats.org/drawingml/2006/main">
              <a:ext uri="{FF2B5EF4-FFF2-40B4-BE49-F238E27FC236}">
                <a16:creationId xmlns:a16="http://schemas.microsoft.com/office/drawing/2014/main" id="{7BC195F5-86B4-442D-8830-E8B1DAA1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48768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C47"/>
          </a:solidFill>
          <a:ln xmlns:a="http://schemas.openxmlformats.org/drawingml/2006/main" w="0">
            <a:noFill/>
          </a:ln>
        </p:spPr>
      </p:sp>
      <p:sp>
        <p:nvSpPr>
          <p:cNvPr id="2" name="!!actor-topic-08">
            <a:extLst xmlns:a="http://schemas.openxmlformats.org/drawingml/2006/main">
              <a:ext uri="{FF2B5EF4-FFF2-40B4-BE49-F238E27FC236}">
                <a16:creationId xmlns:a16="http://schemas.microsoft.com/office/drawing/2014/main" id="{2DAE5A00-04DB-4787-8EAF-58CE1284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地中海污染合作五十年</a:t>
            </a:r>
          </a:p>
        </p:txBody>
      </p:sp>
      <p:sp>
        <p:nvSpPr>
          <p:cNvPr id="3" name="!!s17-date">
            <a:extLst xmlns:a="http://schemas.openxmlformats.org/drawingml/2006/main">
              <a:ext uri="{FF2B5EF4-FFF2-40B4-BE49-F238E27FC236}">
                <a16:creationId xmlns:a16="http://schemas.microsoft.com/office/drawing/2014/main" id="{A23EE450-95E9-4709-AD65-294FCA1E2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657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2026-10-06   演讲者 04</a:t>
            </a:r>
          </a:p>
        </p:txBody>
      </p:sp>
      <p:sp>
        <p:nvSpPr>
          <p:cNvPr id="4" name="!!s17-title">
            <a:extLst xmlns:a="http://schemas.openxmlformats.org/drawingml/2006/main">
              <a:ext uri="{FF2B5EF4-FFF2-40B4-BE49-F238E27FC236}">
                <a16:creationId xmlns:a16="http://schemas.microsoft.com/office/drawing/2014/main" id="{288D22E1-836D-4A95-8202-0D5B525CA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6238875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REMPEC纪念</a:t>
            </a:r>
          </a:p>
          <a:p xmlns:a="http://schemas.openxmlformats.org/drawingml/2006/main">
            <a: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成立50周年</a:t>
            </a:r>
          </a:p>
        </p:txBody>
      </p:sp>
      <p:sp>
        <p:nvSpPr>
          <p:cNvPr id="5" name="!!s17-metric">
            <a:extLst xmlns:a="http://schemas.openxmlformats.org/drawingml/2006/main">
              <a:ext uri="{FF2B5EF4-FFF2-40B4-BE49-F238E27FC236}">
                <a16:creationId xmlns:a16="http://schemas.microsoft.com/office/drawing/2014/main" id="{C3718798-2902-4162-8E45-18A03F0D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6153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50年</a:t>
            </a:r>
          </a:p>
        </p:txBody>
      </p:sp>
      <p:sp>
        <p:nvSpPr>
          <p:cNvPr id="6" name="!!s17-label">
            <a:extLst xmlns:a="http://schemas.openxmlformats.org/drawingml/2006/main">
              <a:ext uri="{FF2B5EF4-FFF2-40B4-BE49-F238E27FC236}">
                <a16:creationId xmlns:a16="http://schemas.microsoft.com/office/drawing/2014/main" id="{BB19EE41-BE2B-4791-8868-5C340D91A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67175"/>
            <a:ext cx="61531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地中海海洋污染合作历程</a:t>
            </a:r>
          </a:p>
        </p:txBody>
      </p:sp>
      <p:sp>
        <p:nvSpPr>
          <p:cNvPr id="7" name="!!s17-fact-0">
            <a:extLst xmlns:a="http://schemas.openxmlformats.org/drawingml/2006/main">
              <a:ext uri="{FF2B5EF4-FFF2-40B4-BE49-F238E27FC236}">
                <a16:creationId xmlns:a16="http://schemas.microsoft.com/office/drawing/2014/main" id="{56BBB5EC-D316-4F2F-A804-5F2DBA37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10月6日在马耳他纪念成立周年</a:t>
            </a:r>
          </a:p>
        </p:txBody>
      </p:sp>
      <p:sp>
        <p:nvSpPr>
          <p:cNvPr id="8" name="!!s17-fact-1">
            <a:extLst xmlns:a="http://schemas.openxmlformats.org/drawingml/2006/main">
              <a:ext uri="{FF2B5EF4-FFF2-40B4-BE49-F238E27FC236}">
                <a16:creationId xmlns:a16="http://schemas.microsoft.com/office/drawing/2014/main" id="{482E94AD-7E00-42BC-A8F9-F486D1F33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0175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过去五十年支持20国应急体系</a:t>
            </a:r>
          </a:p>
        </p:txBody>
      </p:sp>
      <p:sp>
        <p:nvSpPr>
          <p:cNvPr id="9" name="!!s17-fact-2">
            <a:extLst xmlns:a="http://schemas.openxmlformats.org/drawingml/2006/main">
              <a:ext uri="{FF2B5EF4-FFF2-40B4-BE49-F238E27FC236}">
                <a16:creationId xmlns:a16="http://schemas.microsoft.com/office/drawing/2014/main" id="{D3E77F48-C596-480C-95E5-895702D6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34050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累计培训逾5000人</a:t>
            </a:r>
          </a:p>
        </p:txBody>
      </p:sp>
      <p:pic>
        <p:nvPicPr>
          <p:cNvPr id="10" name="!!actor-photo-08">
            <a:extLst xmlns:a="http://schemas.openxmlformats.org/drawingml/2006/main">
              <a:ext uri="{FF2B5EF4-FFF2-40B4-BE49-F238E27FC236}">
                <a16:creationId xmlns:a16="http://schemas.microsoft.com/office/drawing/2014/main" id="{16C4EF0F-4809-4C5B-A8E8-AD7BD2427E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92847b64734eae"/>
          <a:stretch xmlns:a="http://schemas.openxmlformats.org/drawingml/2006/main"/>
        </p:blipFill>
        <p:spPr>
          <a:xfrm xmlns:a="http://schemas.openxmlformats.org/drawingml/2006/main">
            <a:off x="7658100" y="1733550"/>
            <a:ext cx="4191000" cy="3143250"/>
          </a:xfrm>
          <a:prstGeom xmlns:a="http://schemas.openxmlformats.org/drawingml/2006/main" prst="rect">
            <a:avLst/>
          </a:prstGeom>
        </p:spPr>
      </p:pic>
      <p:sp>
        <p:nvSpPr>
          <p:cNvPr id="11" name="!!s17-caption">
            <a:extLst xmlns:a="http://schemas.openxmlformats.org/drawingml/2006/main">
              <a:ext uri="{FF2B5EF4-FFF2-40B4-BE49-F238E27FC236}">
                <a16:creationId xmlns:a16="http://schemas.microsoft.com/office/drawing/2014/main" id="{3B941DEF-F0A2-40D0-9CE7-42DE8019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2445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原报道配图</a:t>
            </a:r>
          </a:p>
        </p:txBody>
      </p:sp>
      <p:sp>
        <p:nvSpPr>
          <p:cNvPr id="12" name="!!s17-section">
            <a:extLst xmlns:a="http://schemas.openxmlformats.org/drawingml/2006/main">
              <a:ext uri="{FF2B5EF4-FFF2-40B4-BE49-F238E27FC236}">
                <a16:creationId xmlns:a16="http://schemas.microsoft.com/office/drawing/2014/main" id="{C2EE8DA2-A0CD-4C1D-8379-907610A57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7340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345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08</a:t>
            </a:r>
          </a:p>
        </p:txBody>
      </p:sp>
      <p:sp>
        <p:nvSpPr>
          <p:cNvPr id="13" name="!!s17-footer">
            <a:extLst xmlns:a="http://schemas.openxmlformats.org/drawingml/2006/main">
              <a:ext uri="{FF2B5EF4-FFF2-40B4-BE49-F238E27FC236}">
                <a16:creationId xmlns:a16="http://schemas.microsoft.com/office/drawing/2014/main" id="{56EFD6F0-9FB2-4CF0-88C1-1FE8338C9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10096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[08] 国际海事组织 IMO  2026-10-06</a:t>
            </a:r>
          </a:p>
        </p:txBody>
      </p:sp>
      <p:sp>
        <p:nvSpPr>
          <p:cNvPr id="14" name="!!s17-page">
            <a:extLst xmlns:a="http://schemas.openxmlformats.org/drawingml/2006/main">
              <a:ext uri="{FF2B5EF4-FFF2-40B4-BE49-F238E27FC236}">
                <a16:creationId xmlns:a16="http://schemas.microsoft.com/office/drawing/2014/main" id="{2F7CD8C3-700B-4E5C-8F9D-CCB49472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17 / 26</a:t>
            </a:r>
          </a:p>
        </p:txBody>
      </p:sp>
    </p:spTree>
    <p:extLst>
      <p:ext uri="{BB962C8B-B14F-4D97-AF65-F5344CB8AC3E}">
        <p14:creationId xmlns:p14="http://schemas.microsoft.com/office/powerpoint/2010/main" val="2012158724"/>
      </p:ext>
    </p:extLst>
  </p:cSld>
  <p:transition p14: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" presetClass="entr" presetSubtype="1" accel="5000" decel="65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6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1" presetClass="entr" presetSubtype="0" accel="5000" decel="6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 zoomContents="1">
                                      <p:cBhvr>
                                        <p:cTn id="12" dur="540" fill="hold"/>
                                        <p:tgtEl>
                                          <p:spTgt spid="5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50"/>
                            </p:stCondLst>
                            <p:childTnLst>
                              <p:par>
                                <p:cTn id="15" presetID="10" presetClass="entr" presetSubtype="0" accel="5000" decel="65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accel="5000" decel="65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70"/>
                            </p:stCondLst>
                            <p:childTnLst>
                              <p:par>
                                <p:cTn id="25" presetID="10" presetClass="entr" presetSubtype="0" accel="5000" decel="65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90"/>
                            </p:stCondLst>
                            <p:childTnLst>
                              <p:par>
                                <p:cTn id="30" presetID="10" presetClass="entr" presetSubtype="0" accel="5000" decel="6500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80"/>
                            </p:stCondLst>
                            <p:childTnLst>
                              <p:par>
                                <p:cTn id="35" presetID="20" presetClass="entr" presetSubtype="2" accel="5000" decel="65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1"/>
      <p:bldP spid="6" grpId="2"/>
      <p:bldP spid="7" grpId="3"/>
      <p:bldP spid="8" grpId="4"/>
      <p:bldP spid="9" grpId="5"/>
      <p:bldP spid="11" grpId="6"/>
    </p:bldLst>
  </p:timing>
</p:sld>
</file>

<file path=ppt/slides/slide18.xml><?xml version="1.0" encoding="utf-8"?>
<p:sld xmlns:a="http://schemas.openxmlformats.org/drawingml/2006/main" xmlns:a16="http://schemas.microsoft.com/office/drawing/2014/main" xmlns:r="http://schemas.openxmlformats.org/officeDocument/2006/relationships" xmlns:p="http://schemas.openxmlformats.org/presentationml/2006/main" xmlns:p159="http://schemas.microsoft.com/office/powerpoint/2015/09/main" xmlns:mc="http://schemas.openxmlformats.org/markup-compatibility/2006" xmlns:p14="http://schemas.microsoft.com/office/powerpoint/2010/main" mc:Ignorable="p159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!!actor-field-08">
            <a:extLst xmlns:a="http://schemas.openxmlformats.org/drawingml/2006/main">
              <a:ext uri="{FF2B5EF4-FFF2-40B4-BE49-F238E27FC236}">
                <a16:creationId xmlns:a16="http://schemas.microsoft.com/office/drawing/2014/main" id="{5E4C2553-0965-4ADF-8327-3CBF8A75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629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C47"/>
          </a:solidFill>
          <a:ln xmlns:a="http://schemas.openxmlformats.org/drawingml/2006/main" w="0">
            <a:noFill/>
          </a:ln>
        </p:spPr>
      </p:sp>
      <p:pic>
        <p:nvPicPr>
          <p:cNvPr id="2" name="!!actor-photo-08">
            <a:extLst xmlns:a="http://schemas.openxmlformats.org/drawingml/2006/main">
              <a:ext uri="{FF2B5EF4-FFF2-40B4-BE49-F238E27FC236}">
                <a16:creationId xmlns:a16="http://schemas.microsoft.com/office/drawing/2014/main" id="{BDA563EB-8257-4988-92D6-88AC3ABCF10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63762a218c4155"/>
          <a:stretch xmlns:a="http://schemas.openxmlformats.org/drawingml/2006/main"/>
        </p:blipFill>
        <p:spPr>
          <a:xfrm xmlns:a="http://schemas.openxmlformats.org/drawingml/2006/main">
            <a:off x="381000" y="2007394"/>
            <a:ext cx="3867150" cy="2900363"/>
          </a:xfrm>
          <a:prstGeom xmlns:a="http://schemas.openxmlformats.org/drawingml/2006/main" prst="rect">
            <a:avLst/>
          </a:prstGeom>
        </p:spPr>
      </p:pic>
      <p:sp>
        <p:nvSpPr>
          <p:cNvPr id="3" name="!!s18-caption">
            <a:extLst xmlns:a="http://schemas.openxmlformats.org/drawingml/2006/main">
              <a:ext uri="{FF2B5EF4-FFF2-40B4-BE49-F238E27FC236}">
                <a16:creationId xmlns:a16="http://schemas.microsoft.com/office/drawing/2014/main" id="{BEE69737-5B9A-4691-9D5F-590CF365B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95875"/>
            <a:ext cx="3867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原报道配图</a:t>
            </a:r>
          </a:p>
        </p:txBody>
      </p:sp>
      <p:sp>
        <p:nvSpPr>
          <p:cNvPr id="4" name="!!s18-section">
            <a:extLst xmlns:a="http://schemas.openxmlformats.org/drawingml/2006/main">
              <a:ext uri="{FF2B5EF4-FFF2-40B4-BE49-F238E27FC236}">
                <a16:creationId xmlns:a16="http://schemas.microsoft.com/office/drawing/2014/main" id="{AF2A1FCF-E1C1-490F-B1A9-1AF474071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4825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4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54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54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08</a:t>
            </a:r>
          </a:p>
        </p:txBody>
      </p:sp>
      <p:sp>
        <p:nvSpPr>
          <p:cNvPr id="5" name="!!actor-topic-08">
            <a:extLst xmlns:a="http://schemas.openxmlformats.org/drawingml/2006/main">
              <a:ext uri="{FF2B5EF4-FFF2-40B4-BE49-F238E27FC236}">
                <a16:creationId xmlns:a16="http://schemas.microsoft.com/office/drawing/2014/main" id="{B47057B4-69DD-415A-BDF7-F49E4C7F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66725"/>
            <a:ext cx="638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地中海污染合作五十年</a:t>
            </a:r>
          </a:p>
        </p:txBody>
      </p:sp>
      <p:sp>
        <p:nvSpPr>
          <p:cNvPr id="6" name="!!s18-tag">
            <a:extLst xmlns:a="http://schemas.openxmlformats.org/drawingml/2006/main">
              <a:ext uri="{FF2B5EF4-FFF2-40B4-BE49-F238E27FC236}">
                <a16:creationId xmlns:a16="http://schemas.microsoft.com/office/drawing/2014/main" id="{2ABC375F-E8E8-406A-9FB5-8661F1D16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114425"/>
            <a:ext cx="595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法治观察</a:t>
            </a:r>
          </a:p>
        </p:txBody>
      </p:sp>
      <p:sp>
        <p:nvSpPr>
          <p:cNvPr id="7" name="!!s18-question">
            <a:extLst xmlns:a="http://schemas.openxmlformats.org/drawingml/2006/main">
              <a:ext uri="{FF2B5EF4-FFF2-40B4-BE49-F238E27FC236}">
                <a16:creationId xmlns:a16="http://schemas.microsoft.com/office/drawing/2014/main" id="{FB39B439-C13B-4268-954A-3DF9554A0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685925"/>
            <a:ext cx="6334125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跨境海洋污染</a:t>
            </a:r>
          </a:p>
          <a:p xmlns:a="http://schemas.openxmlformats.org/drawingml/2006/main">
            <a: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怎样形成共同应对？</a:t>
            </a:r>
          </a:p>
        </p:txBody>
      </p:sp>
      <p:sp>
        <p:nvSpPr>
          <p:cNvPr id="8" name="!!s18-rule">
            <a:extLst xmlns:a="http://schemas.openxmlformats.org/drawingml/2006/main">
              <a:ext uri="{FF2B5EF4-FFF2-40B4-BE49-F238E27FC236}">
                <a16:creationId xmlns:a16="http://schemas.microsoft.com/office/drawing/2014/main" id="{D3F4EED5-5C04-4755-A586-15A29E13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14700"/>
            <a:ext cx="1066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D32"/>
          </a:solidFill>
          <a:ln xmlns:a="http://schemas.openxmlformats.org/drawingml/2006/main" w="0">
            <a:noFill/>
          </a:ln>
        </p:spPr>
      </p:sp>
      <p:sp>
        <p:nvSpPr>
          <p:cNvPr id="9" name="!!s18-analysis-0">
            <a:extLst xmlns:a="http://schemas.openxmlformats.org/drawingml/2006/main">
              <a:ext uri="{FF2B5EF4-FFF2-40B4-BE49-F238E27FC236}">
                <a16:creationId xmlns:a16="http://schemas.microsoft.com/office/drawing/2014/main" id="{6A9F3864-5DC5-4617-A006-A602BA2C3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33800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跨境污染需要区域协作</a:t>
            </a:r>
          </a:p>
        </p:txBody>
      </p:sp>
      <p:sp>
        <p:nvSpPr>
          <p:cNvPr id="10" name="!!s18-analysis-1">
            <a:extLst xmlns:a="http://schemas.openxmlformats.org/drawingml/2006/main">
              <a:ext uri="{FF2B5EF4-FFF2-40B4-BE49-F238E27FC236}">
                <a16:creationId xmlns:a16="http://schemas.microsoft.com/office/drawing/2014/main" id="{50363C9B-15DE-4592-8D56-AFA2A545D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505325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预案、专家和信息共享须能运转</a:t>
            </a:r>
          </a:p>
        </p:txBody>
      </p:sp>
      <p:sp>
        <p:nvSpPr>
          <p:cNvPr id="11" name="!!s18-analysis-2">
            <a:extLst xmlns:a="http://schemas.openxmlformats.org/drawingml/2006/main">
              <a:ext uri="{FF2B5EF4-FFF2-40B4-BE49-F238E27FC236}">
                <a16:creationId xmlns:a16="http://schemas.microsoft.com/office/drawing/2014/main" id="{E6E58B2A-1608-4EC8-9103-071B8BFC2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276850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应急能力依靠平时培训演练</a:t>
            </a:r>
          </a:p>
        </p:txBody>
      </p:sp>
      <p:sp>
        <p:nvSpPr>
          <p:cNvPr id="12" name="!!s18-footer">
            <a:extLst xmlns:a="http://schemas.openxmlformats.org/drawingml/2006/main">
              <a:ext uri="{FF2B5EF4-FFF2-40B4-BE49-F238E27FC236}">
                <a16:creationId xmlns:a16="http://schemas.microsoft.com/office/drawing/2014/main" id="{178F936B-A213-4838-BB30-583EE88A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467475"/>
            <a:ext cx="38671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2026年10月6日至12日</a:t>
            </a:r>
          </a:p>
        </p:txBody>
      </p:sp>
      <p:sp>
        <p:nvSpPr>
          <p:cNvPr id="13" name="!!s18-footer-paper">
            <a:extLst xmlns:a="http://schemas.openxmlformats.org/drawingml/2006/main">
              <a:ext uri="{FF2B5EF4-FFF2-40B4-BE49-F238E27FC236}">
                <a16:creationId xmlns:a16="http://schemas.microsoft.com/office/drawing/2014/main" id="{B08CC839-E4D0-451F-A662-99D47D9C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6467475"/>
            <a:ext cx="571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本组法治观察  事实来源见前页</a:t>
            </a:r>
          </a:p>
        </p:txBody>
      </p:sp>
      <p:sp>
        <p:nvSpPr>
          <p:cNvPr id="14" name="!!s18-page-paper">
            <a:extLst xmlns:a="http://schemas.openxmlformats.org/drawingml/2006/main">
              <a:ext uri="{FF2B5EF4-FFF2-40B4-BE49-F238E27FC236}">
                <a16:creationId xmlns:a16="http://schemas.microsoft.com/office/drawing/2014/main" id="{465E5070-08E2-42E9-AA4D-1D38957DC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18 / 26</a:t>
            </a:r>
          </a:p>
        </p:txBody>
      </p:sp>
    </p:spTree>
    <p:extLst>
      <p:ext uri="{BB962C8B-B14F-4D97-AF65-F5344CB8AC3E}">
        <p14:creationId xmlns:p14="http://schemas.microsoft.com/office/powerpoint/2010/main" val="1676003326"/>
      </p:ext>
    </p:extLst>
  </p:cSld>
  <mc:AlternateContent>
    <mc:Choice Requires="p159">
      <p:transition xmlns:p159="http://schemas.microsoft.com/office/powerpoint/2015/09/main" p14:dur="11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90"/>
                            </p:stCondLst>
                            <p:childTnLst>
                              <p:par>
                                <p:cTn id="3" presetID="10" presetClass="entr" presetSubtype="0" fill="hold" grpId="0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"/>
                            </p:stCondLst>
                            <p:childTnLst>
                              <p:par>
                                <p:cTn id="9" presetID="2" presetClass="entr" presetSubtype="1" fill="hold" grpId="1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30"/>
                            </p:stCondLst>
                            <p:childTnLst>
                              <p:par>
                                <p:cTn id="15" presetID="20" presetClass="entr" presetSubtype="2" fill="hold" grpId="2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fill="hold" grpId="3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80"/>
                            </p:stCondLst>
                            <p:childTnLst>
                              <p:par>
                                <p:cTn id="25" presetID="10" presetClass="entr" presetSubtype="0" fill="hold" grpId="4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610"/>
                            </p:stCondLst>
                            <p:childTnLst>
                              <p:par>
                                <p:cTn id="30" presetID="10" presetClass="entr" presetSubtype="0" fill="hold" grpId="5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1"/>
      <p:bldP spid="8" grpId="2"/>
      <p:bldP spid="9" grpId="3"/>
      <p:bldP spid="10" grpId="4"/>
      <p:bldP spid="11" grpId="5"/>
    </p:bldLst>
  </p:timing>
</p:sld>
</file>

<file path=ppt/slides/slide19.xml><?xml version="1.0" encoding="utf-8"?>
<p:sld xmlns:a="http://schemas.openxmlformats.org/drawingml/2006/main" xmlns:a16="http://schemas.microsoft.com/office/drawing/2014/main" xmlns:r="http://schemas.openxmlformats.org/officeDocument/2006/relationships" xmlns:p14="http://schemas.microsoft.com/office/powerpoint/2010/main" xmlns:p="http://schemas.openxmlformats.org/presentationml/2006/main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!!actor-field-09">
            <a:extLst xmlns:a="http://schemas.openxmlformats.org/drawingml/2006/main">
              <a:ext uri="{FF2B5EF4-FFF2-40B4-BE49-F238E27FC236}">
                <a16:creationId xmlns:a16="http://schemas.microsoft.com/office/drawing/2014/main" id="{74DEA428-0830-47D3-B14F-26E274938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48768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C47"/>
          </a:solidFill>
          <a:ln xmlns:a="http://schemas.openxmlformats.org/drawingml/2006/main" w="0">
            <a:noFill/>
          </a:ln>
        </p:spPr>
      </p:sp>
      <p:sp>
        <p:nvSpPr>
          <p:cNvPr id="2" name="!!actor-topic-09">
            <a:extLst xmlns:a="http://schemas.openxmlformats.org/drawingml/2006/main">
              <a:ext uri="{FF2B5EF4-FFF2-40B4-BE49-F238E27FC236}">
                <a16:creationId xmlns:a16="http://schemas.microsoft.com/office/drawing/2014/main" id="{1A94FA00-85B6-4E40-AAD4-5D02ED690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塞内加尔海运单一窗口</a:t>
            </a:r>
          </a:p>
        </p:txBody>
      </p:sp>
      <p:sp>
        <p:nvSpPr>
          <p:cNvPr id="3" name="!!s19-date">
            <a:extLst xmlns:a="http://schemas.openxmlformats.org/drawingml/2006/main">
              <a:ext uri="{FF2B5EF4-FFF2-40B4-BE49-F238E27FC236}">
                <a16:creationId xmlns:a16="http://schemas.microsoft.com/office/drawing/2014/main" id="{20EC76B3-B2FB-491B-A04B-4856125F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657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2026-10-09   演讲者 05</a:t>
            </a:r>
          </a:p>
        </p:txBody>
      </p:sp>
      <p:sp>
        <p:nvSpPr>
          <p:cNvPr id="4" name="!!s19-title">
            <a:extLst xmlns:a="http://schemas.openxmlformats.org/drawingml/2006/main">
              <a:ext uri="{FF2B5EF4-FFF2-40B4-BE49-F238E27FC236}">
                <a16:creationId xmlns:a16="http://schemas.microsoft.com/office/drawing/2014/main" id="{502A2CDB-CD63-496C-8C5F-FE35CF4E2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6238875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达喀尔港开展</a:t>
            </a:r>
          </a:p>
          <a:p xmlns:a="http://schemas.openxmlformats.org/drawingml/2006/main">
            <a: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数字化需求评估</a:t>
            </a:r>
          </a:p>
        </p:txBody>
      </p:sp>
      <p:sp>
        <p:nvSpPr>
          <p:cNvPr id="5" name="!!s19-metric">
            <a:extLst xmlns:a="http://schemas.openxmlformats.org/drawingml/2006/main">
              <a:ext uri="{FF2B5EF4-FFF2-40B4-BE49-F238E27FC236}">
                <a16:creationId xmlns:a16="http://schemas.microsoft.com/office/drawing/2014/main" id="{7636E37D-0F86-48EF-846B-1E6D91988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6153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5至9日</a:t>
            </a:r>
          </a:p>
        </p:txBody>
      </p:sp>
      <p:sp>
        <p:nvSpPr>
          <p:cNvPr id="6" name="!!s19-label">
            <a:extLst xmlns:a="http://schemas.openxmlformats.org/drawingml/2006/main">
              <a:ext uri="{FF2B5EF4-FFF2-40B4-BE49-F238E27FC236}">
                <a16:creationId xmlns:a16="http://schemas.microsoft.com/office/drawing/2014/main" id="{DCAE677F-7DDB-4614-B035-67A809939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67175"/>
            <a:ext cx="61531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IMO需求评估任务的开展时间</a:t>
            </a:r>
          </a:p>
        </p:txBody>
      </p:sp>
      <p:sp>
        <p:nvSpPr>
          <p:cNvPr id="7" name="!!s19-fact-0">
            <a:extLst xmlns:a="http://schemas.openxmlformats.org/drawingml/2006/main">
              <a:ext uri="{FF2B5EF4-FFF2-40B4-BE49-F238E27FC236}">
                <a16:creationId xmlns:a16="http://schemas.microsoft.com/office/drawing/2014/main" id="{BA544EFF-2412-4ABC-BC97-9C5F130C6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IMO支持塞内加尔筹备单一窗口</a:t>
            </a:r>
          </a:p>
        </p:txBody>
      </p:sp>
      <p:sp>
        <p:nvSpPr>
          <p:cNvPr id="8" name="!!s19-fact-1">
            <a:extLst xmlns:a="http://schemas.openxmlformats.org/drawingml/2006/main">
              <a:ext uri="{FF2B5EF4-FFF2-40B4-BE49-F238E27FC236}">
                <a16:creationId xmlns:a16="http://schemas.microsoft.com/office/drawing/2014/main" id="{E9E3D301-0A2B-4F80-BAED-96D3D158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0175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评估流程、制度与建设需求</a:t>
            </a:r>
          </a:p>
        </p:txBody>
      </p:sp>
      <p:sp>
        <p:nvSpPr>
          <p:cNvPr id="9" name="!!s19-fact-2">
            <a:extLst xmlns:a="http://schemas.openxmlformats.org/drawingml/2006/main">
              <a:ext uri="{FF2B5EF4-FFF2-40B4-BE49-F238E27FC236}">
                <a16:creationId xmlns:a16="http://schemas.microsoft.com/office/drawing/2014/main" id="{F18D7FB4-3D09-47F3-801C-478253FE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34050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本次评估不等于系统上线</a:t>
            </a:r>
          </a:p>
        </p:txBody>
      </p:sp>
      <p:pic>
        <p:nvPicPr>
          <p:cNvPr id="10" name="!!actor-photo-09">
            <a:extLst xmlns:a="http://schemas.openxmlformats.org/drawingml/2006/main">
              <a:ext uri="{FF2B5EF4-FFF2-40B4-BE49-F238E27FC236}">
                <a16:creationId xmlns:a16="http://schemas.microsoft.com/office/drawing/2014/main" id="{D6578038-AD42-4CEE-BBED-2ECDB68F02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ade884215840e7"/>
          <a:stretch xmlns:a="http://schemas.openxmlformats.org/drawingml/2006/main"/>
        </p:blipFill>
        <p:spPr>
          <a:xfrm xmlns:a="http://schemas.openxmlformats.org/drawingml/2006/main">
            <a:off x="7658100" y="1733550"/>
            <a:ext cx="4191000" cy="3143250"/>
          </a:xfrm>
          <a:prstGeom xmlns:a="http://schemas.openxmlformats.org/drawingml/2006/main" prst="rect">
            <a:avLst/>
          </a:prstGeom>
        </p:spPr>
      </p:pic>
      <p:sp>
        <p:nvSpPr>
          <p:cNvPr id="11" name="!!s19-caption">
            <a:extLst xmlns:a="http://schemas.openxmlformats.org/drawingml/2006/main">
              <a:ext uri="{FF2B5EF4-FFF2-40B4-BE49-F238E27FC236}">
                <a16:creationId xmlns:a16="http://schemas.microsoft.com/office/drawing/2014/main" id="{AA7800F5-F3B4-4A61-8C38-3B4B85074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2445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原报道配图</a:t>
            </a:r>
          </a:p>
        </p:txBody>
      </p:sp>
      <p:sp>
        <p:nvSpPr>
          <p:cNvPr id="12" name="!!s19-section">
            <a:extLst xmlns:a="http://schemas.openxmlformats.org/drawingml/2006/main">
              <a:ext uri="{FF2B5EF4-FFF2-40B4-BE49-F238E27FC236}">
                <a16:creationId xmlns:a16="http://schemas.microsoft.com/office/drawing/2014/main" id="{495B3D77-B086-4B40-A106-32EB847B4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7340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345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09</a:t>
            </a:r>
          </a:p>
        </p:txBody>
      </p:sp>
      <p:sp>
        <p:nvSpPr>
          <p:cNvPr id="13" name="!!s19-footer">
            <a:extLst xmlns:a="http://schemas.openxmlformats.org/drawingml/2006/main">
              <a:ext uri="{FF2B5EF4-FFF2-40B4-BE49-F238E27FC236}">
                <a16:creationId xmlns:a16="http://schemas.microsoft.com/office/drawing/2014/main" id="{EAF003E7-CD91-40A3-A1D0-46373CD02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10096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[09] 国际海事组织 IMO  2026-10-09</a:t>
            </a:r>
          </a:p>
        </p:txBody>
      </p:sp>
      <p:sp>
        <p:nvSpPr>
          <p:cNvPr id="14" name="!!s19-page">
            <a:extLst xmlns:a="http://schemas.openxmlformats.org/drawingml/2006/main">
              <a:ext uri="{FF2B5EF4-FFF2-40B4-BE49-F238E27FC236}">
                <a16:creationId xmlns:a16="http://schemas.microsoft.com/office/drawing/2014/main" id="{356ECA8B-3631-4A9B-9C46-DC5BE598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19 / 26</a:t>
            </a:r>
          </a:p>
        </p:txBody>
      </p:sp>
    </p:spTree>
    <p:extLst>
      <p:ext uri="{BB962C8B-B14F-4D97-AF65-F5344CB8AC3E}">
        <p14:creationId xmlns:p14="http://schemas.microsoft.com/office/powerpoint/2010/main" val="324968718"/>
      </p:ext>
    </p:extLst>
  </p:cSld>
  <p:transition p14: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" presetClass="entr" presetSubtype="1" accel="5000" decel="65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6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1" presetClass="entr" presetSubtype="0" accel="5000" decel="6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 zoomContents="1">
                                      <p:cBhvr>
                                        <p:cTn id="12" dur="540" fill="hold"/>
                                        <p:tgtEl>
                                          <p:spTgt spid="5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50"/>
                            </p:stCondLst>
                            <p:childTnLst>
                              <p:par>
                                <p:cTn id="15" presetID="10" presetClass="entr" presetSubtype="0" accel="5000" decel="65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accel="5000" decel="65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70"/>
                            </p:stCondLst>
                            <p:childTnLst>
                              <p:par>
                                <p:cTn id="25" presetID="10" presetClass="entr" presetSubtype="0" accel="5000" decel="65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90"/>
                            </p:stCondLst>
                            <p:childTnLst>
                              <p:par>
                                <p:cTn id="30" presetID="10" presetClass="entr" presetSubtype="0" accel="5000" decel="6500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80"/>
                            </p:stCondLst>
                            <p:childTnLst>
                              <p:par>
                                <p:cTn id="35" presetID="20" presetClass="entr" presetSubtype="2" accel="5000" decel="65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1"/>
      <p:bldP spid="6" grpId="2"/>
      <p:bldP spid="7" grpId="3"/>
      <p:bldP spid="8" grpId="4"/>
      <p:bldP spid="9" grpId="5"/>
      <p:bldP spid="11" grpId="6"/>
    </p:bldLst>
  </p:timing>
</p:sld>
</file>

<file path=ppt/slides/slide20.xml><?xml version="1.0" encoding="utf-8"?>
<p:sld xmlns:a="http://schemas.openxmlformats.org/drawingml/2006/main" xmlns:a16="http://schemas.microsoft.com/office/drawing/2014/main" xmlns:r="http://schemas.openxmlformats.org/officeDocument/2006/relationships" xmlns:p="http://schemas.openxmlformats.org/presentationml/2006/main" xmlns:p159="http://schemas.microsoft.com/office/powerpoint/2015/09/main" xmlns:mc="http://schemas.openxmlformats.org/markup-compatibility/2006" xmlns:p14="http://schemas.microsoft.com/office/powerpoint/2010/main" mc:Ignorable="p159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!!actor-field-09">
            <a:extLst xmlns:a="http://schemas.openxmlformats.org/drawingml/2006/main">
              <a:ext uri="{FF2B5EF4-FFF2-40B4-BE49-F238E27FC236}">
                <a16:creationId xmlns:a16="http://schemas.microsoft.com/office/drawing/2014/main" id="{3331108B-CF25-480E-B4CD-41694428F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629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C47"/>
          </a:solidFill>
          <a:ln xmlns:a="http://schemas.openxmlformats.org/drawingml/2006/main" w="0">
            <a:noFill/>
          </a:ln>
        </p:spPr>
      </p:sp>
      <p:pic>
        <p:nvPicPr>
          <p:cNvPr id="2" name="!!actor-photo-09">
            <a:extLst xmlns:a="http://schemas.openxmlformats.org/drawingml/2006/main">
              <a:ext uri="{FF2B5EF4-FFF2-40B4-BE49-F238E27FC236}">
                <a16:creationId xmlns:a16="http://schemas.microsoft.com/office/drawing/2014/main" id="{480613E0-78AC-4A98-82C8-851C38ED31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3a57becdc24a16"/>
          <a:stretch xmlns:a="http://schemas.openxmlformats.org/drawingml/2006/main"/>
        </p:blipFill>
        <p:spPr>
          <a:xfrm xmlns:a="http://schemas.openxmlformats.org/drawingml/2006/main">
            <a:off x="381000" y="2007394"/>
            <a:ext cx="3867150" cy="2900363"/>
          </a:xfrm>
          <a:prstGeom xmlns:a="http://schemas.openxmlformats.org/drawingml/2006/main" prst="rect">
            <a:avLst/>
          </a:prstGeom>
        </p:spPr>
      </p:pic>
      <p:sp>
        <p:nvSpPr>
          <p:cNvPr id="3" name="!!s20-caption">
            <a:extLst xmlns:a="http://schemas.openxmlformats.org/drawingml/2006/main">
              <a:ext uri="{FF2B5EF4-FFF2-40B4-BE49-F238E27FC236}">
                <a16:creationId xmlns:a16="http://schemas.microsoft.com/office/drawing/2014/main" id="{50051CE2-2423-4BA6-AAC9-5B1ED4D0D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95875"/>
            <a:ext cx="3867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原报道配图</a:t>
            </a:r>
          </a:p>
        </p:txBody>
      </p:sp>
      <p:sp>
        <p:nvSpPr>
          <p:cNvPr id="4" name="!!s20-section">
            <a:extLst xmlns:a="http://schemas.openxmlformats.org/drawingml/2006/main">
              <a:ext uri="{FF2B5EF4-FFF2-40B4-BE49-F238E27FC236}">
                <a16:creationId xmlns:a16="http://schemas.microsoft.com/office/drawing/2014/main" id="{33642B46-602D-48B3-84D9-A6CE1D2C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4825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4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54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54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09</a:t>
            </a:r>
          </a:p>
        </p:txBody>
      </p:sp>
      <p:sp>
        <p:nvSpPr>
          <p:cNvPr id="5" name="!!actor-topic-09">
            <a:extLst xmlns:a="http://schemas.openxmlformats.org/drawingml/2006/main">
              <a:ext uri="{FF2B5EF4-FFF2-40B4-BE49-F238E27FC236}">
                <a16:creationId xmlns:a16="http://schemas.microsoft.com/office/drawing/2014/main" id="{E4D69FDB-74AE-4F18-BF26-732BA9DB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66725"/>
            <a:ext cx="638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塞内加尔海运单一窗口</a:t>
            </a:r>
          </a:p>
        </p:txBody>
      </p:sp>
      <p:sp>
        <p:nvSpPr>
          <p:cNvPr id="6" name="!!s20-tag">
            <a:extLst xmlns:a="http://schemas.openxmlformats.org/drawingml/2006/main">
              <a:ext uri="{FF2B5EF4-FFF2-40B4-BE49-F238E27FC236}">
                <a16:creationId xmlns:a16="http://schemas.microsoft.com/office/drawing/2014/main" id="{429853F1-88F5-48F1-936D-EA00BEB3F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114425"/>
            <a:ext cx="595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法治观察</a:t>
            </a:r>
          </a:p>
        </p:txBody>
      </p:sp>
      <p:sp>
        <p:nvSpPr>
          <p:cNvPr id="7" name="!!s20-question">
            <a:extLst xmlns:a="http://schemas.openxmlformats.org/drawingml/2006/main">
              <a:ext uri="{FF2B5EF4-FFF2-40B4-BE49-F238E27FC236}">
                <a16:creationId xmlns:a16="http://schemas.microsoft.com/office/drawing/2014/main" id="{4CF33643-10AD-43A4-A189-C12639F6D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685925"/>
            <a:ext cx="6334125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信息只提交一次</a:t>
            </a:r>
          </a:p>
          <a:p xmlns:a="http://schemas.openxmlformats.org/drawingml/2006/main">
            <a: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监管怎样各司其职？</a:t>
            </a:r>
          </a:p>
        </p:txBody>
      </p:sp>
      <p:sp>
        <p:nvSpPr>
          <p:cNvPr id="8" name="!!s20-rule">
            <a:extLst xmlns:a="http://schemas.openxmlformats.org/drawingml/2006/main">
              <a:ext uri="{FF2B5EF4-FFF2-40B4-BE49-F238E27FC236}">
                <a16:creationId xmlns:a16="http://schemas.microsoft.com/office/drawing/2014/main" id="{EA7B2FFC-A90C-41FC-94A4-775B53252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14700"/>
            <a:ext cx="1066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D32"/>
          </a:solidFill>
          <a:ln xmlns:a="http://schemas.openxmlformats.org/drawingml/2006/main" w="0">
            <a:noFill/>
          </a:ln>
        </p:spPr>
      </p:sp>
      <p:sp>
        <p:nvSpPr>
          <p:cNvPr id="9" name="!!s20-analysis-0">
            <a:extLst xmlns:a="http://schemas.openxmlformats.org/drawingml/2006/main">
              <a:ext uri="{FF2B5EF4-FFF2-40B4-BE49-F238E27FC236}">
                <a16:creationId xmlns:a16="http://schemas.microsoft.com/office/drawing/2014/main" id="{B1ABB307-3C82-474E-8C38-919A0B5D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33800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船舶信息统一提交与交换</a:t>
            </a:r>
          </a:p>
        </p:txBody>
      </p:sp>
      <p:sp>
        <p:nvSpPr>
          <p:cNvPr id="10" name="!!s20-analysis-1">
            <a:extLst xmlns:a="http://schemas.openxmlformats.org/drawingml/2006/main">
              <a:ext uri="{FF2B5EF4-FFF2-40B4-BE49-F238E27FC236}">
                <a16:creationId xmlns:a16="http://schemas.microsoft.com/office/drawing/2014/main" id="{281E5B97-0332-4119-B311-405776890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505325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数据权限和部门职责须明确</a:t>
            </a:r>
          </a:p>
        </p:txBody>
      </p:sp>
      <p:sp>
        <p:nvSpPr>
          <p:cNvPr id="11" name="!!s20-analysis-2">
            <a:extLst xmlns:a="http://schemas.openxmlformats.org/drawingml/2006/main">
              <a:ext uri="{FF2B5EF4-FFF2-40B4-BE49-F238E27FC236}">
                <a16:creationId xmlns:a16="http://schemas.microsoft.com/office/drawing/2014/main" id="{C8D19AAA-5F53-4E01-92F8-4F82ED5D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276850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纠错程序保障可追溯责任</a:t>
            </a:r>
          </a:p>
        </p:txBody>
      </p:sp>
      <p:sp>
        <p:nvSpPr>
          <p:cNvPr id="12" name="!!s20-footer">
            <a:extLst xmlns:a="http://schemas.openxmlformats.org/drawingml/2006/main">
              <a:ext uri="{FF2B5EF4-FFF2-40B4-BE49-F238E27FC236}">
                <a16:creationId xmlns:a16="http://schemas.microsoft.com/office/drawing/2014/main" id="{0E06D842-28FA-41A9-A875-CA9035C4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467475"/>
            <a:ext cx="38671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2026年10月6日至12日</a:t>
            </a:r>
          </a:p>
        </p:txBody>
      </p:sp>
      <p:sp>
        <p:nvSpPr>
          <p:cNvPr id="13" name="!!s20-footer-paper">
            <a:extLst xmlns:a="http://schemas.openxmlformats.org/drawingml/2006/main">
              <a:ext uri="{FF2B5EF4-FFF2-40B4-BE49-F238E27FC236}">
                <a16:creationId xmlns:a16="http://schemas.microsoft.com/office/drawing/2014/main" id="{4D5744BB-57D2-438B-B454-92F70B7DD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6467475"/>
            <a:ext cx="571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本组法治观察  事实来源见前页</a:t>
            </a:r>
          </a:p>
        </p:txBody>
      </p:sp>
      <p:sp>
        <p:nvSpPr>
          <p:cNvPr id="14" name="!!s20-page-paper">
            <a:extLst xmlns:a="http://schemas.openxmlformats.org/drawingml/2006/main">
              <a:ext uri="{FF2B5EF4-FFF2-40B4-BE49-F238E27FC236}">
                <a16:creationId xmlns:a16="http://schemas.microsoft.com/office/drawing/2014/main" id="{53109C3F-B377-421E-B41B-8DE1C4005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 / 26</a:t>
            </a:r>
          </a:p>
        </p:txBody>
      </p:sp>
    </p:spTree>
    <p:extLst>
      <p:ext uri="{BB962C8B-B14F-4D97-AF65-F5344CB8AC3E}">
        <p14:creationId xmlns:p14="http://schemas.microsoft.com/office/powerpoint/2010/main" val="339363016"/>
      </p:ext>
    </p:extLst>
  </p:cSld>
  <mc:AlternateContent>
    <mc:Choice Requires="p159">
      <p:transition xmlns:p159="http://schemas.microsoft.com/office/powerpoint/2015/09/main" p14:dur="11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90"/>
                            </p:stCondLst>
                            <p:childTnLst>
                              <p:par>
                                <p:cTn id="3" presetID="10" presetClass="entr" presetSubtype="0" fill="hold" grpId="0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"/>
                            </p:stCondLst>
                            <p:childTnLst>
                              <p:par>
                                <p:cTn id="9" presetID="2" presetClass="entr" presetSubtype="1" fill="hold" grpId="1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30"/>
                            </p:stCondLst>
                            <p:childTnLst>
                              <p:par>
                                <p:cTn id="15" presetID="20" presetClass="entr" presetSubtype="2" fill="hold" grpId="2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fill="hold" grpId="3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80"/>
                            </p:stCondLst>
                            <p:childTnLst>
                              <p:par>
                                <p:cTn id="25" presetID="10" presetClass="entr" presetSubtype="0" fill="hold" grpId="4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610"/>
                            </p:stCondLst>
                            <p:childTnLst>
                              <p:par>
                                <p:cTn id="30" presetID="10" presetClass="entr" presetSubtype="0" fill="hold" grpId="5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1"/>
      <p:bldP spid="8" grpId="2"/>
      <p:bldP spid="9" grpId="3"/>
      <p:bldP spid="10" grpId="4"/>
      <p:bldP spid="11" grpId="5"/>
    </p:bldLst>
  </p:timing>
</p:sld>
</file>

<file path=ppt/slides/slide21.xml><?xml version="1.0" encoding="utf-8"?>
<p:sld xmlns:a="http://schemas.openxmlformats.org/drawingml/2006/main" xmlns:a16="http://schemas.microsoft.com/office/drawing/2014/main" xmlns:r="http://schemas.openxmlformats.org/officeDocument/2006/relationships" xmlns:p14="http://schemas.microsoft.com/office/powerpoint/2010/main" xmlns:p="http://schemas.openxmlformats.org/presentationml/2006/main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!!actor-field-10">
            <a:extLst xmlns:a="http://schemas.openxmlformats.org/drawingml/2006/main">
              <a:ext uri="{FF2B5EF4-FFF2-40B4-BE49-F238E27FC236}">
                <a16:creationId xmlns:a16="http://schemas.microsoft.com/office/drawing/2014/main" id="{8644E92C-201F-474C-B321-3080F766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0"/>
            <a:ext cx="48768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C47"/>
          </a:solidFill>
          <a:ln xmlns:a="http://schemas.openxmlformats.org/drawingml/2006/main" w="0">
            <a:noFill/>
          </a:ln>
        </p:spPr>
      </p:sp>
      <p:sp>
        <p:nvSpPr>
          <p:cNvPr id="2" name="!!actor-topic-10">
            <a:extLst xmlns:a="http://schemas.openxmlformats.org/drawingml/2006/main">
              <a:ext uri="{FF2B5EF4-FFF2-40B4-BE49-F238E27FC236}">
                <a16:creationId xmlns:a16="http://schemas.microsoft.com/office/drawing/2014/main" id="{ACD2B24D-3F1B-4B15-9A28-57964C76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"/>
            <a:ext cx="666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公海条约秘书处选址</a:t>
            </a:r>
          </a:p>
        </p:txBody>
      </p:sp>
      <p:sp>
        <p:nvSpPr>
          <p:cNvPr id="3" name="!!s21-date">
            <a:extLst xmlns:a="http://schemas.openxmlformats.org/drawingml/2006/main">
              <a:ext uri="{FF2B5EF4-FFF2-40B4-BE49-F238E27FC236}">
                <a16:creationId xmlns:a16="http://schemas.microsoft.com/office/drawing/2014/main" id="{A432A9FC-8BE0-4451-8160-F1E44C95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657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2026-10-06   演讲者 05</a:t>
            </a:r>
          </a:p>
        </p:txBody>
      </p:sp>
      <p:sp>
        <p:nvSpPr>
          <p:cNvPr id="4" name="!!s21-title">
            <a:extLst xmlns:a="http://schemas.openxmlformats.org/drawingml/2006/main">
              <a:ext uri="{FF2B5EF4-FFF2-40B4-BE49-F238E27FC236}">
                <a16:creationId xmlns:a16="http://schemas.microsoft.com/office/drawing/2014/main" id="{892FC55B-084F-4C39-ACB3-B5079F538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6238875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智利重申竞逐</a:t>
            </a:r>
          </a:p>
          <a:p xmlns:a="http://schemas.openxmlformats.org/drawingml/2006/main">
            <a:pPr algn="l">
              <a:defRPr sz="4275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75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BBNJ秘书处驻地</a:t>
            </a:r>
          </a:p>
        </p:txBody>
      </p:sp>
      <p:sp>
        <p:nvSpPr>
          <p:cNvPr id="5" name="!!s21-metric">
            <a:extLst xmlns:a="http://schemas.openxmlformats.org/drawingml/2006/main">
              <a:ext uri="{FF2B5EF4-FFF2-40B4-BE49-F238E27FC236}">
                <a16:creationId xmlns:a16="http://schemas.microsoft.com/office/drawing/2014/main" id="{AFA4AF1D-47CB-4CF9-973F-0A5399F5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6153150" cy="1057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37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3城</a:t>
            </a:r>
          </a:p>
        </p:txBody>
      </p:sp>
      <p:sp>
        <p:nvSpPr>
          <p:cNvPr id="6" name="!!s21-label">
            <a:extLst xmlns:a="http://schemas.openxmlformats.org/drawingml/2006/main">
              <a:ext uri="{FF2B5EF4-FFF2-40B4-BE49-F238E27FC236}">
                <a16:creationId xmlns:a16="http://schemas.microsoft.com/office/drawing/2014/main" id="{9D4FBCCB-8FF0-4817-BE7E-6B1393246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67175"/>
            <a:ext cx="61531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报道列出的秘书处驻地候选城市</a:t>
            </a:r>
          </a:p>
        </p:txBody>
      </p:sp>
      <p:sp>
        <p:nvSpPr>
          <p:cNvPr id="7" name="!!s21-fact-0">
            <a:extLst xmlns:a="http://schemas.openxmlformats.org/drawingml/2006/main">
              <a:ext uri="{FF2B5EF4-FFF2-40B4-BE49-F238E27FC236}">
                <a16:creationId xmlns:a16="http://schemas.microsoft.com/office/drawing/2014/main" id="{945C4F14-DC37-4587-A5FA-1C0F2A45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86300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智利继续支持瓦尔帕莱索申办</a:t>
            </a:r>
          </a:p>
        </p:txBody>
      </p:sp>
      <p:sp>
        <p:nvSpPr>
          <p:cNvPr id="8" name="!!s21-fact-1">
            <a:extLst xmlns:a="http://schemas.openxmlformats.org/drawingml/2006/main">
              <a:ext uri="{FF2B5EF4-FFF2-40B4-BE49-F238E27FC236}">
                <a16:creationId xmlns:a16="http://schemas.microsoft.com/office/drawing/2014/main" id="{FC35D03A-6BC6-418F-9A47-464A05B9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0175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候选还包括厦门与布鲁塞尔</a:t>
            </a:r>
          </a:p>
        </p:txBody>
      </p:sp>
      <p:sp>
        <p:nvSpPr>
          <p:cNvPr id="9" name="!!s21-fact-2">
            <a:extLst xmlns:a="http://schemas.openxmlformats.org/drawingml/2006/main">
              <a:ext uri="{FF2B5EF4-FFF2-40B4-BE49-F238E27FC236}">
                <a16:creationId xmlns:a16="http://schemas.microsoft.com/office/drawing/2014/main" id="{BFAB8272-2134-43D5-8CBE-69ADCC37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34050"/>
            <a:ext cx="6153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驻地仍待缔约方会议决定</a:t>
            </a:r>
          </a:p>
        </p:txBody>
      </p:sp>
      <p:pic>
        <p:nvPicPr>
          <p:cNvPr id="10" name="!!actor-photo-10">
            <a:extLst xmlns:a="http://schemas.openxmlformats.org/drawingml/2006/main">
              <a:ext uri="{FF2B5EF4-FFF2-40B4-BE49-F238E27FC236}">
                <a16:creationId xmlns:a16="http://schemas.microsoft.com/office/drawing/2014/main" id="{96F11BE9-4AA0-49FB-9E75-AFEFC505CF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032eb7b7c94fe6"/>
          <a:stretch xmlns:a="http://schemas.openxmlformats.org/drawingml/2006/main"/>
        </p:blipFill>
        <p:spPr>
          <a:xfrm xmlns:a="http://schemas.openxmlformats.org/drawingml/2006/main">
            <a:off x="7658100" y="2126456"/>
            <a:ext cx="4191000" cy="2357438"/>
          </a:xfrm>
          <a:prstGeom xmlns:a="http://schemas.openxmlformats.org/drawingml/2006/main" prst="rect">
            <a:avLst/>
          </a:prstGeom>
        </p:spPr>
      </p:pic>
      <p:sp>
        <p:nvSpPr>
          <p:cNvPr id="11" name="!!s21-caption">
            <a:extLst xmlns:a="http://schemas.openxmlformats.org/drawingml/2006/main">
              <a:ext uri="{FF2B5EF4-FFF2-40B4-BE49-F238E27FC236}">
                <a16:creationId xmlns:a16="http://schemas.microsoft.com/office/drawing/2014/main" id="{26AC2ADA-D238-4C6C-A025-2CC3A8CE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2445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原报道配图</a:t>
            </a:r>
          </a:p>
        </p:txBody>
      </p:sp>
      <p:sp>
        <p:nvSpPr>
          <p:cNvPr id="12" name="!!s21-section">
            <a:extLst xmlns:a="http://schemas.openxmlformats.org/drawingml/2006/main">
              <a:ext uri="{FF2B5EF4-FFF2-40B4-BE49-F238E27FC236}">
                <a16:creationId xmlns:a16="http://schemas.microsoft.com/office/drawing/2014/main" id="{BF3F99F5-34A7-4D74-8067-456C98B4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7340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345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10</a:t>
            </a:r>
          </a:p>
        </p:txBody>
      </p:sp>
      <p:sp>
        <p:nvSpPr>
          <p:cNvPr id="13" name="!!s21-footer">
            <a:extLst xmlns:a="http://schemas.openxmlformats.org/drawingml/2006/main">
              <a:ext uri="{FF2B5EF4-FFF2-40B4-BE49-F238E27FC236}">
                <a16:creationId xmlns:a16="http://schemas.microsoft.com/office/drawing/2014/main" id="{84E0AC12-B05A-4D17-8715-87052CC61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10096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[10] Climate Home News  2026-10-06</a:t>
            </a:r>
          </a:p>
        </p:txBody>
      </p:sp>
      <p:sp>
        <p:nvSpPr>
          <p:cNvPr id="14" name="!!s21-page">
            <a:extLst xmlns:a="http://schemas.openxmlformats.org/drawingml/2006/main">
              <a:ext uri="{FF2B5EF4-FFF2-40B4-BE49-F238E27FC236}">
                <a16:creationId xmlns:a16="http://schemas.microsoft.com/office/drawing/2014/main" id="{B89DA694-922F-4192-B710-BB7A718D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21 / 26</a:t>
            </a:r>
          </a:p>
        </p:txBody>
      </p:sp>
    </p:spTree>
    <p:extLst>
      <p:ext uri="{BB962C8B-B14F-4D97-AF65-F5344CB8AC3E}">
        <p14:creationId xmlns:p14="http://schemas.microsoft.com/office/powerpoint/2010/main" val="760143699"/>
      </p:ext>
    </p:extLst>
  </p:cSld>
  <p:transition p14: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" presetClass="entr" presetSubtype="1" accel="5000" decel="65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6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"/>
                            </p:stCondLst>
                            <p:childTnLst>
                              <p:par>
                                <p:cTn id="10" presetID="21" presetClass="entr" presetSubtype="0" accel="5000" decel="6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Scale zoomContents="1">
                                      <p:cBhvr>
                                        <p:cTn id="12" dur="540" fill="hold"/>
                                        <p:tgtEl>
                                          <p:spTgt spid="5"/>
                                        </p:tgtEl>
                                      </p:cBhvr>
                                      <p:from x="0" y="0"/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50"/>
                            </p:stCondLst>
                            <p:childTnLst>
                              <p:par>
                                <p:cTn id="15" presetID="10" presetClass="entr" presetSubtype="0" accel="5000" decel="65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accel="5000" decel="65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70"/>
                            </p:stCondLst>
                            <p:childTnLst>
                              <p:par>
                                <p:cTn id="25" presetID="10" presetClass="entr" presetSubtype="0" accel="5000" decel="65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90"/>
                            </p:stCondLst>
                            <p:childTnLst>
                              <p:par>
                                <p:cTn id="30" presetID="10" presetClass="entr" presetSubtype="0" accel="5000" decel="6500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80"/>
                            </p:stCondLst>
                            <p:childTnLst>
                              <p:par>
                                <p:cTn id="35" presetID="20" presetClass="entr" presetSubtype="2" accel="5000" decel="65000" fill="hold" grpId="6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4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1"/>
      <p:bldP spid="6" grpId="2"/>
      <p:bldP spid="7" grpId="3"/>
      <p:bldP spid="8" grpId="4"/>
      <p:bldP spid="9" grpId="5"/>
      <p:bldP spid="11" grpId="6"/>
    </p:bldLst>
  </p:timing>
</p:sld>
</file>

<file path=ppt/slides/slide22.xml><?xml version="1.0" encoding="utf-8"?>
<p:sld xmlns:a="http://schemas.openxmlformats.org/drawingml/2006/main" xmlns:a16="http://schemas.microsoft.com/office/drawing/2014/main" xmlns:r="http://schemas.openxmlformats.org/officeDocument/2006/relationships" xmlns:p="http://schemas.openxmlformats.org/presentationml/2006/main" xmlns:p159="http://schemas.microsoft.com/office/powerpoint/2015/09/main" xmlns:mc="http://schemas.openxmlformats.org/markup-compatibility/2006" xmlns:p14="http://schemas.microsoft.com/office/powerpoint/2010/main" mc:Ignorable="p159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!!actor-field-10">
            <a:extLst xmlns:a="http://schemas.openxmlformats.org/drawingml/2006/main">
              <a:ext uri="{FF2B5EF4-FFF2-40B4-BE49-F238E27FC236}">
                <a16:creationId xmlns:a16="http://schemas.microsoft.com/office/drawing/2014/main" id="{93A26886-3328-4038-99D5-1C3DFD679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629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AC47"/>
          </a:solidFill>
          <a:ln xmlns:a="http://schemas.openxmlformats.org/drawingml/2006/main" w="0">
            <a:noFill/>
          </a:ln>
        </p:spPr>
      </p:sp>
      <p:pic>
        <p:nvPicPr>
          <p:cNvPr id="2" name="!!actor-photo-10">
            <a:extLst xmlns:a="http://schemas.openxmlformats.org/drawingml/2006/main">
              <a:ext uri="{FF2B5EF4-FFF2-40B4-BE49-F238E27FC236}">
                <a16:creationId xmlns:a16="http://schemas.microsoft.com/office/drawing/2014/main" id="{13E5E1BD-8970-4B0F-98CA-F7F7C05A9BA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195f84e9d24284"/>
          <a:stretch xmlns:a="http://schemas.openxmlformats.org/drawingml/2006/main"/>
        </p:blipFill>
        <p:spPr>
          <a:xfrm xmlns:a="http://schemas.openxmlformats.org/drawingml/2006/main">
            <a:off x="381000" y="2369939"/>
            <a:ext cx="3867150" cy="2175272"/>
          </a:xfrm>
          <a:prstGeom xmlns:a="http://schemas.openxmlformats.org/drawingml/2006/main" prst="rect">
            <a:avLst/>
          </a:prstGeom>
        </p:spPr>
      </p:pic>
      <p:sp>
        <p:nvSpPr>
          <p:cNvPr id="3" name="!!s22-caption">
            <a:extLst xmlns:a="http://schemas.openxmlformats.org/drawingml/2006/main">
              <a:ext uri="{FF2B5EF4-FFF2-40B4-BE49-F238E27FC236}">
                <a16:creationId xmlns:a16="http://schemas.microsoft.com/office/drawing/2014/main" id="{C05F8A53-726E-4B66-9A3F-12E2A293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95875"/>
            <a:ext cx="3867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原报道配图</a:t>
            </a:r>
          </a:p>
        </p:txBody>
      </p:sp>
      <p:sp>
        <p:nvSpPr>
          <p:cNvPr id="4" name="!!s22-section">
            <a:extLst xmlns:a="http://schemas.openxmlformats.org/drawingml/2006/main">
              <a:ext uri="{FF2B5EF4-FFF2-40B4-BE49-F238E27FC236}">
                <a16:creationId xmlns:a16="http://schemas.microsoft.com/office/drawing/2014/main" id="{573D1951-989E-4E25-81A7-534974A5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04825"/>
            <a:ext cx="228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4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54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54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10</a:t>
            </a:r>
          </a:p>
        </p:txBody>
      </p:sp>
      <p:sp>
        <p:nvSpPr>
          <p:cNvPr id="5" name="!!actor-topic-10">
            <a:extLst xmlns:a="http://schemas.openxmlformats.org/drawingml/2006/main">
              <a:ext uri="{FF2B5EF4-FFF2-40B4-BE49-F238E27FC236}">
                <a16:creationId xmlns:a16="http://schemas.microsoft.com/office/drawing/2014/main" id="{6C9F7C6C-AAB8-4489-B3A1-10811B81F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66725"/>
            <a:ext cx="638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公海条约秘书处选址</a:t>
            </a:r>
          </a:p>
        </p:txBody>
      </p:sp>
      <p:sp>
        <p:nvSpPr>
          <p:cNvPr id="6" name="!!s22-tag">
            <a:extLst xmlns:a="http://schemas.openxmlformats.org/drawingml/2006/main">
              <a:ext uri="{FF2B5EF4-FFF2-40B4-BE49-F238E27FC236}">
                <a16:creationId xmlns:a16="http://schemas.microsoft.com/office/drawing/2014/main" id="{6D1071FD-1622-46A1-9F5B-C2878E0D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114425"/>
            <a:ext cx="59531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法治观察</a:t>
            </a:r>
          </a:p>
        </p:txBody>
      </p:sp>
      <p:sp>
        <p:nvSpPr>
          <p:cNvPr id="7" name="!!s22-question">
            <a:extLst xmlns:a="http://schemas.openxmlformats.org/drawingml/2006/main">
              <a:ext uri="{FF2B5EF4-FFF2-40B4-BE49-F238E27FC236}">
                <a16:creationId xmlns:a16="http://schemas.microsoft.com/office/drawing/2014/main" id="{92F66024-2ADE-47AA-82F8-4590D951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685925"/>
            <a:ext cx="6334125" cy="1419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公海治理机构</a:t>
            </a:r>
          </a:p>
          <a:p xmlns:a="http://schemas.openxmlformats.org/drawingml/2006/main">
            <a:pPr algn="l">
              <a:defRPr sz="42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2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怎样做到开放与有效？</a:t>
            </a:r>
          </a:p>
        </p:txBody>
      </p:sp>
      <p:sp>
        <p:nvSpPr>
          <p:cNvPr id="8" name="!!s22-rule">
            <a:extLst xmlns:a="http://schemas.openxmlformats.org/drawingml/2006/main">
              <a:ext uri="{FF2B5EF4-FFF2-40B4-BE49-F238E27FC236}">
                <a16:creationId xmlns:a16="http://schemas.microsoft.com/office/drawing/2014/main" id="{1835A4E3-1714-41F7-93B9-77A689397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314700"/>
            <a:ext cx="10668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D32"/>
          </a:solidFill>
          <a:ln xmlns:a="http://schemas.openxmlformats.org/drawingml/2006/main" w="0">
            <a:noFill/>
          </a:ln>
        </p:spPr>
      </p:sp>
      <p:sp>
        <p:nvSpPr>
          <p:cNvPr id="9" name="!!s22-analysis-0">
            <a:extLst xmlns:a="http://schemas.openxmlformats.org/drawingml/2006/main">
              <a:ext uri="{FF2B5EF4-FFF2-40B4-BE49-F238E27FC236}">
                <a16:creationId xmlns:a16="http://schemas.microsoft.com/office/drawing/2014/main" id="{345B421B-8E43-44A6-9D89-3C8BB99A2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733800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关注国家管辖范围外的生物多样性</a:t>
            </a:r>
          </a:p>
        </p:txBody>
      </p:sp>
      <p:sp>
        <p:nvSpPr>
          <p:cNvPr id="10" name="!!s22-analysis-1">
            <a:extLst xmlns:a="http://schemas.openxmlformats.org/drawingml/2006/main">
              <a:ext uri="{FF2B5EF4-FFF2-40B4-BE49-F238E27FC236}">
                <a16:creationId xmlns:a16="http://schemas.microsoft.com/office/drawing/2014/main" id="{9B019FA6-D73C-46E4-A484-A1192892D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505325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选址涉及参与成本和科学合作</a:t>
            </a:r>
          </a:p>
        </p:txBody>
      </p:sp>
      <p:sp>
        <p:nvSpPr>
          <p:cNvPr id="11" name="!!s22-analysis-2">
            <a:extLst xmlns:a="http://schemas.openxmlformats.org/drawingml/2006/main">
              <a:ext uri="{FF2B5EF4-FFF2-40B4-BE49-F238E27FC236}">
                <a16:creationId xmlns:a16="http://schemas.microsoft.com/office/drawing/2014/main" id="{2A3E6FA5-17DA-48ED-A5E3-D9A7D874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276850"/>
            <a:ext cx="63341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机构运行应支持保护措施落实</a:t>
            </a:r>
          </a:p>
        </p:txBody>
      </p:sp>
      <p:sp>
        <p:nvSpPr>
          <p:cNvPr id="12" name="!!s22-footer">
            <a:extLst xmlns:a="http://schemas.openxmlformats.org/drawingml/2006/main">
              <a:ext uri="{FF2B5EF4-FFF2-40B4-BE49-F238E27FC236}">
                <a16:creationId xmlns:a16="http://schemas.microsoft.com/office/drawing/2014/main" id="{4239E6F0-E294-4D70-A9AA-A856B0A0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467475"/>
            <a:ext cx="38671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2026年10月6日至12日</a:t>
            </a:r>
          </a:p>
        </p:txBody>
      </p:sp>
      <p:sp>
        <p:nvSpPr>
          <p:cNvPr id="13" name="!!s22-footer-paper">
            <a:extLst xmlns:a="http://schemas.openxmlformats.org/drawingml/2006/main">
              <a:ext uri="{FF2B5EF4-FFF2-40B4-BE49-F238E27FC236}">
                <a16:creationId xmlns:a16="http://schemas.microsoft.com/office/drawing/2014/main" id="{9DC6B192-4C0E-4D41-85A3-6867A1960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6467475"/>
            <a:ext cx="5715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本组法治观察  事实来源见前页</a:t>
            </a:r>
          </a:p>
        </p:txBody>
      </p:sp>
      <p:sp>
        <p:nvSpPr>
          <p:cNvPr id="14" name="!!s22-page-paper">
            <a:extLst xmlns:a="http://schemas.openxmlformats.org/drawingml/2006/main">
              <a:ext uri="{FF2B5EF4-FFF2-40B4-BE49-F238E27FC236}">
                <a16:creationId xmlns:a16="http://schemas.microsoft.com/office/drawing/2014/main" id="{79E378AB-DB13-4247-A687-BCEECA98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22 / 26</a:t>
            </a:r>
          </a:p>
        </p:txBody>
      </p:sp>
    </p:spTree>
    <p:extLst>
      <p:ext uri="{BB962C8B-B14F-4D97-AF65-F5344CB8AC3E}">
        <p14:creationId xmlns:p14="http://schemas.microsoft.com/office/powerpoint/2010/main" val="1882682513"/>
      </p:ext>
    </p:extLst>
  </p:cSld>
  <mc:AlternateContent>
    <mc:Choice Requires="p159">
      <p:transition xmlns:p159="http://schemas.microsoft.com/office/powerpoint/2015/09/main" p14:dur="11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90"/>
                            </p:stCondLst>
                            <p:childTnLst>
                              <p:par>
                                <p:cTn id="3" presetID="10" presetClass="entr" presetSubtype="0" fill="hold" grpId="0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"/>
                            </p:stCondLst>
                            <p:childTnLst>
                              <p:par>
                                <p:cTn id="9" presetID="2" presetClass="entr" presetSubtype="1" fill="hold" grpId="1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30"/>
                            </p:stCondLst>
                            <p:childTnLst>
                              <p:par>
                                <p:cTn id="15" presetID="20" presetClass="entr" presetSubtype="2" fill="hold" grpId="2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"/>
                            </p:stCondLst>
                            <p:childTnLst>
                              <p:par>
                                <p:cTn id="20" presetID="10" presetClass="entr" presetSubtype="0" fill="hold" grpId="3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480"/>
                            </p:stCondLst>
                            <p:childTnLst>
                              <p:par>
                                <p:cTn id="25" presetID="10" presetClass="entr" presetSubtype="0" fill="hold" grpId="4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610"/>
                            </p:stCondLst>
                            <p:childTnLst>
                              <p:par>
                                <p:cTn id="30" presetID="10" presetClass="entr" presetSubtype="0" fill="hold" grpId="5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1"/>
      <p:bldP spid="8" grpId="2"/>
      <p:bldP spid="9" grpId="3"/>
      <p:bldP spid="10" grpId="4"/>
      <p:bldP spid="11" grpId="5"/>
    </p:bldLst>
  </p:timing>
</p:sld>
</file>

<file path=ppt/slides/slide23.xml><?xml version="1.0" encoding="utf-8"?>
<p:sld xmlns:a="http://schemas.openxmlformats.org/drawingml/2006/main" xmlns:a16="http://schemas.microsoft.com/office/drawing/2014/main" xmlns:p14="http://schemas.microsoft.com/office/powerpoint/2010/main" xmlns:p="http://schemas.openxmlformats.org/presentationml/2006/main">
  <p:cSld>
    <p:bg>
      <p:bgPr>
        <a:solidFill xmlns:a="http://schemas.openxmlformats.org/drawingml/2006/main">
          <a:srgbClr val="D7AC4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23-green-field">
            <a:extLst xmlns:a="http://schemas.openxmlformats.org/drawingml/2006/main">
              <a:ext uri="{FF2B5EF4-FFF2-40B4-BE49-F238E27FC236}">
                <a16:creationId xmlns:a16="http://schemas.microsoft.com/office/drawing/2014/main" id="{E09D0FA3-16FF-4179-B667-757700BB8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229225"/>
            <a:ext cx="12192000" cy="1628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056"/>
          </a:solidFill>
          <a:ln xmlns:a="http://schemas.openxmlformats.org/drawingml/2006/main" w="0">
            <a:noFill/>
          </a:ln>
        </p:spPr>
      </p:sp>
      <p:sp>
        <p:nvSpPr>
          <p:cNvPr id="2" name="s23-title">
            <a:extLst xmlns:a="http://schemas.openxmlformats.org/drawingml/2006/main">
              <a:ext uri="{FF2B5EF4-FFF2-40B4-BE49-F238E27FC236}">
                <a16:creationId xmlns:a16="http://schemas.microsoft.com/office/drawing/2014/main" id="{CEB61B19-FA36-4EE9-9F0A-EC81B84B5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572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510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510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海洋治理的成效</a:t>
            </a:r>
          </a:p>
        </p:txBody>
      </p:sp>
      <p:sp>
        <p:nvSpPr>
          <p:cNvPr id="3" name="s23-point-0">
            <a:extLst xmlns:a="http://schemas.openxmlformats.org/drawingml/2006/main">
              <a:ext uri="{FF2B5EF4-FFF2-40B4-BE49-F238E27FC236}">
                <a16:creationId xmlns:a16="http://schemas.microsoft.com/office/drawing/2014/main" id="{F146C715-0A80-46FC-A6DA-08CA7485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431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0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2850" b="0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2850" b="0">
                <a:solidFill>
                  <a:srgbClr val="223E37"/>
                </a:solidFill>
                <a:latin typeface="SimSun"/>
                <a:ea typeface="SimSun"/>
                <a:cs typeface="SimSun"/>
              </a:rPr>
              <a:t>责任有没有落实到实际行为</a:t>
            </a:r>
          </a:p>
        </p:txBody>
      </p:sp>
      <p:sp>
        <p:nvSpPr>
          <p:cNvPr id="4" name="s23-point-1">
            <a:extLst xmlns:a="http://schemas.openxmlformats.org/drawingml/2006/main">
              <a:ext uri="{FF2B5EF4-FFF2-40B4-BE49-F238E27FC236}">
                <a16:creationId xmlns:a16="http://schemas.microsoft.com/office/drawing/2014/main" id="{02913322-99C7-426D-B762-025136B2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194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0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2850" b="0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2850" b="0">
                <a:solidFill>
                  <a:srgbClr val="223E37"/>
                </a:solidFill>
                <a:latin typeface="SimSun"/>
                <a:ea typeface="SimSun"/>
                <a:cs typeface="SimSun"/>
              </a:rPr>
              <a:t>程序有没有留下可核查记录</a:t>
            </a:r>
          </a:p>
        </p:txBody>
      </p:sp>
      <p:sp>
        <p:nvSpPr>
          <p:cNvPr id="5" name="s23-point-2">
            <a:extLst xmlns:a="http://schemas.openxmlformats.org/drawingml/2006/main">
              <a:ext uri="{FF2B5EF4-FFF2-40B4-BE49-F238E27FC236}">
                <a16:creationId xmlns:a16="http://schemas.microsoft.com/office/drawing/2014/main" id="{95008D9A-9149-4065-9A44-14FAB76A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285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海洋环境与安全有没有改善</a:t>
            </a:r>
          </a:p>
        </p:txBody>
      </p:sp>
      <p:sp>
        <p:nvSpPr>
          <p:cNvPr id="6" name="s23-thanks">
            <a:extLst xmlns:a="http://schemas.openxmlformats.org/drawingml/2006/main">
              <a:ext uri="{FF2B5EF4-FFF2-40B4-BE49-F238E27FC236}">
                <a16:creationId xmlns:a16="http://schemas.microsoft.com/office/drawing/2014/main" id="{37367E3C-3633-4D3B-86EB-397BC1972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05475"/>
            <a:ext cx="10668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感谢聆听  欢迎讨论</a:t>
            </a:r>
          </a:p>
        </p:txBody>
      </p:sp>
      <p:sp>
        <p:nvSpPr>
          <p:cNvPr id="7" name="s23-footer">
            <a:extLst xmlns:a="http://schemas.openxmlformats.org/drawingml/2006/main">
              <a:ext uri="{FF2B5EF4-FFF2-40B4-BE49-F238E27FC236}">
                <a16:creationId xmlns:a16="http://schemas.microsoft.com/office/drawing/2014/main" id="{CB79C2CC-6988-4AE4-A52E-C7CCE8B4A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10096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2026年10月6日至12日</a:t>
            </a:r>
          </a:p>
        </p:txBody>
      </p:sp>
      <p:sp>
        <p:nvSpPr>
          <p:cNvPr id="8" name="s23-page">
            <a:extLst xmlns:a="http://schemas.openxmlformats.org/drawingml/2006/main">
              <a:ext uri="{FF2B5EF4-FFF2-40B4-BE49-F238E27FC236}">
                <a16:creationId xmlns:a16="http://schemas.microsoft.com/office/drawing/2014/main" id="{48D9ADB0-A253-479D-86DB-A9390CF76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23 / 26</a:t>
            </a:r>
          </a:p>
        </p:txBody>
      </p:sp>
    </p:spTree>
    <p:extLst>
      <p:ext uri="{BB962C8B-B14F-4D97-AF65-F5344CB8AC3E}">
        <p14:creationId xmlns:p14="http://schemas.microsoft.com/office/powerpoint/2010/main" val="702658792"/>
      </p:ext>
    </p:extLst>
  </p:cSld>
  <p:transition p14: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180"/>
                            </p:stCondLst>
                            <p:childTnLst>
                              <p:par>
                                <p:cTn id="3" presetID="2" presetClass="entr" presetSubtype="1" fill="hold" grpId="0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4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60"/>
                            </p:stCondLst>
                            <p:childTnLst>
                              <p:par>
                                <p:cTn id="10" presetID="2" presetClass="entr" presetSubtype="1" fill="hold" grpId="1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4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40"/>
                            </p:stCondLst>
                            <p:childTnLst>
                              <p:par>
                                <p:cTn id="16" presetID="2" presetClass="entr" presetSubtype="1" fill="hold" grpId="2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4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0" presetClass="entr" presetSubtype="2" fill="hold" grpId="3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1"/>
      <p:bldP spid="5" grpId="2"/>
      <p:bldP spid="2" grpId="3"/>
    </p:bldLst>
  </p:timing>
</p:sld>
</file>

<file path=ppt/slides/slide24.xml><?xml version="1.0" encoding="utf-8"?>
<p:sld xmlns:a="http://schemas.openxmlformats.org/drawingml/2006/main" xmlns:a16="http://schemas.microsoft.com/office/drawing/2014/main" xmlns:r="http://schemas.openxmlformats.org/officeDocument/2006/relationships" xmlns:p14="http://schemas.microsoft.com/office/powerpoint/2010/main" xmlns:p="http://schemas.openxmlformats.org/presentationml/2006/main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24-red-field">
            <a:extLst xmlns:a="http://schemas.openxmlformats.org/drawingml/2006/main">
              <a:ext uri="{FF2B5EF4-FFF2-40B4-BE49-F238E27FC236}">
                <a16:creationId xmlns:a16="http://schemas.microsoft.com/office/drawing/2014/main" id="{EE3C995A-CECA-47E3-9137-6501BFB4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D32"/>
          </a:solidFill>
          <a:ln xmlns:a="http://schemas.openxmlformats.org/drawingml/2006/main" w="0">
            <a:noFill/>
          </a:ln>
        </p:spPr>
      </p:sp>
      <p:sp>
        <p:nvSpPr>
          <p:cNvPr id="2" name="s24-title">
            <a:extLst xmlns:a="http://schemas.openxmlformats.org/drawingml/2006/main">
              <a:ext uri="{FF2B5EF4-FFF2-40B4-BE49-F238E27FC236}">
                <a16:creationId xmlns:a16="http://schemas.microsoft.com/office/drawing/2014/main" id="{2A9D41CE-62A5-4468-9F59-43A8D333E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125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125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pPr>
            <a:r>
              <a:rPr sz="4125" b="1">
                <a:solidFill>
                  <a:srgbClr val="F3E7CD"/>
                </a:solidFill>
                <a:latin typeface="SimSun"/>
                <a:ea typeface="SimSun"/>
                <a:cs typeface="SimSun"/>
              </a:rPr>
              <a:t>新闻来源与核查入口</a:t>
            </a:r>
          </a:p>
        </p:txBody>
      </p:sp>
      <p:sp>
        <p:nvSpPr>
          <p:cNvPr id="3" name="s24-ref-1">
            <a:extLst xmlns:a="http://schemas.openxmlformats.org/drawingml/2006/main">
              <a:ext uri="{FF2B5EF4-FFF2-40B4-BE49-F238E27FC236}">
                <a16:creationId xmlns:a16="http://schemas.microsoft.com/office/drawing/2014/main" id="{7F88571B-4EFF-417A-9076-C512EF01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01  三亚红树林保护区整治</a:t>
            </a:r>
          </a:p>
        </p:txBody>
      </p:sp>
      <p:sp>
        <p:nvSpPr>
          <p:cNvPr id="4" name="s24-link-1">
            <a:hlinkClick xmlns:r="http://schemas.openxmlformats.org/officeDocument/2006/relationships" xmlns:a="http://schemas.openxmlformats.org/drawingml/2006/main" r:id="R0bd05005c2d54c17"/>
            <a:extLst xmlns:a="http://schemas.openxmlformats.org/drawingml/2006/main">
              <a:ext uri="{FF2B5EF4-FFF2-40B4-BE49-F238E27FC236}">
                <a16:creationId xmlns:a16="http://schemas.microsoft.com/office/drawing/2014/main" id="{03208525-3CA2-4178-9696-D778F06A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57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2026-10-08  澎湃新闻 转引三亚日报  </a:t>
            </a:r>
            <a:r>
              <a:rPr sz="1500" b="0" u="sng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点击查看原文</a:t>
            </a:r>
          </a:p>
        </p:txBody>
      </p:sp>
      <p:sp>
        <p:nvSpPr>
          <p:cNvPr id="5" name="s24-ref-2">
            <a:extLst xmlns:a="http://schemas.openxmlformats.org/drawingml/2006/main">
              <a:ext uri="{FF2B5EF4-FFF2-40B4-BE49-F238E27FC236}">
                <a16:creationId xmlns:a16="http://schemas.microsoft.com/office/drawing/2014/main" id="{0018331D-7025-40E9-AA1B-8BE2F41DA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02  连江无居民海岛保护</a:t>
            </a:r>
          </a:p>
        </p:txBody>
      </p:sp>
      <p:sp>
        <p:nvSpPr>
          <p:cNvPr id="6" name="s24-link-2">
            <a:hlinkClick xmlns:r="http://schemas.openxmlformats.org/officeDocument/2006/relationships" xmlns:a="http://schemas.openxmlformats.org/drawingml/2006/main" r:id="Ra78d44fb58c54ea2"/>
            <a:extLst xmlns:a="http://schemas.openxmlformats.org/drawingml/2006/main">
              <a:ext uri="{FF2B5EF4-FFF2-40B4-BE49-F238E27FC236}">
                <a16:creationId xmlns:a16="http://schemas.microsoft.com/office/drawing/2014/main" id="{0923547F-06DD-406B-8179-46CEFFE60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1057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2026-10-09  福州新闻网  </a:t>
            </a:r>
            <a:r>
              <a:rPr sz="1500" b="0" u="sng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点击查看原文</a:t>
            </a:r>
          </a:p>
        </p:txBody>
      </p:sp>
      <p:sp>
        <p:nvSpPr>
          <p:cNvPr id="7" name="s24-ref-3">
            <a:extLst xmlns:a="http://schemas.openxmlformats.org/drawingml/2006/main">
              <a:ext uri="{FF2B5EF4-FFF2-40B4-BE49-F238E27FC236}">
                <a16:creationId xmlns:a16="http://schemas.microsoft.com/office/drawing/2014/main" id="{20F9308B-E116-430A-A70D-D888D929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03  宁德海洋生态修复</a:t>
            </a:r>
          </a:p>
        </p:txBody>
      </p:sp>
      <p:sp>
        <p:nvSpPr>
          <p:cNvPr id="8" name="s24-link-3">
            <a:hlinkClick xmlns:r="http://schemas.openxmlformats.org/officeDocument/2006/relationships" xmlns:a="http://schemas.openxmlformats.org/drawingml/2006/main" r:id="R2b44648c3b0a4fc4"/>
            <a:extLst xmlns:a="http://schemas.openxmlformats.org/drawingml/2006/main">
              <a:ext uri="{FF2B5EF4-FFF2-40B4-BE49-F238E27FC236}">
                <a16:creationId xmlns:a16="http://schemas.microsoft.com/office/drawing/2014/main" id="{04CD35C3-FB87-452F-96CB-7F623DA8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1057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2026-10-10  中国水运网 新浪财经转载  </a:t>
            </a:r>
            <a:r>
              <a:rPr sz="1500" b="0" u="sng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点击查看原文</a:t>
            </a:r>
          </a:p>
        </p:txBody>
      </p:sp>
      <p:sp>
        <p:nvSpPr>
          <p:cNvPr id="9" name="s24-ref-4">
            <a:extLst xmlns:a="http://schemas.openxmlformats.org/drawingml/2006/main">
              <a:ext uri="{FF2B5EF4-FFF2-40B4-BE49-F238E27FC236}">
                <a16:creationId xmlns:a16="http://schemas.microsoft.com/office/drawing/2014/main" id="{6DF25B14-4E41-46D9-A095-D47D4A006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04  天津固体散装货物监管</a:t>
            </a:r>
          </a:p>
        </p:txBody>
      </p:sp>
      <p:sp>
        <p:nvSpPr>
          <p:cNvPr id="10" name="s24-link-4">
            <a:hlinkClick xmlns:r="http://schemas.openxmlformats.org/officeDocument/2006/relationships" xmlns:a="http://schemas.openxmlformats.org/drawingml/2006/main" r:id="Ra481bc9e21744177"/>
            <a:extLst xmlns:a="http://schemas.openxmlformats.org/drawingml/2006/main">
              <a:ext uri="{FF2B5EF4-FFF2-40B4-BE49-F238E27FC236}">
                <a16:creationId xmlns:a16="http://schemas.microsoft.com/office/drawing/2014/main" id="{94EBA0DA-4218-4687-AA55-1398AACC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1057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2026-10-07  中国交通报 中国交通新闻网  </a:t>
            </a:r>
            <a:r>
              <a:rPr sz="1500" b="0" u="sng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点击查看原文</a:t>
            </a:r>
          </a:p>
        </p:txBody>
      </p:sp>
      <p:sp>
        <p:nvSpPr>
          <p:cNvPr id="11" name="s24-ref-5">
            <a:extLst xmlns:a="http://schemas.openxmlformats.org/drawingml/2006/main">
              <a:ext uri="{FF2B5EF4-FFF2-40B4-BE49-F238E27FC236}">
                <a16:creationId xmlns:a16="http://schemas.microsoft.com/office/drawing/2014/main" id="{839EB0BF-6082-4B1A-B834-531CA43D2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05  潮州港民生物资保畅</a:t>
            </a:r>
          </a:p>
        </p:txBody>
      </p:sp>
      <p:sp>
        <p:nvSpPr>
          <p:cNvPr id="12" name="s24-link-5">
            <a:hlinkClick xmlns:r="http://schemas.openxmlformats.org/officeDocument/2006/relationships" xmlns:a="http://schemas.openxmlformats.org/drawingml/2006/main" r:id="R64897537911c4e7d"/>
            <a:extLst xmlns:a="http://schemas.openxmlformats.org/drawingml/2006/main">
              <a:ext uri="{FF2B5EF4-FFF2-40B4-BE49-F238E27FC236}">
                <a16:creationId xmlns:a16="http://schemas.microsoft.com/office/drawing/2014/main" id="{2E19721D-C059-48CB-B577-167A641E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86425"/>
            <a:ext cx="1057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2026-10-09  羊城派 21经济网转载  </a:t>
            </a:r>
            <a:r>
              <a:rPr sz="1500" b="0" u="sng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点击查看原文</a:t>
            </a:r>
          </a:p>
        </p:txBody>
      </p:sp>
      <p:sp>
        <p:nvSpPr>
          <p:cNvPr id="13" name="s24-footer">
            <a:extLst xmlns:a="http://schemas.openxmlformats.org/drawingml/2006/main">
              <a:ext uri="{FF2B5EF4-FFF2-40B4-BE49-F238E27FC236}">
                <a16:creationId xmlns:a16="http://schemas.microsoft.com/office/drawing/2014/main" id="{0AA54671-676A-4A4D-A4B4-9E251D4A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10096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核查截至2026年10月12日  原文链接亦收录于演讲稿</a:t>
            </a:r>
          </a:p>
        </p:txBody>
      </p:sp>
      <p:sp>
        <p:nvSpPr>
          <p:cNvPr id="14" name="s24-page">
            <a:extLst xmlns:a="http://schemas.openxmlformats.org/drawingml/2006/main">
              <a:ext uri="{FF2B5EF4-FFF2-40B4-BE49-F238E27FC236}">
                <a16:creationId xmlns:a16="http://schemas.microsoft.com/office/drawing/2014/main" id="{40B6E729-1AFE-4448-8D8D-EF0E787E6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24 / 26</a:t>
            </a:r>
          </a:p>
        </p:txBody>
      </p:sp>
    </p:spTree>
    <p:extLst>
      <p:ext uri="{BB962C8B-B14F-4D97-AF65-F5344CB8AC3E}">
        <p14:creationId xmlns:p14="http://schemas.microsoft.com/office/powerpoint/2010/main" val="1427857176"/>
      </p:ext>
    </p:extLst>
  </p:cSld>
  <p:transition p14: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fill="hold" grpId="1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80"/>
                            </p:stCondLst>
                            <p:childTnLst>
                              <p:par>
                                <p:cTn id="14" presetID="10" presetClass="entr" presetSubtype="0" fill="hold" grpId="2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70"/>
                            </p:stCondLst>
                            <p:childTnLst>
                              <p:par>
                                <p:cTn id="19" presetID="10" presetClass="entr" presetSubtype="0" fill="hold" grpId="3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60"/>
                            </p:stCondLst>
                            <p:childTnLst>
                              <p:par>
                                <p:cTn id="24" presetID="10" presetClass="entr" presetSubtype="0" fill="hold" grpId="4" nodeType="withEffect" accel="5000" decel="65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1"/>
      <p:bldP spid="7" grpId="2"/>
      <p:bldP spid="9" grpId="3"/>
      <p:bldP spid="11" grpId="4"/>
    </p:bldLst>
  </p:timing>
</p:sld>
</file>

<file path=ppt/slides/slide25.xml><?xml version="1.0" encoding="utf-8"?>
<p:sld xmlns:a="http://schemas.openxmlformats.org/drawingml/2006/main" xmlns:a16="http://schemas.microsoft.com/office/drawing/2014/main" xmlns:r="http://schemas.openxmlformats.org/officeDocument/2006/relationships" xmlns:p14="http://schemas.microsoft.com/office/powerpoint/2010/main" xmlns:p="http://schemas.openxmlformats.org/presentationml/2006/main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25-red-field">
            <a:extLst xmlns:a="http://schemas.openxmlformats.org/drawingml/2006/main">
              <a:ext uri="{FF2B5EF4-FFF2-40B4-BE49-F238E27FC236}">
                <a16:creationId xmlns:a16="http://schemas.microsoft.com/office/drawing/2014/main" id="{6C67FB47-2F7E-412A-A788-B4FF854E4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23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4D32"/>
          </a:solidFill>
          <a:ln xmlns:a="http://schemas.openxmlformats.org/drawingml/2006/main" w="0">
            <a:noFill/>
          </a:ln>
        </p:spPr>
      </p:sp>
      <p:sp>
        <p:nvSpPr>
          <p:cNvPr id="2" name="s25-title">
            <a:extLst xmlns:a="http://schemas.openxmlformats.org/drawingml/2006/main">
              <a:ext uri="{FF2B5EF4-FFF2-40B4-BE49-F238E27FC236}">
                <a16:creationId xmlns:a16="http://schemas.microsoft.com/office/drawing/2014/main" id="{3916D495-DE87-44AB-9838-D9ACFF68B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53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125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125" b="1">
                <a:solidFill>
                  <a:srgbClr val="F3E7CD"/>
                </a:solidFill>
                <a:latin typeface="SimSun"/>
                <a:ea typeface="SimSun"/>
                <a:cs typeface="SimSun"/>
              </a:defRPr>
            </a:pPr>
            <a:r>
              <a:rPr sz="4125" b="1">
                <a:solidFill>
                  <a:srgbClr val="F3E7CD"/>
                </a:solidFill>
                <a:latin typeface="SimSun"/>
                <a:ea typeface="SimSun"/>
                <a:cs typeface="SimSun"/>
              </a:rPr>
              <a:t>新闻来源与核查入口</a:t>
            </a:r>
          </a:p>
        </p:txBody>
      </p:sp>
      <p:sp>
        <p:nvSpPr>
          <p:cNvPr id="3" name="s25-ref-6">
            <a:extLst xmlns:a="http://schemas.openxmlformats.org/drawingml/2006/main">
              <a:ext uri="{FF2B5EF4-FFF2-40B4-BE49-F238E27FC236}">
                <a16:creationId xmlns:a16="http://schemas.microsoft.com/office/drawing/2014/main" id="{F165977F-AE85-4EFF-BC0F-693D379E4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06  金塘港区LNG加注</a:t>
            </a:r>
          </a:p>
        </p:txBody>
      </p:sp>
      <p:sp>
        <p:nvSpPr>
          <p:cNvPr id="4" name="s25-link-6">
            <a:hlinkClick xmlns:r="http://schemas.openxmlformats.org/officeDocument/2006/relationships" xmlns:a="http://schemas.openxmlformats.org/drawingml/2006/main" r:id="R743fbfb33178489e"/>
            <a:extLst xmlns:a="http://schemas.openxmlformats.org/drawingml/2006/main">
              <a:ext uri="{FF2B5EF4-FFF2-40B4-BE49-F238E27FC236}">
                <a16:creationId xmlns:a16="http://schemas.microsoft.com/office/drawing/2014/main" id="{ABEEDF28-0FF1-4CAE-A85B-AD6DE1BC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57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2026-10-06  中国交通报 中国交通新闻网  </a:t>
            </a:r>
            <a:r>
              <a:rPr sz="1500" b="0" u="sng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点击查看原文</a:t>
            </a:r>
          </a:p>
        </p:txBody>
      </p:sp>
      <p:sp>
        <p:nvSpPr>
          <p:cNvPr id="5" name="s25-ref-7">
            <a:extLst xmlns:a="http://schemas.openxmlformats.org/drawingml/2006/main">
              <a:ext uri="{FF2B5EF4-FFF2-40B4-BE49-F238E27FC236}">
                <a16:creationId xmlns:a16="http://schemas.microsoft.com/office/drawing/2014/main" id="{A087B3A2-D033-48DE-A5E6-241AFC5A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07  海洋地球工程研究框架</a:t>
            </a:r>
          </a:p>
        </p:txBody>
      </p:sp>
      <p:sp>
        <p:nvSpPr>
          <p:cNvPr id="6" name="s25-link-7">
            <a:hlinkClick xmlns:r="http://schemas.openxmlformats.org/officeDocument/2006/relationships" xmlns:a="http://schemas.openxmlformats.org/drawingml/2006/main" r:id="R80cfcd84a21d43f1"/>
            <a:extLst xmlns:a="http://schemas.openxmlformats.org/drawingml/2006/main">
              <a:ext uri="{FF2B5EF4-FFF2-40B4-BE49-F238E27FC236}">
                <a16:creationId xmlns:a16="http://schemas.microsoft.com/office/drawing/2014/main" id="{788BFBA1-6125-4D0D-8061-9885999F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1057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2026-10-09  国际海事组织 IMO  </a:t>
            </a:r>
            <a:r>
              <a:rPr sz="1500" b="0" u="sng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点击查看原文</a:t>
            </a:r>
          </a:p>
        </p:txBody>
      </p:sp>
      <p:sp>
        <p:nvSpPr>
          <p:cNvPr id="7" name="s25-ref-8">
            <a:extLst xmlns:a="http://schemas.openxmlformats.org/drawingml/2006/main">
              <a:ext uri="{FF2B5EF4-FFF2-40B4-BE49-F238E27FC236}">
                <a16:creationId xmlns:a16="http://schemas.microsoft.com/office/drawing/2014/main" id="{60797650-C393-4F57-9014-04129850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08  地中海污染合作五十年</a:t>
            </a:r>
          </a:p>
        </p:txBody>
      </p:sp>
      <p:sp>
        <p:nvSpPr>
          <p:cNvPr id="8" name="s25-link-8">
            <a:hlinkClick xmlns:r="http://schemas.openxmlformats.org/officeDocument/2006/relationships" xmlns:a="http://schemas.openxmlformats.org/drawingml/2006/main" r:id="Rd57a479a09684c4e"/>
            <a:extLst xmlns:a="http://schemas.openxmlformats.org/drawingml/2006/main">
              <a:ext uri="{FF2B5EF4-FFF2-40B4-BE49-F238E27FC236}">
                <a16:creationId xmlns:a16="http://schemas.microsoft.com/office/drawing/2014/main" id="{2E38D7A0-3CA1-4EE6-A231-5685C90C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1057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2026-10-06  国际海事组织 IMO  </a:t>
            </a:r>
            <a:r>
              <a:rPr sz="1500" b="0" u="sng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点击查看原文</a:t>
            </a:r>
          </a:p>
        </p:txBody>
      </p:sp>
      <p:sp>
        <p:nvSpPr>
          <p:cNvPr id="9" name="s25-ref-9">
            <a:extLst xmlns:a="http://schemas.openxmlformats.org/drawingml/2006/main">
              <a:ext uri="{FF2B5EF4-FFF2-40B4-BE49-F238E27FC236}">
                <a16:creationId xmlns:a16="http://schemas.microsoft.com/office/drawing/2014/main" id="{E365E49E-9AB1-41EE-8E4E-1EFF0875A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09  塞内加尔海运单一窗口</a:t>
            </a:r>
          </a:p>
        </p:txBody>
      </p:sp>
      <p:sp>
        <p:nvSpPr>
          <p:cNvPr id="10" name="s25-link-9">
            <a:hlinkClick xmlns:r="http://schemas.openxmlformats.org/officeDocument/2006/relationships" xmlns:a="http://schemas.openxmlformats.org/drawingml/2006/main" r:id="Re7f20638bb14478f"/>
            <a:extLst xmlns:a="http://schemas.openxmlformats.org/drawingml/2006/main">
              <a:ext uri="{FF2B5EF4-FFF2-40B4-BE49-F238E27FC236}">
                <a16:creationId xmlns:a16="http://schemas.microsoft.com/office/drawing/2014/main" id="{6C0C068D-AB45-4B65-87D2-82732FCA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1057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2026-10-09  国际海事组织 IMO  </a:t>
            </a:r>
            <a:r>
              <a:rPr sz="1500" b="0" u="sng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点击查看原文</a:t>
            </a:r>
          </a:p>
        </p:txBody>
      </p:sp>
      <p:sp>
        <p:nvSpPr>
          <p:cNvPr id="11" name="s25-ref-10">
            <a:extLst xmlns:a="http://schemas.openxmlformats.org/drawingml/2006/main">
              <a:ext uri="{FF2B5EF4-FFF2-40B4-BE49-F238E27FC236}">
                <a16:creationId xmlns:a16="http://schemas.microsoft.com/office/drawing/2014/main" id="{A3DA06DC-C05D-453C-B28C-FF7C9594D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4827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223E37"/>
                </a:solidFill>
                <a:latin typeface="Microsoft YaHei"/>
                <a:ea typeface="Microsoft YaHei"/>
                <a:cs typeface="Microsoft YaHei"/>
              </a:rPr>
              <a:t>10  公海条约秘书处选址</a:t>
            </a:r>
          </a:p>
        </p:txBody>
      </p:sp>
      <p:sp>
        <p:nvSpPr>
          <p:cNvPr id="12" name="s25-link-10">
            <a:hlinkClick xmlns:r="http://schemas.openxmlformats.org/officeDocument/2006/relationships" xmlns:a="http://schemas.openxmlformats.org/drawingml/2006/main" r:id="Rfc8c8c23a06f4c97"/>
            <a:extLst xmlns:a="http://schemas.openxmlformats.org/drawingml/2006/main">
              <a:ext uri="{FF2B5EF4-FFF2-40B4-BE49-F238E27FC236}">
                <a16:creationId xmlns:a16="http://schemas.microsoft.com/office/drawing/2014/main" id="{D6993C2A-D2B8-49B3-B266-430CA9B6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86425"/>
            <a:ext cx="1057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2026-10-06  Climate Home News  </a:t>
            </a:r>
            <a:r>
              <a:rPr sz="1500" b="0" u="sng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点击查看原文</a:t>
            </a:r>
          </a:p>
        </p:txBody>
      </p:sp>
      <p:sp>
        <p:nvSpPr>
          <p:cNvPr id="13" name="s25-footer">
            <a:extLst xmlns:a="http://schemas.openxmlformats.org/drawingml/2006/main">
              <a:ext uri="{FF2B5EF4-FFF2-40B4-BE49-F238E27FC236}">
                <a16:creationId xmlns:a16="http://schemas.microsoft.com/office/drawing/2014/main" id="{D3C69A29-3DBE-4179-A942-D10F517D3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67475"/>
            <a:ext cx="10096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核查截至2026年10月12日  原文链接亦收录于演讲稿</a:t>
            </a:r>
          </a:p>
        </p:txBody>
      </p:sp>
      <p:sp>
        <p:nvSpPr>
          <p:cNvPr id="14" name="s25-page">
            <a:extLst xmlns:a="http://schemas.openxmlformats.org/drawingml/2006/main">
              <a:ext uri="{FF2B5EF4-FFF2-40B4-BE49-F238E27FC236}">
                <a16:creationId xmlns:a16="http://schemas.microsoft.com/office/drawing/2014/main" id="{86E5C187-B88B-40C3-AFB6-1C5BA99C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467475"/>
            <a:ext cx="857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53645A"/>
                </a:solidFill>
                <a:latin typeface="Microsoft YaHei"/>
                <a:ea typeface="Microsoft YaHei"/>
                <a:cs typeface="Microsoft YaHei"/>
              </a:rPr>
              <a:t>25 / 26</a:t>
            </a:r>
          </a:p>
        </p:txBody>
      </p:sp>
    </p:spTree>
    <p:extLst>
      <p:ext uri="{BB962C8B-B14F-4D97-AF65-F5344CB8AC3E}">
        <p14:creationId xmlns:p14="http://schemas.microsoft.com/office/powerpoint/2010/main" val="1459893847"/>
      </p:ext>
    </p:extLst>
  </p:cSld>
  <p:transition p14:dur="6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accel="5000" decel="65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90"/>
                            </p:stCondLst>
                            <p:childTnLst>
                              <p:par>
                                <p:cTn id="9" presetID="10" presetClass="entr" presetSubtype="0" accel="5000" decel="6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80"/>
                            </p:stCondLst>
                            <p:childTnLst>
                              <p:par>
                                <p:cTn id="14" presetID="10" presetClass="entr" presetSubtype="0" accel="5000" decel="65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70"/>
                            </p:stCondLst>
                            <p:childTnLst>
                              <p:par>
                                <p:cTn id="19" presetID="10" presetClass="entr" presetSubtype="0" accel="5000" decel="6500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60"/>
                            </p:stCondLst>
                            <p:childTnLst>
                              <p:par>
                                <p:cTn id="24" presetID="10" presetClass="entr" presetSubtype="0" accel="5000" decel="6500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1"/>
      <p:bldP spid="7" grpId="2"/>
      <p:bldP spid="9" grpId="3"/>
      <p:bldP spid="11" grpId="4"/>
    </p:bldLst>
  </p:timing>
</p:sld>
</file>

<file path=ppt/slides/slide26.xml><?xml version="1.0" encoding="utf-8"?>
<p:sld xmlns:r="http://schemas.openxmlformats.org/officeDocument/2006/relationships" xmlns:a="http://schemas.openxmlformats.org/drawingml/2006/main" xmlns:a16="http://schemas.microsoft.com/office/drawing/2014/main" xmlns:p14="http://schemas.microsoft.com/office/powerpoint/2010/main" xmlns:p="http://schemas.openxmlformats.org/presentationml/2006/main">
  <p:cSld>
    <p:bg>
      <p:bgPr>
        <a:solidFill xmlns:a="http://schemas.openxmlformats.org/drawingml/2006/main">
          <a:srgbClr val="F3E7C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26-green-field">
            <a:extLst xmlns:a="http://schemas.openxmlformats.org/drawingml/2006/main">
              <a:ext uri="{FF2B5EF4-FFF2-40B4-BE49-F238E27FC236}">
                <a16:creationId xmlns:a16="http://schemas.microsoft.com/office/drawing/2014/main" id="{5B2DC8B1-4CF1-4112-A259-54F58B51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619250"/>
            <a:ext cx="12192000" cy="523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6056"/>
          </a:solidFill>
          <a:ln xmlns:a="http://schemas.openxmlformats.org/drawingml/2006/main" w="0">
            <a:noFill/>
          </a:ln>
        </p:spPr>
      </p:sp>
      <p:sp>
        <p:nvSpPr>
          <p:cNvPr id="2" name="s26-kicker">
            <a:extLst xmlns:a="http://schemas.openxmlformats.org/drawingml/2006/main">
              <a:ext uri="{FF2B5EF4-FFF2-40B4-BE49-F238E27FC236}">
                <a16:creationId xmlns:a16="http://schemas.microsoft.com/office/drawing/2014/main" id="{CD73108E-7841-4992-944E-3CF1E3C1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B44D32"/>
                </a:solidFill>
                <a:latin typeface="Microsoft YaHei"/>
                <a:ea typeface="Microsoft YaHei"/>
                <a:cs typeface="Microsoft YaHei"/>
              </a:rPr>
              <a:t>妈祖信俗 · 海上祈愿</a:t>
            </a:r>
          </a:p>
        </p:txBody>
      </p:sp>
      <p:sp>
        <p:nvSpPr>
          <p:cNvPr id="3" name="s26-title">
            <a:extLst xmlns:a="http://schemas.openxmlformats.org/drawingml/2006/main">
              <a:ext uri="{FF2B5EF4-FFF2-40B4-BE49-F238E27FC236}">
                <a16:creationId xmlns:a16="http://schemas.microsoft.com/office/drawing/2014/main" id="{70CDDD0C-41B4-467E-BEBF-12E6EF8D7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6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4650" b="1">
                <a:solidFill>
                  <a:srgbClr val="223E37"/>
                </a:solidFill>
                <a:latin typeface="SimSun"/>
                <a:ea typeface="SimSun"/>
                <a:cs typeface="SimSun"/>
              </a:defRPr>
            </a:pPr>
            <a:r>
              <a:rPr sz="4650" b="1">
                <a:solidFill>
                  <a:srgbClr val="223E37"/>
                </a:solidFill>
                <a:latin typeface="SimSun"/>
                <a:ea typeface="SimSun"/>
                <a:cs typeface="SimSun"/>
              </a:rPr>
              <a:t>掷筊祈平安</a:t>
            </a:r>
          </a:p>
        </p:txBody>
      </p:sp>
      <p:sp>
        <p:nvSpPr>
          <p:cNvPr id="4" name="s26-result">
            <a:extLst xmlns:a="http://schemas.openxmlformats.org/drawingml/2006/main">
              <a:ext uri="{FF2B5EF4-FFF2-40B4-BE49-F238E27FC236}">
                <a16:creationId xmlns:a16="http://schemas.microsoft.com/office/drawing/2014/main" id="{62EC84A7-1C0D-4E9A-ABBD-D433F1F5D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04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F3E7CD"/>
                </a:solidFill>
                <a:latin typeface="SimSun"/>
                <a:ea typeface="SimSun"/>
                <a:cs typeface="SimSun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F3E7CD"/>
                </a:solidFill>
                <a:latin typeface="SimSun"/>
                <a:ea typeface="SimSun"/>
                <a:cs typeface="SimSun"/>
              </a:defRPr>
            </a:pPr>
            <a:r>
              <a:rPr sz="1800" b="0">
                <a:solidFill>
                  <a:srgbClr val="F3E7CD"/>
                </a:solidFill>
                <a:latin typeface="SimSun"/>
                <a:ea typeface="SimSun"/>
                <a:cs typeface="SimSun"/>
              </a:rPr>
              <a:t>两枚正面朝上 · 愿海上平安</a:t>
            </a:r>
          </a:p>
        </p:txBody>
      </p:sp>
      <p:sp>
        <p:nvSpPr>
          <p:cNvPr id="5" name="s26-page">
            <a:extLst xmlns:a="http://schemas.openxmlformats.org/drawingml/2006/main">
              <a:ext uri="{FF2B5EF4-FFF2-40B4-BE49-F238E27FC236}">
                <a16:creationId xmlns:a16="http://schemas.microsoft.com/office/drawing/2014/main" id="{F6DCC560-8868-473A-B6DE-1A18F587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515100"/>
            <a:ext cx="85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F3E7CD"/>
                </a:solidFill>
                <a:latin typeface="Microsoft YaHei"/>
                <a:ea typeface="Microsoft YaHei"/>
                <a:cs typeface="Microsoft YaHei"/>
              </a:rPr>
              <a:t>26 / 26</a:t>
            </a:r>
          </a:p>
        </p:txBody>
      </p:sp>
      <p:pic>
        <p:nvPicPr>
          <p:cNvPr id="100000" name="video" descr="原创3D妈祖掷筊动画，两枚红色筊杯翻转、回弹并停在正面朝上，60fps内嵌视频。"/>
          <p:cNvPicPr>
            <a:picLocks noChangeAspect="1"/>
          </p:cNvPicPr>
          <p:nvPr>
            <a:videoFile xmlns:r="http://schemas.openxmlformats.org/officeDocument/2006/relationships" r:link="R6b00ed8278ef4e2b"/>
            <p:extLst>
              <p:ext uri="{DAA4B4D4-6D71-4841-9C94-3DE7FCFB9230}">
                <p14:media xmlns:p14="http://schemas.microsoft.com/office/powerpoint/2010/main" xmlns:r="http://schemas.openxmlformats.org/officeDocument/2006/relationships" r:embed="R7d8fae16bb3c48ab"/>
              </p:ext>
            </p:extLst>
          </p:nvPr>
        </p:nvPicPr>
        <p:blipFill>
          <a:blip xmlns:r="http://schemas.openxmlformats.org/officeDocument/2006/relationships" r:embed="Rab0c5aeb11064ee8"/>
          <a:stretch>
            <a:fillRect/>
          </a:stretch>
        </p:blipFill>
        <p:spPr>
          <a:xfrm>
            <a:off x="0" y="1619250"/>
            <a:ext cx="1219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575764"/>
      </p:ext>
    </p:extLst>
  </p:cSld>
  <p:transition p14:dur="600" advClick="1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)">
                                      <p:cBhvr>
                                        <p:cTn id="4" dur="1" fill="hold"/>
                                        <p:tgtEl>
                                          <p:spTgt spid="10000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" presetClass="entr" presetSubtype="1" fill="hold" grpId="0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"/>
                            </p:stCondLst>
                            <p:childTnLst>
                              <p:par>
                                <p:cTn id="14" presetID="10" presetClass="entr" presetSubtype="0" fill="hold" grpId="1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6100"/>
                            </p:stCondLst>
                            <p:childTnLst>
                              <p:par>
                                <p:cTn id="19" presetID="10" presetClass="entr" presetSubtype="0" fill="hold" grpId="2" nodeType="withEffect" decel="7000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 fullScrn="0">
              <p:cMediaNode vol="0">
                <p:cTn id="7" fill="hold" display="0">
                  <p:stCondLst>
                    <p:cond delay="indefinite"/>
                  </p:stCondLst>
                </p:cTn>
                <p:tgtEl>
                  <p:spTgt spid="100000"/>
                </p:tgtEl>
              </p:cMediaNode>
            </p:video>
          </p:childTnLst>
        </p:cTn>
      </p:par>
    </p:tnLst>
    <p:bldLst>
      <p:bldP spid="3" grpId="0"/>
      <p:bldP spid="2" grpId="1"/>
      <p:bldP spid="4" grpId="2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26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一周海洋时事与法治观察 五人8分钟动画演示</dc:title>
  <dcterms:created xsi:type="dcterms:W3CDTF">2026-10-12T15:21:43.0940000Z</dcterms:created>
  <dcterms:modified xsi:type="dcterms:W3CDTF">2026-10-12T15:21:43.0940000Z</dcterms:modified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1.0.156</vt:lpwstr>
  </op:property>
  <op:property fmtid="{D5CDD505-2E9C-101B-9397-08002B2CF9AE}" pid="3" name="OfficeCLI.LastModified">
    <vt:lpwstr xmlns:vt="http://schemas.openxmlformats.org/officeDocument/2006/docPropsVTypes">2026-10-13T04:51:08Z</vt:lpwstr>
  </op:property>
</op:Properties>
</file>